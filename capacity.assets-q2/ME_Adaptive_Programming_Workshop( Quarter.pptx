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8" d="100"/>
          <a:sy n="108" d="100"/>
        </p:scale>
        <p:origin x="658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256839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6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12.png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18761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 &amp; EVALUATION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200" y="17602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ADAPTIVE PROGRAMMING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457200" y="28346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E8A6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Workshop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3657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Evidence-Based Decision Making for Project Success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WORKSHOP OVERVIEW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640080" y="1280160"/>
            <a:ext cx="411480" cy="411480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380" y="1348740"/>
            <a:ext cx="182880" cy="1828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34440" y="128016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M&amp;E Concepts: Baseline, Indicators, Data Collection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640080" y="2011680"/>
            <a:ext cx="411480" cy="411480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4380" y="2080260"/>
            <a:ext cx="182880" cy="18288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234440" y="201168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for Tracking Progress &amp; Impact</a:t>
            </a:r>
            <a:endParaRPr lang="en-US" sz="1800" dirty="0"/>
          </a:p>
        </p:txBody>
      </p:sp>
      <p:sp>
        <p:nvSpPr>
          <p:cNvPr id="9" name="Shape 5"/>
          <p:cNvSpPr/>
          <p:nvPr/>
        </p:nvSpPr>
        <p:spPr>
          <a:xfrm>
            <a:off x="640080" y="2743200"/>
            <a:ext cx="411480" cy="411480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4380" y="2811780"/>
            <a:ext cx="182880" cy="18288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234440" y="274320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Loops &amp; Adaptive Management</a:t>
            </a:r>
            <a:endParaRPr lang="en-US" sz="1800" dirty="0"/>
          </a:p>
        </p:txBody>
      </p:sp>
      <p:sp>
        <p:nvSpPr>
          <p:cNvPr id="12" name="Shape 7"/>
          <p:cNvSpPr/>
          <p:nvPr/>
        </p:nvSpPr>
        <p:spPr>
          <a:xfrm>
            <a:off x="640080" y="3474720"/>
            <a:ext cx="411480" cy="411480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4380" y="3543300"/>
            <a:ext cx="182880" cy="18288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234440" y="347472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 &amp; Documentation Standards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MONITORING &amp; EVALUATION?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3931920" cy="3474720"/>
          </a:xfrm>
          <a:prstGeom prst="rect">
            <a:avLst/>
          </a:prstGeom>
          <a:solidFill>
            <a:srgbClr val="2C5F2D">
              <a:alpha val="9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1887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40080" y="155448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tracking of project activities and outputs</a:t>
            </a:r>
            <a:endParaRPr lang="en-US" sz="14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965960"/>
            <a:ext cx="109728" cy="10972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196596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Ongoing process during implementation</a:t>
            </a:r>
            <a:endParaRPr lang="en-US" sz="110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2258568"/>
            <a:ext cx="109728" cy="10972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914400" y="2258568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Tracks inputs, activities, and outputs</a:t>
            </a:r>
            <a:endParaRPr lang="en-US" sz="110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2551176"/>
            <a:ext cx="109728" cy="10972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914400" y="2551176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Answers: Are we doing things right?</a:t>
            </a:r>
            <a:endParaRPr lang="en-US" sz="110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2843784"/>
            <a:ext cx="109728" cy="109728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914400" y="2843784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Focuses on efficiency and process</a:t>
            </a:r>
            <a:endParaRPr lang="en-US" sz="110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3136392"/>
            <a:ext cx="109728" cy="109728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914400" y="3136392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routine data collection</a:t>
            </a:r>
            <a:endParaRPr lang="en-US" sz="1100" dirty="0"/>
          </a:p>
        </p:txBody>
      </p:sp>
      <p:pic>
        <p:nvPicPr>
          <p:cNvPr id="17" name="Image 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3429000"/>
            <a:ext cx="109728" cy="109728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914400" y="342900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Provides real-time information</a:t>
            </a:r>
            <a:endParaRPr lang="en-US" sz="1100" dirty="0"/>
          </a:p>
        </p:txBody>
      </p:sp>
      <p:pic>
        <p:nvPicPr>
          <p:cNvPr id="19" name="Image 6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3721608"/>
            <a:ext cx="109728" cy="109728"/>
          </a:xfrm>
          <a:prstGeom prst="rect">
            <a:avLst/>
          </a:prstGeom>
        </p:spPr>
      </p:pic>
      <p:sp>
        <p:nvSpPr>
          <p:cNvPr id="20" name="Text 11"/>
          <p:cNvSpPr/>
          <p:nvPr/>
        </p:nvSpPr>
        <p:spPr>
          <a:xfrm>
            <a:off x="914400" y="3721608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Enables course correction</a:t>
            </a:r>
            <a:endParaRPr lang="en-US" sz="1100" dirty="0"/>
          </a:p>
        </p:txBody>
      </p:sp>
      <p:sp>
        <p:nvSpPr>
          <p:cNvPr id="21" name="Shape 12"/>
          <p:cNvSpPr/>
          <p:nvPr/>
        </p:nvSpPr>
        <p:spPr>
          <a:xfrm>
            <a:off x="4754880" y="1005840"/>
            <a:ext cx="3931920" cy="3474720"/>
          </a:xfrm>
          <a:prstGeom prst="rect">
            <a:avLst/>
          </a:prstGeom>
          <a:solidFill>
            <a:srgbClr val="97BC62">
              <a:alpha val="90000"/>
            </a:srgbClr>
          </a:solidFill>
          <a:ln/>
        </p:spPr>
      </p:sp>
      <p:sp>
        <p:nvSpPr>
          <p:cNvPr id="22" name="Text 13"/>
          <p:cNvSpPr/>
          <p:nvPr/>
        </p:nvSpPr>
        <p:spPr>
          <a:xfrm>
            <a:off x="4937760" y="11887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</a:t>
            </a:r>
            <a:endParaRPr lang="en-US" sz="2200" dirty="0"/>
          </a:p>
        </p:txBody>
      </p:sp>
      <p:sp>
        <p:nvSpPr>
          <p:cNvPr id="23" name="Text 14"/>
          <p:cNvSpPr/>
          <p:nvPr/>
        </p:nvSpPr>
        <p:spPr>
          <a:xfrm>
            <a:off x="4937760" y="155448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Periodic assessment of project relevance, effectiveness, and impact</a:t>
            </a:r>
            <a:endParaRPr lang="en-US" sz="1400" dirty="0"/>
          </a:p>
        </p:txBody>
      </p:sp>
      <p:pic>
        <p:nvPicPr>
          <p:cNvPr id="24" name="Image 7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0" y="1965960"/>
            <a:ext cx="109728" cy="109728"/>
          </a:xfrm>
          <a:prstGeom prst="rect">
            <a:avLst/>
          </a:prstGeom>
        </p:spPr>
      </p:pic>
      <p:sp>
        <p:nvSpPr>
          <p:cNvPr id="25" name="Text 15"/>
          <p:cNvSpPr/>
          <p:nvPr/>
        </p:nvSpPr>
        <p:spPr>
          <a:xfrm>
            <a:off x="5212080" y="196596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Conducted at specific points in time</a:t>
            </a:r>
            <a:endParaRPr lang="en-US" sz="1100" dirty="0"/>
          </a:p>
        </p:txBody>
      </p:sp>
      <p:pic>
        <p:nvPicPr>
          <p:cNvPr id="26" name="Image 8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0" y="2258568"/>
            <a:ext cx="109728" cy="109728"/>
          </a:xfrm>
          <a:prstGeom prst="rect">
            <a:avLst/>
          </a:prstGeom>
        </p:spPr>
      </p:pic>
      <p:sp>
        <p:nvSpPr>
          <p:cNvPr id="27" name="Text 16"/>
          <p:cNvSpPr/>
          <p:nvPr/>
        </p:nvSpPr>
        <p:spPr>
          <a:xfrm>
            <a:off x="5212080" y="2258568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Assesses outcomes and impact</a:t>
            </a:r>
            <a:endParaRPr lang="en-US" sz="1100" dirty="0"/>
          </a:p>
        </p:txBody>
      </p:sp>
      <p:pic>
        <p:nvPicPr>
          <p:cNvPr id="28" name="Image 9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0" y="2551176"/>
            <a:ext cx="109728" cy="109728"/>
          </a:xfrm>
          <a:prstGeom prst="rect">
            <a:avLst/>
          </a:prstGeom>
        </p:spPr>
      </p:pic>
      <p:sp>
        <p:nvSpPr>
          <p:cNvPr id="29" name="Text 17"/>
          <p:cNvSpPr/>
          <p:nvPr/>
        </p:nvSpPr>
        <p:spPr>
          <a:xfrm>
            <a:off x="5212080" y="2551176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Answers: Are we doing the right things?</a:t>
            </a:r>
            <a:endParaRPr lang="en-US" sz="1100" dirty="0"/>
          </a:p>
        </p:txBody>
      </p:sp>
      <p:pic>
        <p:nvPicPr>
          <p:cNvPr id="30" name="Image 1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0" y="2843784"/>
            <a:ext cx="109728" cy="109728"/>
          </a:xfrm>
          <a:prstGeom prst="rect">
            <a:avLst/>
          </a:prstGeom>
        </p:spPr>
      </p:pic>
      <p:sp>
        <p:nvSpPr>
          <p:cNvPr id="31" name="Text 18"/>
          <p:cNvSpPr/>
          <p:nvPr/>
        </p:nvSpPr>
        <p:spPr>
          <a:xfrm>
            <a:off x="5212080" y="2843784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Focuses on effectiveness and impact</a:t>
            </a:r>
            <a:endParaRPr lang="en-US" sz="1100" dirty="0"/>
          </a:p>
        </p:txBody>
      </p:sp>
      <p:pic>
        <p:nvPicPr>
          <p:cNvPr id="32" name="Image 1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0" y="3136392"/>
            <a:ext cx="109728" cy="109728"/>
          </a:xfrm>
          <a:prstGeom prst="rect">
            <a:avLst/>
          </a:prstGeom>
        </p:spPr>
      </p:pic>
      <p:sp>
        <p:nvSpPr>
          <p:cNvPr id="33" name="Text 19"/>
          <p:cNvSpPr/>
          <p:nvPr/>
        </p:nvSpPr>
        <p:spPr>
          <a:xfrm>
            <a:off x="5212080" y="3136392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in-depth analysis methods</a:t>
            </a:r>
            <a:endParaRPr lang="en-US" sz="1100" dirty="0"/>
          </a:p>
        </p:txBody>
      </p:sp>
      <p:pic>
        <p:nvPicPr>
          <p:cNvPr id="34" name="Image 1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0" y="3429000"/>
            <a:ext cx="109728" cy="109728"/>
          </a:xfrm>
          <a:prstGeom prst="rect">
            <a:avLst/>
          </a:prstGeom>
        </p:spPr>
      </p:pic>
      <p:sp>
        <p:nvSpPr>
          <p:cNvPr id="35" name="Text 20"/>
          <p:cNvSpPr/>
          <p:nvPr/>
        </p:nvSpPr>
        <p:spPr>
          <a:xfrm>
            <a:off x="5212080" y="342900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Provides lessons learned</a:t>
            </a:r>
            <a:endParaRPr lang="en-US" sz="1100" dirty="0"/>
          </a:p>
        </p:txBody>
      </p:sp>
      <p:pic>
        <p:nvPicPr>
          <p:cNvPr id="36" name="Image 1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0" y="3721608"/>
            <a:ext cx="109728" cy="109728"/>
          </a:xfrm>
          <a:prstGeom prst="rect">
            <a:avLst/>
          </a:prstGeom>
        </p:spPr>
      </p:pic>
      <p:sp>
        <p:nvSpPr>
          <p:cNvPr id="37" name="Text 21"/>
          <p:cNvSpPr/>
          <p:nvPr/>
        </p:nvSpPr>
        <p:spPr>
          <a:xfrm>
            <a:off x="5212080" y="3721608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Informs strategic decisions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M&amp;E CONCEPTS: BASELINE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8229600" cy="731520"/>
          </a:xfrm>
          <a:prstGeom prst="rect">
            <a:avLst/>
          </a:prstGeom>
          <a:solidFill>
            <a:srgbClr val="E8A614">
              <a:alpha val="8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09728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Definition: A baseline is the starting point measurement against which future progress is compared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182880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Baselines Matter</a:t>
            </a:r>
            <a:endParaRPr lang="en-US" sz="18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240280"/>
            <a:ext cx="137160" cy="1371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77240" y="2240280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Establishes starting conditions</a:t>
            </a:r>
            <a:endParaRPr lang="en-US" sz="120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560320"/>
            <a:ext cx="137160" cy="13716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77240" y="2560320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Enables measurement of change</a:t>
            </a:r>
            <a:endParaRPr lang="en-US" sz="120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880360"/>
            <a:ext cx="137160" cy="13716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777240" y="2880360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Provides comparison point</a:t>
            </a:r>
            <a:endParaRPr lang="en-US" sz="120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200400"/>
            <a:ext cx="137160" cy="13716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777240" y="3200400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Validates impact claims</a:t>
            </a:r>
            <a:endParaRPr lang="en-US" sz="120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520440"/>
            <a:ext cx="137160" cy="137160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777240" y="3520440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 evidence-based decisions</a:t>
            </a:r>
            <a:endParaRPr lang="en-US" sz="1200" dirty="0"/>
          </a:p>
        </p:txBody>
      </p:sp>
      <p:sp>
        <p:nvSpPr>
          <p:cNvPr id="17" name="Text 10"/>
          <p:cNvSpPr/>
          <p:nvPr/>
        </p:nvSpPr>
        <p:spPr>
          <a:xfrm>
            <a:off x="4754880" y="182880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Education Project</a:t>
            </a:r>
            <a:endParaRPr lang="en-US" sz="1600" dirty="0"/>
          </a:p>
        </p:txBody>
      </p:sp>
      <p:sp>
        <p:nvSpPr>
          <p:cNvPr id="18" name="Shape 11"/>
          <p:cNvSpPr/>
          <p:nvPr/>
        </p:nvSpPr>
        <p:spPr>
          <a:xfrm>
            <a:off x="4754880" y="2286000"/>
            <a:ext cx="3931920" cy="685800"/>
          </a:xfrm>
          <a:prstGeom prst="rect">
            <a:avLst/>
          </a:prstGeom>
          <a:solidFill>
            <a:srgbClr val="97BC62">
              <a:alpha val="70000"/>
            </a:srgbClr>
          </a:solidFill>
          <a:ln/>
        </p:spPr>
      </p:sp>
      <p:sp>
        <p:nvSpPr>
          <p:cNvPr id="19" name="Text 12"/>
          <p:cNvSpPr/>
          <p:nvPr/>
        </p:nvSpPr>
        <p:spPr>
          <a:xfrm>
            <a:off x="4892040" y="2331720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(Start)</a:t>
            </a:r>
            <a:endParaRPr lang="en-US" sz="1100" dirty="0"/>
          </a:p>
        </p:txBody>
      </p:sp>
      <p:sp>
        <p:nvSpPr>
          <p:cNvPr id="20" name="Text 13"/>
          <p:cNvSpPr/>
          <p:nvPr/>
        </p:nvSpPr>
        <p:spPr>
          <a:xfrm>
            <a:off x="4892040" y="254203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45%</a:t>
            </a:r>
            <a:endParaRPr lang="en-US" sz="3200" dirty="0"/>
          </a:p>
        </p:txBody>
      </p:sp>
      <p:sp>
        <p:nvSpPr>
          <p:cNvPr id="21" name="Text 14"/>
          <p:cNvSpPr/>
          <p:nvPr/>
        </p:nvSpPr>
        <p:spPr>
          <a:xfrm>
            <a:off x="4892040" y="2816352"/>
            <a:ext cx="365760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literacy rate</a:t>
            </a:r>
            <a:endParaRPr lang="en-US" sz="1000" dirty="0"/>
          </a:p>
        </p:txBody>
      </p:sp>
      <p:sp>
        <p:nvSpPr>
          <p:cNvPr id="22" name="Shape 15"/>
          <p:cNvSpPr/>
          <p:nvPr/>
        </p:nvSpPr>
        <p:spPr>
          <a:xfrm>
            <a:off x="4754880" y="3108960"/>
            <a:ext cx="3931920" cy="685800"/>
          </a:xfrm>
          <a:prstGeom prst="rect">
            <a:avLst/>
          </a:prstGeom>
          <a:solidFill>
            <a:srgbClr val="97BC62">
              <a:alpha val="70000"/>
            </a:srgbClr>
          </a:solidFill>
          <a:ln/>
        </p:spPr>
      </p:sp>
      <p:sp>
        <p:nvSpPr>
          <p:cNvPr id="23" name="Text 16"/>
          <p:cNvSpPr/>
          <p:nvPr/>
        </p:nvSpPr>
        <p:spPr>
          <a:xfrm>
            <a:off x="4892040" y="3154680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(End)</a:t>
            </a:r>
            <a:endParaRPr lang="en-US" sz="1100" dirty="0"/>
          </a:p>
        </p:txBody>
      </p:sp>
      <p:sp>
        <p:nvSpPr>
          <p:cNvPr id="24" name="Text 17"/>
          <p:cNvSpPr/>
          <p:nvPr/>
        </p:nvSpPr>
        <p:spPr>
          <a:xfrm>
            <a:off x="4892040" y="336499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75%</a:t>
            </a:r>
            <a:endParaRPr lang="en-US" sz="3200" dirty="0"/>
          </a:p>
        </p:txBody>
      </p:sp>
      <p:sp>
        <p:nvSpPr>
          <p:cNvPr id="25" name="Text 18"/>
          <p:cNvSpPr/>
          <p:nvPr/>
        </p:nvSpPr>
        <p:spPr>
          <a:xfrm>
            <a:off x="4892040" y="3639312"/>
            <a:ext cx="365760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literacy rate</a:t>
            </a:r>
            <a:endParaRPr lang="en-US" sz="1000" dirty="0"/>
          </a:p>
        </p:txBody>
      </p:sp>
      <p:sp>
        <p:nvSpPr>
          <p:cNvPr id="26" name="Shape 19"/>
          <p:cNvSpPr/>
          <p:nvPr/>
        </p:nvSpPr>
        <p:spPr>
          <a:xfrm>
            <a:off x="4754880" y="3931920"/>
            <a:ext cx="3931920" cy="685800"/>
          </a:xfrm>
          <a:prstGeom prst="rect">
            <a:avLst/>
          </a:prstGeom>
          <a:solidFill>
            <a:srgbClr val="E8A614">
              <a:alpha val="70000"/>
            </a:srgbClr>
          </a:solidFill>
          <a:ln/>
        </p:spPr>
      </p:sp>
      <p:sp>
        <p:nvSpPr>
          <p:cNvPr id="27" name="Text 20"/>
          <p:cNvSpPr/>
          <p:nvPr/>
        </p:nvSpPr>
        <p:spPr>
          <a:xfrm>
            <a:off x="4892040" y="3977640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</a:t>
            </a:r>
            <a:endParaRPr lang="en-US" sz="1100" dirty="0"/>
          </a:p>
        </p:txBody>
      </p:sp>
      <p:sp>
        <p:nvSpPr>
          <p:cNvPr id="28" name="Text 21"/>
          <p:cNvSpPr/>
          <p:nvPr/>
        </p:nvSpPr>
        <p:spPr>
          <a:xfrm>
            <a:off x="4892040" y="4187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+30%</a:t>
            </a:r>
            <a:endParaRPr lang="en-US" sz="3200" dirty="0"/>
          </a:p>
        </p:txBody>
      </p:sp>
      <p:sp>
        <p:nvSpPr>
          <p:cNvPr id="29" name="Text 22"/>
          <p:cNvSpPr/>
          <p:nvPr/>
        </p:nvSpPr>
        <p:spPr>
          <a:xfrm>
            <a:off x="4892040" y="4462272"/>
            <a:ext cx="365760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Improvement achieved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INDICATORS: MEASURING PROGRESS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Definition: Specific, measurable signs of progress toward objectives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INDICATORS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1051560" y="1783080"/>
            <a:ext cx="548640" cy="54864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7" name="Text 5"/>
          <p:cNvSpPr/>
          <p:nvPr/>
        </p:nvSpPr>
        <p:spPr>
          <a:xfrm>
            <a:off x="1051560" y="17830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457200" y="2423160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2670048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Clearly defined and precise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788920" y="1783080"/>
            <a:ext cx="548640" cy="54864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1" name="Text 9"/>
          <p:cNvSpPr/>
          <p:nvPr/>
        </p:nvSpPr>
        <p:spPr>
          <a:xfrm>
            <a:off x="2788920" y="17830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2194560" y="2423160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Measurable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194560" y="2670048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be quantified or verified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26280" y="1783080"/>
            <a:ext cx="548640" cy="54864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5" name="Text 13"/>
          <p:cNvSpPr/>
          <p:nvPr/>
        </p:nvSpPr>
        <p:spPr>
          <a:xfrm>
            <a:off x="4526280" y="17830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3931920" y="2423160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Achievable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931920" y="2670048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Realistic and attainable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263640" y="1783080"/>
            <a:ext cx="548640" cy="54864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9" name="Text 17"/>
          <p:cNvSpPr/>
          <p:nvPr/>
        </p:nvSpPr>
        <p:spPr>
          <a:xfrm>
            <a:off x="6263640" y="17830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5669280" y="2423160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Relevant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669280" y="2670048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 to project objectives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001000" y="1783080"/>
            <a:ext cx="548640" cy="54864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23" name="Text 21"/>
          <p:cNvSpPr/>
          <p:nvPr/>
        </p:nvSpPr>
        <p:spPr>
          <a:xfrm>
            <a:off x="8001000" y="17830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7406640" y="2423160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Time-bound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7406640" y="2670048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 a defined timeframe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57200" y="32004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 of Indicators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457200" y="3566160"/>
            <a:ext cx="1965960" cy="1097280"/>
          </a:xfrm>
          <a:prstGeom prst="rect">
            <a:avLst/>
          </a:prstGeom>
          <a:solidFill>
            <a:srgbClr val="FFFFFF"/>
          </a:solidFill>
          <a:ln w="25400">
            <a:solidFill>
              <a:srgbClr val="97BC62"/>
            </a:solidFill>
            <a:prstDash val="solid"/>
          </a:ln>
        </p:spPr>
      </p:sp>
      <p:pic>
        <p:nvPicPr>
          <p:cNvPr id="2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3657600"/>
            <a:ext cx="228600" cy="228600"/>
          </a:xfrm>
          <a:prstGeom prst="rect">
            <a:avLst/>
          </a:prstGeom>
        </p:spPr>
      </p:pic>
      <p:sp>
        <p:nvSpPr>
          <p:cNvPr id="29" name="Text 26"/>
          <p:cNvSpPr/>
          <p:nvPr/>
        </p:nvSpPr>
        <p:spPr>
          <a:xfrm>
            <a:off x="548640" y="3977640"/>
            <a:ext cx="1783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300" dirty="0"/>
          </a:p>
        </p:txBody>
      </p:sp>
      <p:sp>
        <p:nvSpPr>
          <p:cNvPr id="30" name="Text 27"/>
          <p:cNvSpPr/>
          <p:nvPr/>
        </p:nvSpPr>
        <p:spPr>
          <a:xfrm>
            <a:off x="548640" y="4251960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 of teachers trained</a:t>
            </a:r>
            <a:endParaRPr lang="en-US" sz="1000" dirty="0"/>
          </a:p>
        </p:txBody>
      </p:sp>
      <p:sp>
        <p:nvSpPr>
          <p:cNvPr id="31" name="Shape 28"/>
          <p:cNvSpPr/>
          <p:nvPr/>
        </p:nvSpPr>
        <p:spPr>
          <a:xfrm>
            <a:off x="2606040" y="3566160"/>
            <a:ext cx="1965960" cy="1097280"/>
          </a:xfrm>
          <a:prstGeom prst="rect">
            <a:avLst/>
          </a:prstGeom>
          <a:solidFill>
            <a:srgbClr val="FFFFFF"/>
          </a:solidFill>
          <a:ln w="25400">
            <a:solidFill>
              <a:srgbClr val="97BC62"/>
            </a:solidFill>
            <a:prstDash val="solid"/>
          </a:ln>
        </p:spPr>
      </p:sp>
      <p:pic>
        <p:nvPicPr>
          <p:cNvPr id="3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91840" y="3657600"/>
            <a:ext cx="228600" cy="228600"/>
          </a:xfrm>
          <a:prstGeom prst="rect">
            <a:avLst/>
          </a:prstGeom>
        </p:spPr>
      </p:pic>
      <p:sp>
        <p:nvSpPr>
          <p:cNvPr id="33" name="Text 29"/>
          <p:cNvSpPr/>
          <p:nvPr/>
        </p:nvSpPr>
        <p:spPr>
          <a:xfrm>
            <a:off x="2697480" y="3977640"/>
            <a:ext cx="1783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300" dirty="0"/>
          </a:p>
        </p:txBody>
      </p:sp>
      <p:sp>
        <p:nvSpPr>
          <p:cNvPr id="34" name="Text 30"/>
          <p:cNvSpPr/>
          <p:nvPr/>
        </p:nvSpPr>
        <p:spPr>
          <a:xfrm>
            <a:off x="2697480" y="4251960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 of training sessions conducted</a:t>
            </a:r>
            <a:endParaRPr lang="en-US" sz="1000" dirty="0"/>
          </a:p>
        </p:txBody>
      </p:sp>
      <p:sp>
        <p:nvSpPr>
          <p:cNvPr id="35" name="Shape 31"/>
          <p:cNvSpPr/>
          <p:nvPr/>
        </p:nvSpPr>
        <p:spPr>
          <a:xfrm>
            <a:off x="4754880" y="3566160"/>
            <a:ext cx="1965960" cy="1097280"/>
          </a:xfrm>
          <a:prstGeom prst="rect">
            <a:avLst/>
          </a:prstGeom>
          <a:solidFill>
            <a:srgbClr val="FFFFFF"/>
          </a:solidFill>
          <a:ln w="25400">
            <a:solidFill>
              <a:srgbClr val="97BC62"/>
            </a:solidFill>
            <a:prstDash val="solid"/>
          </a:ln>
        </p:spPr>
      </p:sp>
      <p:pic>
        <p:nvPicPr>
          <p:cNvPr id="3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40680" y="3657600"/>
            <a:ext cx="228600" cy="228600"/>
          </a:xfrm>
          <a:prstGeom prst="rect">
            <a:avLst/>
          </a:prstGeom>
        </p:spPr>
      </p:pic>
      <p:sp>
        <p:nvSpPr>
          <p:cNvPr id="37" name="Text 32"/>
          <p:cNvSpPr/>
          <p:nvPr/>
        </p:nvSpPr>
        <p:spPr>
          <a:xfrm>
            <a:off x="4846320" y="3977640"/>
            <a:ext cx="1783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</a:t>
            </a:r>
            <a:endParaRPr lang="en-US" sz="1300" dirty="0"/>
          </a:p>
        </p:txBody>
      </p:sp>
      <p:sp>
        <p:nvSpPr>
          <p:cNvPr id="38" name="Text 33"/>
          <p:cNvSpPr/>
          <p:nvPr/>
        </p:nvSpPr>
        <p:spPr>
          <a:xfrm>
            <a:off x="4846320" y="4251960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increase in teaching quality</a:t>
            </a:r>
            <a:endParaRPr lang="en-US" sz="1000" dirty="0"/>
          </a:p>
        </p:txBody>
      </p:sp>
      <p:sp>
        <p:nvSpPr>
          <p:cNvPr id="39" name="Shape 34"/>
          <p:cNvSpPr/>
          <p:nvPr/>
        </p:nvSpPr>
        <p:spPr>
          <a:xfrm>
            <a:off x="6903720" y="3566160"/>
            <a:ext cx="1965960" cy="1097280"/>
          </a:xfrm>
          <a:prstGeom prst="rect">
            <a:avLst/>
          </a:prstGeom>
          <a:solidFill>
            <a:srgbClr val="FFFFFF"/>
          </a:solidFill>
          <a:ln w="25400">
            <a:solidFill>
              <a:srgbClr val="97BC62"/>
            </a:solidFill>
            <a:prstDash val="solid"/>
          </a:ln>
        </p:spPr>
      </p:sp>
      <p:pic>
        <p:nvPicPr>
          <p:cNvPr id="4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89520" y="3657600"/>
            <a:ext cx="228600" cy="228600"/>
          </a:xfrm>
          <a:prstGeom prst="rect">
            <a:avLst/>
          </a:prstGeom>
        </p:spPr>
      </p:pic>
      <p:sp>
        <p:nvSpPr>
          <p:cNvPr id="41" name="Text 35"/>
          <p:cNvSpPr/>
          <p:nvPr/>
        </p:nvSpPr>
        <p:spPr>
          <a:xfrm>
            <a:off x="6995160" y="3977640"/>
            <a:ext cx="1783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</a:t>
            </a:r>
            <a:endParaRPr lang="en-US" sz="1300" dirty="0"/>
          </a:p>
        </p:txBody>
      </p:sp>
      <p:sp>
        <p:nvSpPr>
          <p:cNvPr id="42" name="Text 36"/>
          <p:cNvSpPr/>
          <p:nvPr/>
        </p:nvSpPr>
        <p:spPr>
          <a:xfrm>
            <a:off x="6995160" y="4251960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improvement in student learning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COLLECTION METHODS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QUANTITATIVE METHODS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1234440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Numbers, statistics, measurable data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600200"/>
            <a:ext cx="39319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2C5F2D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737360"/>
            <a:ext cx="182880" cy="1828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68680" y="1645920"/>
            <a:ext cx="3383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Surveys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868680" y="1856232"/>
            <a:ext cx="3383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questionnaires with closed questions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457200" y="2194560"/>
            <a:ext cx="39319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2C5F2D"/>
            </a:solidFill>
            <a:prstDash val="solid"/>
          </a:ln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2331720"/>
            <a:ext cx="182880" cy="1828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868680" y="2240280"/>
            <a:ext cx="3383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Census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868680" y="2450592"/>
            <a:ext cx="3383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count of population or items</a:t>
            </a:r>
            <a:endParaRPr lang="en-US" sz="900" dirty="0"/>
          </a:p>
        </p:txBody>
      </p:sp>
      <p:sp>
        <p:nvSpPr>
          <p:cNvPr id="14" name="Shape 10"/>
          <p:cNvSpPr/>
          <p:nvPr/>
        </p:nvSpPr>
        <p:spPr>
          <a:xfrm>
            <a:off x="457200" y="2788920"/>
            <a:ext cx="39319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2C5F2D"/>
            </a:solidFill>
            <a:prstDash val="solid"/>
          </a:ln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2926080"/>
            <a:ext cx="182880" cy="18288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68680" y="2834640"/>
            <a:ext cx="3383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Tests/Assessments</a:t>
            </a:r>
            <a:endParaRPr lang="en-US" sz="1200" dirty="0"/>
          </a:p>
        </p:txBody>
      </p:sp>
      <p:sp>
        <p:nvSpPr>
          <p:cNvPr id="17" name="Text 12"/>
          <p:cNvSpPr/>
          <p:nvPr/>
        </p:nvSpPr>
        <p:spPr>
          <a:xfrm>
            <a:off x="868680" y="3044952"/>
            <a:ext cx="3383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Standardized measurements of knowledge/skills</a:t>
            </a:r>
            <a:endParaRPr lang="en-US" sz="900" dirty="0"/>
          </a:p>
        </p:txBody>
      </p:sp>
      <p:sp>
        <p:nvSpPr>
          <p:cNvPr id="18" name="Shape 13"/>
          <p:cNvSpPr/>
          <p:nvPr/>
        </p:nvSpPr>
        <p:spPr>
          <a:xfrm>
            <a:off x="457200" y="3383280"/>
            <a:ext cx="39319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2C5F2D"/>
            </a:solidFill>
            <a:prstDash val="solid"/>
          </a:ln>
        </p:spPr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3520440"/>
            <a:ext cx="182880" cy="18288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868680" y="3429000"/>
            <a:ext cx="3383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Administrative Data</a:t>
            </a:r>
            <a:endParaRPr lang="en-US" sz="1200" dirty="0"/>
          </a:p>
        </p:txBody>
      </p:sp>
      <p:sp>
        <p:nvSpPr>
          <p:cNvPr id="21" name="Text 15"/>
          <p:cNvSpPr/>
          <p:nvPr/>
        </p:nvSpPr>
        <p:spPr>
          <a:xfrm>
            <a:off x="868680" y="3639312"/>
            <a:ext cx="3383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 from existing systems (attendance, sales)</a:t>
            </a:r>
            <a:endParaRPr lang="en-US" sz="900" dirty="0"/>
          </a:p>
        </p:txBody>
      </p:sp>
      <p:sp>
        <p:nvSpPr>
          <p:cNvPr id="22" name="Text 16"/>
          <p:cNvSpPr/>
          <p:nvPr/>
        </p:nvSpPr>
        <p:spPr>
          <a:xfrm>
            <a:off x="4754880" y="91440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QUALITATIVE METHODS</a:t>
            </a:r>
            <a:endParaRPr lang="en-US" sz="1800" dirty="0"/>
          </a:p>
        </p:txBody>
      </p:sp>
      <p:sp>
        <p:nvSpPr>
          <p:cNvPr id="23" name="Text 17"/>
          <p:cNvSpPr/>
          <p:nvPr/>
        </p:nvSpPr>
        <p:spPr>
          <a:xfrm>
            <a:off x="4754880" y="1234440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Stories, experiences, contextual understanding</a:t>
            </a:r>
            <a:endParaRPr lang="en-US" sz="1200" dirty="0"/>
          </a:p>
        </p:txBody>
      </p:sp>
      <p:sp>
        <p:nvSpPr>
          <p:cNvPr id="24" name="Shape 18"/>
          <p:cNvSpPr/>
          <p:nvPr/>
        </p:nvSpPr>
        <p:spPr>
          <a:xfrm>
            <a:off x="4754880" y="1600200"/>
            <a:ext cx="39319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97BC62"/>
            </a:solidFill>
            <a:prstDash val="solid"/>
          </a:ln>
        </p:spPr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2040" y="1737360"/>
            <a:ext cx="182880" cy="182880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5166360" y="1645920"/>
            <a:ext cx="3383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Interviews</a:t>
            </a:r>
            <a:endParaRPr lang="en-US" sz="1200" dirty="0"/>
          </a:p>
        </p:txBody>
      </p:sp>
      <p:sp>
        <p:nvSpPr>
          <p:cNvPr id="27" name="Text 20"/>
          <p:cNvSpPr/>
          <p:nvPr/>
        </p:nvSpPr>
        <p:spPr>
          <a:xfrm>
            <a:off x="5166360" y="1856232"/>
            <a:ext cx="3383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In-depth conversations with individuals</a:t>
            </a:r>
            <a:endParaRPr lang="en-US" sz="900" dirty="0"/>
          </a:p>
        </p:txBody>
      </p:sp>
      <p:sp>
        <p:nvSpPr>
          <p:cNvPr id="28" name="Shape 21"/>
          <p:cNvSpPr/>
          <p:nvPr/>
        </p:nvSpPr>
        <p:spPr>
          <a:xfrm>
            <a:off x="4754880" y="2194560"/>
            <a:ext cx="39319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97BC62"/>
            </a:solidFill>
            <a:prstDash val="solid"/>
          </a:ln>
        </p:spPr>
      </p:sp>
      <p:pic>
        <p:nvPicPr>
          <p:cNvPr id="29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2040" y="2331720"/>
            <a:ext cx="182880" cy="182880"/>
          </a:xfrm>
          <a:prstGeom prst="rect">
            <a:avLst/>
          </a:prstGeom>
        </p:spPr>
      </p:pic>
      <p:sp>
        <p:nvSpPr>
          <p:cNvPr id="30" name="Text 22"/>
          <p:cNvSpPr/>
          <p:nvPr/>
        </p:nvSpPr>
        <p:spPr>
          <a:xfrm>
            <a:off x="5166360" y="2240280"/>
            <a:ext cx="3383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Groups</a:t>
            </a:r>
            <a:endParaRPr lang="en-US" sz="1200" dirty="0"/>
          </a:p>
        </p:txBody>
      </p:sp>
      <p:sp>
        <p:nvSpPr>
          <p:cNvPr id="31" name="Text 23"/>
          <p:cNvSpPr/>
          <p:nvPr/>
        </p:nvSpPr>
        <p:spPr>
          <a:xfrm>
            <a:off x="5166360" y="2450592"/>
            <a:ext cx="3383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discussions to explore perceptions</a:t>
            </a:r>
            <a:endParaRPr lang="en-US" sz="900" dirty="0"/>
          </a:p>
        </p:txBody>
      </p:sp>
      <p:sp>
        <p:nvSpPr>
          <p:cNvPr id="32" name="Shape 24"/>
          <p:cNvSpPr/>
          <p:nvPr/>
        </p:nvSpPr>
        <p:spPr>
          <a:xfrm>
            <a:off x="4754880" y="2788920"/>
            <a:ext cx="39319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97BC62"/>
            </a:solidFill>
            <a:prstDash val="solid"/>
          </a:ln>
        </p:spPr>
      </p:sp>
      <p:pic>
        <p:nvPicPr>
          <p:cNvPr id="33" name="Image 6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2040" y="2926080"/>
            <a:ext cx="182880" cy="182880"/>
          </a:xfrm>
          <a:prstGeom prst="rect">
            <a:avLst/>
          </a:prstGeom>
        </p:spPr>
      </p:pic>
      <p:sp>
        <p:nvSpPr>
          <p:cNvPr id="34" name="Text 25"/>
          <p:cNvSpPr/>
          <p:nvPr/>
        </p:nvSpPr>
        <p:spPr>
          <a:xfrm>
            <a:off x="5166360" y="2834640"/>
            <a:ext cx="3383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Observations</a:t>
            </a:r>
            <a:endParaRPr lang="en-US" sz="1200" dirty="0"/>
          </a:p>
        </p:txBody>
      </p:sp>
      <p:sp>
        <p:nvSpPr>
          <p:cNvPr id="35" name="Text 26"/>
          <p:cNvSpPr/>
          <p:nvPr/>
        </p:nvSpPr>
        <p:spPr>
          <a:xfrm>
            <a:off x="5166360" y="3044952"/>
            <a:ext cx="3383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watching and recording of behaviors</a:t>
            </a:r>
            <a:endParaRPr lang="en-US" sz="900" dirty="0"/>
          </a:p>
        </p:txBody>
      </p:sp>
      <p:sp>
        <p:nvSpPr>
          <p:cNvPr id="36" name="Shape 27"/>
          <p:cNvSpPr/>
          <p:nvPr/>
        </p:nvSpPr>
        <p:spPr>
          <a:xfrm>
            <a:off x="4754880" y="3383280"/>
            <a:ext cx="39319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97BC62"/>
            </a:solidFill>
            <a:prstDash val="solid"/>
          </a:ln>
        </p:spPr>
      </p:sp>
      <p:pic>
        <p:nvPicPr>
          <p:cNvPr id="37" name="Image 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2040" y="3520440"/>
            <a:ext cx="182880" cy="182880"/>
          </a:xfrm>
          <a:prstGeom prst="rect">
            <a:avLst/>
          </a:prstGeom>
        </p:spPr>
      </p:pic>
      <p:sp>
        <p:nvSpPr>
          <p:cNvPr id="38" name="Text 28"/>
          <p:cNvSpPr/>
          <p:nvPr/>
        </p:nvSpPr>
        <p:spPr>
          <a:xfrm>
            <a:off x="5166360" y="3429000"/>
            <a:ext cx="3383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Studies</a:t>
            </a:r>
            <a:endParaRPr lang="en-US" sz="1200" dirty="0"/>
          </a:p>
        </p:txBody>
      </p:sp>
      <p:sp>
        <p:nvSpPr>
          <p:cNvPr id="39" name="Text 29"/>
          <p:cNvSpPr/>
          <p:nvPr/>
        </p:nvSpPr>
        <p:spPr>
          <a:xfrm>
            <a:off x="5166360" y="3639312"/>
            <a:ext cx="3383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Detailed examination of specific examples</a:t>
            </a:r>
            <a:endParaRPr lang="en-US" sz="900" dirty="0"/>
          </a:p>
        </p:txBody>
      </p:sp>
      <p:sp>
        <p:nvSpPr>
          <p:cNvPr id="40" name="Shape 30"/>
          <p:cNvSpPr/>
          <p:nvPr/>
        </p:nvSpPr>
        <p:spPr>
          <a:xfrm>
            <a:off x="457200" y="4114800"/>
            <a:ext cx="8229600" cy="548640"/>
          </a:xfrm>
          <a:prstGeom prst="rect">
            <a:avLst/>
          </a:prstGeom>
          <a:solidFill>
            <a:srgbClr val="E8A614">
              <a:alpha val="80000"/>
            </a:srgbClr>
          </a:solidFill>
          <a:ln/>
        </p:spPr>
      </p:sp>
      <p:sp>
        <p:nvSpPr>
          <p:cNvPr id="41" name="Text 31"/>
          <p:cNvSpPr/>
          <p:nvPr/>
        </p:nvSpPr>
        <p:spPr>
          <a:xfrm>
            <a:off x="640080" y="425196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PRACTICE: Use mixed methods to triangulate data and gain comprehensive understanding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E8A61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FOR TRACKING PROGRESS &amp; IMPACT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4251960" cy="1097280"/>
          </a:xfrm>
          <a:prstGeom prst="rect">
            <a:avLst/>
          </a:prstGeom>
          <a:solidFill>
            <a:srgbClr val="FFFFFF"/>
          </a:solidFill>
          <a:ln w="25400">
            <a:solidFill>
              <a:srgbClr val="97BC62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143000"/>
            <a:ext cx="228600" cy="2286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14400" y="1115568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Framework / Log-frame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594360" y="1417320"/>
            <a:ext cx="3977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Links activities to outputs, outcomes, and impact with indicators at each level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594360" y="1856232"/>
            <a:ext cx="3977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Use: Throughout project lifecycle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4892040" y="1005840"/>
            <a:ext cx="4251960" cy="1097280"/>
          </a:xfrm>
          <a:prstGeom prst="rect">
            <a:avLst/>
          </a:prstGeom>
          <a:solidFill>
            <a:srgbClr val="FFFFFF"/>
          </a:solidFill>
          <a:ln w="25400">
            <a:solidFill>
              <a:srgbClr val="97BC62"/>
            </a:solidFill>
            <a:prstDash val="solid"/>
          </a:ln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0" y="1143000"/>
            <a:ext cx="228600" cy="2286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349240" y="1115568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Dashboard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5029200" y="1417320"/>
            <a:ext cx="3977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display of key indicators with real-time or regular updates</a:t>
            </a:r>
            <a:endParaRPr lang="en-US" sz="1000" dirty="0"/>
          </a:p>
        </p:txBody>
      </p:sp>
      <p:sp>
        <p:nvSpPr>
          <p:cNvPr id="13" name="Text 9"/>
          <p:cNvSpPr/>
          <p:nvPr/>
        </p:nvSpPr>
        <p:spPr>
          <a:xfrm>
            <a:off x="5029200" y="1856232"/>
            <a:ext cx="3977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Use: For ongoing monitoring</a:t>
            </a:r>
            <a:endParaRPr lang="en-US" sz="900" dirty="0"/>
          </a:p>
        </p:txBody>
      </p:sp>
      <p:sp>
        <p:nvSpPr>
          <p:cNvPr id="14" name="Shape 10"/>
          <p:cNvSpPr/>
          <p:nvPr/>
        </p:nvSpPr>
        <p:spPr>
          <a:xfrm>
            <a:off x="457200" y="2240280"/>
            <a:ext cx="4251960" cy="1097280"/>
          </a:xfrm>
          <a:prstGeom prst="rect">
            <a:avLst/>
          </a:prstGeom>
          <a:solidFill>
            <a:srgbClr val="FFFFFF"/>
          </a:solidFill>
          <a:ln w="25400">
            <a:solidFill>
              <a:srgbClr val="97BC62"/>
            </a:solidFill>
            <a:prstDash val="solid"/>
          </a:ln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4360" y="2377440"/>
            <a:ext cx="228600" cy="22860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914400" y="2350008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Collection Matrix</a:t>
            </a:r>
            <a:endParaRPr lang="en-US" sz="1300" dirty="0"/>
          </a:p>
        </p:txBody>
      </p:sp>
      <p:sp>
        <p:nvSpPr>
          <p:cNvPr id="17" name="Text 12"/>
          <p:cNvSpPr/>
          <p:nvPr/>
        </p:nvSpPr>
        <p:spPr>
          <a:xfrm>
            <a:off x="594360" y="2651760"/>
            <a:ext cx="3977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Specifies what data to collect, how, when, who, and where for each indicator</a:t>
            </a:r>
            <a:endParaRPr lang="en-US" sz="1000" dirty="0"/>
          </a:p>
        </p:txBody>
      </p:sp>
      <p:sp>
        <p:nvSpPr>
          <p:cNvPr id="18" name="Text 13"/>
          <p:cNvSpPr/>
          <p:nvPr/>
        </p:nvSpPr>
        <p:spPr>
          <a:xfrm>
            <a:off x="594360" y="3090672"/>
            <a:ext cx="3977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Use: Planning data collection</a:t>
            </a:r>
            <a:endParaRPr lang="en-US" sz="900" dirty="0"/>
          </a:p>
        </p:txBody>
      </p:sp>
      <p:sp>
        <p:nvSpPr>
          <p:cNvPr id="19" name="Shape 14"/>
          <p:cNvSpPr/>
          <p:nvPr/>
        </p:nvSpPr>
        <p:spPr>
          <a:xfrm>
            <a:off x="4892040" y="2240280"/>
            <a:ext cx="4251960" cy="1097280"/>
          </a:xfrm>
          <a:prstGeom prst="rect">
            <a:avLst/>
          </a:prstGeom>
          <a:solidFill>
            <a:srgbClr val="FFFFFF"/>
          </a:solidFill>
          <a:ln w="25400">
            <a:solidFill>
              <a:srgbClr val="97BC62"/>
            </a:solidFill>
            <a:prstDash val="solid"/>
          </a:ln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29200" y="2377440"/>
            <a:ext cx="228600" cy="22860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5349240" y="2350008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 Mapping</a:t>
            </a:r>
            <a:endParaRPr lang="en-US" sz="1300" dirty="0"/>
          </a:p>
        </p:txBody>
      </p:sp>
      <p:sp>
        <p:nvSpPr>
          <p:cNvPr id="22" name="Text 16"/>
          <p:cNvSpPr/>
          <p:nvPr/>
        </p:nvSpPr>
        <p:spPr>
          <a:xfrm>
            <a:off x="5029200" y="2651760"/>
            <a:ext cx="3977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Tracks changes in behavior, relationships, activities of project partners</a:t>
            </a:r>
            <a:endParaRPr lang="en-US" sz="1000" dirty="0"/>
          </a:p>
        </p:txBody>
      </p:sp>
      <p:sp>
        <p:nvSpPr>
          <p:cNvPr id="23" name="Text 17"/>
          <p:cNvSpPr/>
          <p:nvPr/>
        </p:nvSpPr>
        <p:spPr>
          <a:xfrm>
            <a:off x="5029200" y="3090672"/>
            <a:ext cx="3977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Use: For complex interventions</a:t>
            </a:r>
            <a:endParaRPr lang="en-US" sz="900" dirty="0"/>
          </a:p>
        </p:txBody>
      </p:sp>
      <p:sp>
        <p:nvSpPr>
          <p:cNvPr id="24" name="Shape 18"/>
          <p:cNvSpPr/>
          <p:nvPr/>
        </p:nvSpPr>
        <p:spPr>
          <a:xfrm>
            <a:off x="457200" y="3474720"/>
            <a:ext cx="4251960" cy="1097280"/>
          </a:xfrm>
          <a:prstGeom prst="rect">
            <a:avLst/>
          </a:prstGeom>
          <a:solidFill>
            <a:srgbClr val="FFFFFF"/>
          </a:solidFill>
          <a:ln w="25400">
            <a:solidFill>
              <a:srgbClr val="97BC62"/>
            </a:solidFill>
            <a:prstDash val="solid"/>
          </a:ln>
        </p:spPr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4360" y="3611880"/>
            <a:ext cx="228600" cy="228600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914400" y="3584448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Significant Change (MSC)</a:t>
            </a:r>
            <a:endParaRPr lang="en-US" sz="1300" dirty="0"/>
          </a:p>
        </p:txBody>
      </p:sp>
      <p:sp>
        <p:nvSpPr>
          <p:cNvPr id="27" name="Text 20"/>
          <p:cNvSpPr/>
          <p:nvPr/>
        </p:nvSpPr>
        <p:spPr>
          <a:xfrm>
            <a:off x="594360" y="3886200"/>
            <a:ext cx="3977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Collects stories of change and systematically identifies most significant</a:t>
            </a:r>
            <a:endParaRPr lang="en-US" sz="1000" dirty="0"/>
          </a:p>
        </p:txBody>
      </p:sp>
      <p:sp>
        <p:nvSpPr>
          <p:cNvPr id="28" name="Text 21"/>
          <p:cNvSpPr/>
          <p:nvPr/>
        </p:nvSpPr>
        <p:spPr>
          <a:xfrm>
            <a:off x="594360" y="4325112"/>
            <a:ext cx="3977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Use: Capturing qualitative impact</a:t>
            </a:r>
            <a:endParaRPr lang="en-US" sz="900" dirty="0"/>
          </a:p>
        </p:txBody>
      </p:sp>
      <p:sp>
        <p:nvSpPr>
          <p:cNvPr id="29" name="Shape 22"/>
          <p:cNvSpPr/>
          <p:nvPr/>
        </p:nvSpPr>
        <p:spPr>
          <a:xfrm>
            <a:off x="4892040" y="3474720"/>
            <a:ext cx="4251960" cy="1097280"/>
          </a:xfrm>
          <a:prstGeom prst="rect">
            <a:avLst/>
          </a:prstGeom>
          <a:solidFill>
            <a:srgbClr val="FFFFFF"/>
          </a:solidFill>
          <a:ln w="25400">
            <a:solidFill>
              <a:srgbClr val="97BC62"/>
            </a:solidFill>
            <a:prstDash val="solid"/>
          </a:ln>
        </p:spPr>
      </p:sp>
      <p:pic>
        <p:nvPicPr>
          <p:cNvPr id="30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29200" y="3611880"/>
            <a:ext cx="228600" cy="228600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5349240" y="3584448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Theory of Change Tracker</a:t>
            </a:r>
            <a:endParaRPr lang="en-US" sz="1300" dirty="0"/>
          </a:p>
        </p:txBody>
      </p:sp>
      <p:sp>
        <p:nvSpPr>
          <p:cNvPr id="32" name="Text 24"/>
          <p:cNvSpPr/>
          <p:nvPr/>
        </p:nvSpPr>
        <p:spPr>
          <a:xfrm>
            <a:off x="5029200" y="3886200"/>
            <a:ext cx="3977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Monitors assumptions and pathways showing progress along causal chain</a:t>
            </a:r>
            <a:endParaRPr lang="en-US" sz="1000" dirty="0"/>
          </a:p>
        </p:txBody>
      </p:sp>
      <p:sp>
        <p:nvSpPr>
          <p:cNvPr id="33" name="Text 25"/>
          <p:cNvSpPr/>
          <p:nvPr/>
        </p:nvSpPr>
        <p:spPr>
          <a:xfrm>
            <a:off x="5029200" y="4325112"/>
            <a:ext cx="3977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Use: Testing intervention logic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M&amp;E PLAN EXAMPLE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Youth Livelihood Project</a:t>
            </a:r>
            <a:endParaRPr lang="en-US" sz="14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280160"/>
          <a:ext cx="8412480" cy="3200400"/>
        </p:xfrm>
        <a:graphic>
          <a:graphicData uri="http://schemas.openxmlformats.org/drawingml/2006/table">
            <a:tbl>
              <a:tblPr/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334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Indicator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Data Source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Method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Frequency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Responsible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# youth trained</a:t>
                      </a:r>
                      <a:endParaRPr lang="en-US" sz="900" dirty="0"/>
                    </a:p>
                  </a:txBody>
                  <a:tcPr anchor="ctr">
                    <a:lnL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Training attendance sheets</a:t>
                      </a:r>
                      <a:endParaRPr lang="en-US" sz="900" dirty="0"/>
                    </a:p>
                  </a:txBody>
                  <a:tcPr anchor="ctr">
                    <a:lnL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Administrative records</a:t>
                      </a:r>
                      <a:endParaRPr lang="en-US" sz="900" dirty="0"/>
                    </a:p>
                  </a:txBody>
                  <a:tcPr anchor="ctr">
                    <a:lnL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Weekly</a:t>
                      </a:r>
                      <a:endParaRPr lang="en-US" sz="900" dirty="0"/>
                    </a:p>
                  </a:txBody>
                  <a:tcPr anchor="ctr">
                    <a:lnL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Training Officer</a:t>
                      </a:r>
                      <a:endParaRPr lang="en-US" sz="900" dirty="0"/>
                    </a:p>
                  </a:txBody>
                  <a:tcPr anchor="ctr">
                    <a:lnL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% completing training</a:t>
                      </a:r>
                      <a:endParaRPr lang="en-US" sz="900" dirty="0"/>
                    </a:p>
                  </a:txBody>
                  <a:tcPr anchor="ctr">
                    <a:lnL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Completion certificates</a:t>
                      </a:r>
                      <a:endParaRPr lang="en-US" sz="900" dirty="0"/>
                    </a:p>
                  </a:txBody>
                  <a:tcPr anchor="ctr">
                    <a:lnL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Administrative records</a:t>
                      </a:r>
                      <a:endParaRPr lang="en-US" sz="900" dirty="0"/>
                    </a:p>
                  </a:txBody>
                  <a:tcPr anchor="ctr">
                    <a:lnL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Monthly</a:t>
                      </a:r>
                      <a:endParaRPr lang="en-US" sz="900" dirty="0"/>
                    </a:p>
                  </a:txBody>
                  <a:tcPr anchor="ctr">
                    <a:lnL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Training Officer</a:t>
                      </a:r>
                      <a:endParaRPr lang="en-US" sz="900" dirty="0"/>
                    </a:p>
                  </a:txBody>
                  <a:tcPr anchor="ctr">
                    <a:lnL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% employed within 6 months</a:t>
                      </a:r>
                      <a:endParaRPr lang="en-US" sz="900" dirty="0"/>
                    </a:p>
                  </a:txBody>
                  <a:tcPr anchor="ctr">
                    <a:lnL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Graduate tracer survey</a:t>
                      </a:r>
                      <a:endParaRPr lang="en-US" sz="900" dirty="0"/>
                    </a:p>
                  </a:txBody>
                  <a:tcPr anchor="ctr">
                    <a:lnL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Phone survey</a:t>
                      </a:r>
                      <a:endParaRPr lang="en-US" sz="900" dirty="0"/>
                    </a:p>
                  </a:txBody>
                  <a:tcPr anchor="ctr">
                    <a:lnL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Every 6 months</a:t>
                      </a:r>
                      <a:endParaRPr lang="en-US" sz="900" dirty="0"/>
                    </a:p>
                  </a:txBody>
                  <a:tcPr anchor="ctr">
                    <a:lnL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M&amp;E Officer</a:t>
                      </a:r>
                      <a:endParaRPr lang="en-US" sz="900" dirty="0"/>
                    </a:p>
                  </a:txBody>
                  <a:tcPr anchor="ctr">
                    <a:lnL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Quality of training</a:t>
                      </a:r>
                      <a:endParaRPr lang="en-US" sz="900" dirty="0"/>
                    </a:p>
                  </a:txBody>
                  <a:tcPr anchor="ctr">
                    <a:lnL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Participant feedback</a:t>
                      </a:r>
                      <a:endParaRPr lang="en-US" sz="900" dirty="0"/>
                    </a:p>
                  </a:txBody>
                  <a:tcPr anchor="ctr">
                    <a:lnL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Survey + Focus groups</a:t>
                      </a:r>
                      <a:endParaRPr lang="en-US" sz="900" dirty="0"/>
                    </a:p>
                  </a:txBody>
                  <a:tcPr anchor="ctr">
                    <a:lnL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After each course</a:t>
                      </a:r>
                      <a:endParaRPr lang="en-US" sz="900" dirty="0"/>
                    </a:p>
                  </a:txBody>
                  <a:tcPr anchor="ctr">
                    <a:lnL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M&amp;E Officer</a:t>
                      </a:r>
                      <a:endParaRPr lang="en-US" sz="900" dirty="0"/>
                    </a:p>
                  </a:txBody>
                  <a:tcPr anchor="ctr">
                    <a:lnL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Income increase</a:t>
                      </a:r>
                      <a:endParaRPr lang="en-US" sz="900" dirty="0"/>
                    </a:p>
                  </a:txBody>
                  <a:tcPr anchor="ctr">
                    <a:lnL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Household surveys</a:t>
                      </a:r>
                      <a:endParaRPr lang="en-US" sz="900" dirty="0"/>
                    </a:p>
                  </a:txBody>
                  <a:tcPr anchor="ctr">
                    <a:lnL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Structured survey</a:t>
                      </a:r>
                      <a:endParaRPr lang="en-US" sz="900" dirty="0"/>
                    </a:p>
                  </a:txBody>
                  <a:tcPr anchor="ctr">
                    <a:lnL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Baseline &amp; Endline</a:t>
                      </a:r>
                      <a:endParaRPr lang="en-US" sz="900" dirty="0"/>
                    </a:p>
                  </a:txBody>
                  <a:tcPr anchor="ctr">
                    <a:lnL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External Evaluator</a:t>
                      </a:r>
                      <a:endParaRPr lang="en-US" sz="900" dirty="0"/>
                    </a:p>
                  </a:txBody>
                  <a:tcPr anchor="ctr">
                    <a:lnL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MANAGEMENT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8229600" cy="548640"/>
          </a:xfrm>
          <a:prstGeom prst="rect">
            <a:avLst/>
          </a:prstGeom>
          <a:solidFill>
            <a:srgbClr val="E8A614">
              <a:alpha val="8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05156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M&amp;E data to make informed decisions and modify interventions for better results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57200" y="16459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ADAPTIVE MANAGEMENT CYCLE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114800" y="1417320"/>
            <a:ext cx="914400" cy="822960"/>
          </a:xfrm>
          <a:prstGeom prst="rect">
            <a:avLst/>
          </a:prstGeom>
          <a:solidFill>
            <a:srgbClr val="2C5F2D">
              <a:alpha val="80000"/>
            </a:srgbClr>
          </a:solidFill>
          <a:ln w="25400">
            <a:solidFill>
              <a:srgbClr val="2C5F2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434840" y="1463040"/>
            <a:ext cx="274320" cy="274320"/>
          </a:xfrm>
          <a:prstGeom prst="ellipse">
            <a:avLst/>
          </a:prstGeom>
          <a:solidFill>
            <a:srgbClr val="E8A614"/>
          </a:solidFill>
          <a:ln/>
        </p:spPr>
      </p:sp>
      <p:sp>
        <p:nvSpPr>
          <p:cNvPr id="9" name="Text 7"/>
          <p:cNvSpPr/>
          <p:nvPr/>
        </p:nvSpPr>
        <p:spPr>
          <a:xfrm>
            <a:off x="4434840" y="14630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160520" y="1801368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160520" y="1993392"/>
            <a:ext cx="822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objectives &amp; design interventions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 rot="2160000">
            <a:off x="5108729" y="2240616"/>
            <a:ext cx="219456" cy="146304"/>
          </a:xfrm>
          <a:prstGeom prst="rightArrow">
            <a:avLst/>
          </a:prstGeom>
          <a:solidFill>
            <a:srgbClr val="97BC62"/>
          </a:solidFill>
          <a:ln/>
        </p:spPr>
      </p:sp>
      <p:sp>
        <p:nvSpPr>
          <p:cNvPr id="13" name="Shape 11"/>
          <p:cNvSpPr/>
          <p:nvPr/>
        </p:nvSpPr>
        <p:spPr>
          <a:xfrm>
            <a:off x="5419269" y="2365072"/>
            <a:ext cx="914400" cy="822960"/>
          </a:xfrm>
          <a:prstGeom prst="rect">
            <a:avLst/>
          </a:prstGeom>
          <a:solidFill>
            <a:srgbClr val="2C5F2D">
              <a:alpha val="80000"/>
            </a:srgbClr>
          </a:solidFill>
          <a:ln w="25400">
            <a:solidFill>
              <a:srgbClr val="2C5F2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739309" y="2410792"/>
            <a:ext cx="274320" cy="274320"/>
          </a:xfrm>
          <a:prstGeom prst="ellipse">
            <a:avLst/>
          </a:prstGeom>
          <a:solidFill>
            <a:srgbClr val="E8A614"/>
          </a:solidFill>
          <a:ln/>
        </p:spPr>
      </p:sp>
      <p:sp>
        <p:nvSpPr>
          <p:cNvPr id="15" name="Text 13"/>
          <p:cNvSpPr/>
          <p:nvPr/>
        </p:nvSpPr>
        <p:spPr>
          <a:xfrm>
            <a:off x="5739309" y="241079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464989" y="2749120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464989" y="2941144"/>
            <a:ext cx="822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 activities &amp; collect data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 rot="6480000">
            <a:off x="5505276" y="3468080"/>
            <a:ext cx="219456" cy="146304"/>
          </a:xfrm>
          <a:prstGeom prst="rightArrow">
            <a:avLst/>
          </a:prstGeom>
          <a:solidFill>
            <a:srgbClr val="97BC62"/>
          </a:solidFill>
          <a:ln/>
        </p:spPr>
      </p:sp>
      <p:sp>
        <p:nvSpPr>
          <p:cNvPr id="19" name="Shape 17"/>
          <p:cNvSpPr/>
          <p:nvPr/>
        </p:nvSpPr>
        <p:spPr>
          <a:xfrm>
            <a:off x="4921006" y="3898568"/>
            <a:ext cx="914400" cy="822960"/>
          </a:xfrm>
          <a:prstGeom prst="rect">
            <a:avLst/>
          </a:prstGeom>
          <a:solidFill>
            <a:srgbClr val="2C5F2D">
              <a:alpha val="80000"/>
            </a:srgbClr>
          </a:solidFill>
          <a:ln w="25400">
            <a:solidFill>
              <a:srgbClr val="2C5F2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241046" y="3944288"/>
            <a:ext cx="274320" cy="274320"/>
          </a:xfrm>
          <a:prstGeom prst="ellipse">
            <a:avLst/>
          </a:prstGeom>
          <a:solidFill>
            <a:srgbClr val="E8A614"/>
          </a:solidFill>
          <a:ln/>
        </p:spPr>
      </p:sp>
      <p:sp>
        <p:nvSpPr>
          <p:cNvPr id="21" name="Text 19"/>
          <p:cNvSpPr/>
          <p:nvPr/>
        </p:nvSpPr>
        <p:spPr>
          <a:xfrm>
            <a:off x="5241046" y="394428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4966726" y="4282616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966726" y="4474640"/>
            <a:ext cx="822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progress &amp; analyze data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 rot="10800000">
            <a:off x="4460427" y="4224526"/>
            <a:ext cx="219456" cy="146304"/>
          </a:xfrm>
          <a:prstGeom prst="rightArrow">
            <a:avLst/>
          </a:prstGeom>
          <a:solidFill>
            <a:srgbClr val="97BC62"/>
          </a:solidFill>
          <a:ln/>
        </p:spPr>
      </p:sp>
      <p:sp>
        <p:nvSpPr>
          <p:cNvPr id="25" name="Shape 23"/>
          <p:cNvSpPr/>
          <p:nvPr/>
        </p:nvSpPr>
        <p:spPr>
          <a:xfrm>
            <a:off x="3308594" y="3898568"/>
            <a:ext cx="914400" cy="822960"/>
          </a:xfrm>
          <a:prstGeom prst="rect">
            <a:avLst/>
          </a:prstGeom>
          <a:solidFill>
            <a:srgbClr val="2C5F2D">
              <a:alpha val="80000"/>
            </a:srgbClr>
          </a:solidFill>
          <a:ln w="25400">
            <a:solidFill>
              <a:srgbClr val="2C5F2D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628634" y="3944288"/>
            <a:ext cx="274320" cy="274320"/>
          </a:xfrm>
          <a:prstGeom prst="ellipse">
            <a:avLst/>
          </a:prstGeom>
          <a:solidFill>
            <a:srgbClr val="E8A614"/>
          </a:solidFill>
          <a:ln/>
        </p:spPr>
      </p:sp>
      <p:sp>
        <p:nvSpPr>
          <p:cNvPr id="27" name="Text 25"/>
          <p:cNvSpPr/>
          <p:nvPr/>
        </p:nvSpPr>
        <p:spPr>
          <a:xfrm>
            <a:off x="3628634" y="394428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3354314" y="4282616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354314" y="4474640"/>
            <a:ext cx="822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findings &amp; identify lessons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 rot="15120000">
            <a:off x="3418128" y="3464571"/>
            <a:ext cx="219456" cy="146304"/>
          </a:xfrm>
          <a:prstGeom prst="rightArrow">
            <a:avLst/>
          </a:prstGeom>
          <a:solidFill>
            <a:srgbClr val="97BC62"/>
          </a:solidFill>
          <a:ln/>
        </p:spPr>
      </p:sp>
      <p:sp>
        <p:nvSpPr>
          <p:cNvPr id="31" name="Shape 29"/>
          <p:cNvSpPr/>
          <p:nvPr/>
        </p:nvSpPr>
        <p:spPr>
          <a:xfrm>
            <a:off x="2810331" y="2365072"/>
            <a:ext cx="914400" cy="822960"/>
          </a:xfrm>
          <a:prstGeom prst="rect">
            <a:avLst/>
          </a:prstGeom>
          <a:solidFill>
            <a:srgbClr val="2C5F2D">
              <a:alpha val="80000"/>
            </a:srgbClr>
          </a:solidFill>
          <a:ln w="25400">
            <a:solidFill>
              <a:srgbClr val="2C5F2D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130371" y="2410792"/>
            <a:ext cx="274320" cy="274320"/>
          </a:xfrm>
          <a:prstGeom prst="ellipse">
            <a:avLst/>
          </a:prstGeom>
          <a:solidFill>
            <a:srgbClr val="E8A614"/>
          </a:solidFill>
          <a:ln/>
        </p:spPr>
      </p:sp>
      <p:sp>
        <p:nvSpPr>
          <p:cNvPr id="33" name="Text 31"/>
          <p:cNvSpPr/>
          <p:nvPr/>
        </p:nvSpPr>
        <p:spPr>
          <a:xfrm>
            <a:off x="3130371" y="241079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2856051" y="2749120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2856051" y="2941144"/>
            <a:ext cx="822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Adjust strategies &amp; improve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4114800" y="2743200"/>
            <a:ext cx="914400" cy="9144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2C5F2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160520" y="2971800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IMPROVEMENT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LOOPS IN ACTION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Example: Agricultural Training Program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8229600" cy="685800"/>
          </a:xfrm>
          <a:prstGeom prst="rect">
            <a:avLst/>
          </a:prstGeom>
          <a:solidFill>
            <a:srgbClr val="2C5F2D">
              <a:alpha val="80000"/>
            </a:srgbClr>
          </a:solidFill>
          <a:ln w="25400">
            <a:solidFill>
              <a:srgbClr val="2C5F2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371600"/>
            <a:ext cx="457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1280160" y="1417320"/>
            <a:ext cx="7223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COLLECTED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280160" y="1673352"/>
            <a:ext cx="7223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40% of farmers attending training sessions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297680" y="2039112"/>
            <a:ext cx="548640" cy="182880"/>
          </a:xfrm>
          <a:prstGeom prst="downArrow">
            <a:avLst/>
          </a:prstGeom>
          <a:solidFill>
            <a:srgbClr val="97BC62"/>
          </a:solidFill>
          <a:ln/>
        </p:spPr>
      </p:sp>
      <p:sp>
        <p:nvSpPr>
          <p:cNvPr id="10" name="Shape 8"/>
          <p:cNvSpPr/>
          <p:nvPr/>
        </p:nvSpPr>
        <p:spPr>
          <a:xfrm>
            <a:off x="457200" y="2148840"/>
            <a:ext cx="8229600" cy="685800"/>
          </a:xfrm>
          <a:prstGeom prst="rect">
            <a:avLst/>
          </a:prstGeom>
          <a:solidFill>
            <a:srgbClr val="97BC62">
              <a:alpha val="80000"/>
            </a:srgbClr>
          </a:solidFill>
          <a:ln w="25400">
            <a:solidFill>
              <a:srgbClr val="97BC6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2194560"/>
            <a:ext cx="457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1280160" y="2240280"/>
            <a:ext cx="7223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280160" y="2496312"/>
            <a:ext cx="7223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groups reveal training times conflict with farming activities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297680" y="2862072"/>
            <a:ext cx="548640" cy="182880"/>
          </a:xfrm>
          <a:prstGeom prst="downArrow">
            <a:avLst/>
          </a:prstGeom>
          <a:solidFill>
            <a:srgbClr val="97BC62"/>
          </a:solidFill>
          <a:ln/>
        </p:spPr>
      </p:sp>
      <p:sp>
        <p:nvSpPr>
          <p:cNvPr id="15" name="Shape 13"/>
          <p:cNvSpPr/>
          <p:nvPr/>
        </p:nvSpPr>
        <p:spPr>
          <a:xfrm>
            <a:off x="457200" y="2971800"/>
            <a:ext cx="8229600" cy="685800"/>
          </a:xfrm>
          <a:prstGeom prst="rect">
            <a:avLst/>
          </a:prstGeom>
          <a:solidFill>
            <a:srgbClr val="E8A614">
              <a:alpha val="80000"/>
            </a:srgbClr>
          </a:solidFill>
          <a:ln w="25400">
            <a:solidFill>
              <a:srgbClr val="E8A61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3017520"/>
            <a:ext cx="457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E8A6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1280160" y="3063240"/>
            <a:ext cx="7223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280160" y="3319272"/>
            <a:ext cx="7223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Reschedule sessions to evenings and Sundays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297680" y="3685032"/>
            <a:ext cx="548640" cy="182880"/>
          </a:xfrm>
          <a:prstGeom prst="downArrow">
            <a:avLst/>
          </a:prstGeom>
          <a:solidFill>
            <a:srgbClr val="97BC62"/>
          </a:solidFill>
          <a:ln/>
        </p:spPr>
      </p:sp>
      <p:sp>
        <p:nvSpPr>
          <p:cNvPr id="20" name="Shape 18"/>
          <p:cNvSpPr/>
          <p:nvPr/>
        </p:nvSpPr>
        <p:spPr>
          <a:xfrm>
            <a:off x="457200" y="3794760"/>
            <a:ext cx="8229600" cy="685800"/>
          </a:xfrm>
          <a:prstGeom prst="rect">
            <a:avLst/>
          </a:prstGeom>
          <a:solidFill>
            <a:srgbClr val="2C5F2D">
              <a:alpha val="80000"/>
            </a:srgbClr>
          </a:solidFill>
          <a:ln w="25400">
            <a:solidFill>
              <a:srgbClr val="2C5F2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" y="3840480"/>
            <a:ext cx="457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3600" dirty="0"/>
          </a:p>
        </p:txBody>
      </p:sp>
      <p:sp>
        <p:nvSpPr>
          <p:cNvPr id="22" name="Text 20"/>
          <p:cNvSpPr/>
          <p:nvPr/>
        </p:nvSpPr>
        <p:spPr>
          <a:xfrm>
            <a:off x="1280160" y="3886200"/>
            <a:ext cx="7223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280160" y="4142232"/>
            <a:ext cx="7223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 increases to 85% within one month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 &amp; DOCUMENTATION STANDARDS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 of M&amp;E Reports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8229600" cy="868680"/>
          </a:xfrm>
          <a:prstGeom prst="rect">
            <a:avLst/>
          </a:prstGeom>
          <a:solidFill>
            <a:srgbClr val="FFFFFF"/>
          </a:solidFill>
          <a:ln w="25400">
            <a:solidFill>
              <a:srgbClr val="97BC6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41732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 Reports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1673352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Frequency: Monthly/Quarterly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657600" y="141732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Content: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57600" y="1618488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Activities completed, outputs achieved, challenges, next steps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657600" y="1965960"/>
            <a:ext cx="48463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Audience: Project team, funders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57200" y="2286000"/>
            <a:ext cx="8229600" cy="868680"/>
          </a:xfrm>
          <a:prstGeom prst="rect">
            <a:avLst/>
          </a:prstGeom>
          <a:solidFill>
            <a:srgbClr val="FFFFFF"/>
          </a:solidFill>
          <a:ln w="25400">
            <a:solidFill>
              <a:srgbClr val="97BC6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237744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Reports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40080" y="2633472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Frequency: Mid-term/Endline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657600" y="237744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Content: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657600" y="2578608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Achievement of objectives, impact assessment, lessons learned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657600" y="2926080"/>
            <a:ext cx="48463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Audience: Stakeholders, decision-makers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57200" y="3246120"/>
            <a:ext cx="8229600" cy="868680"/>
          </a:xfrm>
          <a:prstGeom prst="rect">
            <a:avLst/>
          </a:prstGeom>
          <a:solidFill>
            <a:srgbClr val="FFFFFF"/>
          </a:solidFill>
          <a:ln w="25400">
            <a:solidFill>
              <a:srgbClr val="97BC6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333756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Donor Reports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40080" y="3593592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Frequency: As required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657600" y="333756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Content: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657600" y="3538728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&amp; narrative reporting aligned with donor templates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657600" y="3886200"/>
            <a:ext cx="48463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Audience: Funding organizations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PRACTICES IN M&amp;E REPORTING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4251960" cy="1005840"/>
          </a:xfrm>
          <a:prstGeom prst="rect">
            <a:avLst/>
          </a:prstGeom>
          <a:solidFill>
            <a:srgbClr val="FFFFFF"/>
          </a:solidFill>
          <a:ln w="25400">
            <a:solidFill>
              <a:srgbClr val="97BC62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143000"/>
            <a:ext cx="201168" cy="20116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68680" y="1115568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 Accurate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594360" y="1417320"/>
            <a:ext cx="3977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data truthfully, including challenges and setbacks. Verify all numbers before submission.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4892040" y="1005840"/>
            <a:ext cx="4251960" cy="1005840"/>
          </a:xfrm>
          <a:prstGeom prst="rect">
            <a:avLst/>
          </a:prstGeom>
          <a:solidFill>
            <a:srgbClr val="FFFFFF"/>
          </a:solidFill>
          <a:ln w="25400">
            <a:solidFill>
              <a:srgbClr val="97BC62"/>
            </a:solidFill>
            <a:prstDash val="solid"/>
          </a:ln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0" y="1143000"/>
            <a:ext cx="201168" cy="20116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303520" y="1115568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 Timely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5029200" y="1417320"/>
            <a:ext cx="3977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reports on schedule. Late reports undermine credibility and decision-making.</a:t>
            </a:r>
            <a:endParaRPr lang="en-US" sz="1000" dirty="0"/>
          </a:p>
        </p:txBody>
      </p:sp>
      <p:sp>
        <p:nvSpPr>
          <p:cNvPr id="12" name="Shape 8"/>
          <p:cNvSpPr/>
          <p:nvPr/>
        </p:nvSpPr>
        <p:spPr>
          <a:xfrm>
            <a:off x="457200" y="2148840"/>
            <a:ext cx="4251960" cy="1005840"/>
          </a:xfrm>
          <a:prstGeom prst="rect">
            <a:avLst/>
          </a:prstGeom>
          <a:solidFill>
            <a:srgbClr val="FFFFFF"/>
          </a:solidFill>
          <a:ln w="25400">
            <a:solidFill>
              <a:srgbClr val="97BC62"/>
            </a:solidFill>
            <a:prstDash val="solid"/>
          </a:ln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2286000"/>
            <a:ext cx="201168" cy="20116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68680" y="2258568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 Clear</a:t>
            </a:r>
            <a:endParaRPr lang="en-US" sz="1300" dirty="0"/>
          </a:p>
        </p:txBody>
      </p:sp>
      <p:sp>
        <p:nvSpPr>
          <p:cNvPr id="15" name="Text 10"/>
          <p:cNvSpPr/>
          <p:nvPr/>
        </p:nvSpPr>
        <p:spPr>
          <a:xfrm>
            <a:off x="594360" y="2560320"/>
            <a:ext cx="3977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simple language, avoid jargon. Include visual aids (charts, graphs) to illustrate trends.</a:t>
            </a:r>
            <a:endParaRPr lang="en-US" sz="1000" dirty="0"/>
          </a:p>
        </p:txBody>
      </p:sp>
      <p:sp>
        <p:nvSpPr>
          <p:cNvPr id="16" name="Shape 11"/>
          <p:cNvSpPr/>
          <p:nvPr/>
        </p:nvSpPr>
        <p:spPr>
          <a:xfrm>
            <a:off x="4892040" y="2148840"/>
            <a:ext cx="4251960" cy="1005840"/>
          </a:xfrm>
          <a:prstGeom prst="rect">
            <a:avLst/>
          </a:prstGeom>
          <a:solidFill>
            <a:srgbClr val="FFFFFF"/>
          </a:solidFill>
          <a:ln w="25400">
            <a:solidFill>
              <a:srgbClr val="97BC62"/>
            </a:solidFill>
            <a:prstDash val="solid"/>
          </a:ln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0" y="2286000"/>
            <a:ext cx="201168" cy="201168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5303520" y="2258568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 Relevant</a:t>
            </a:r>
            <a:endParaRPr lang="en-US" sz="1300" dirty="0"/>
          </a:p>
        </p:txBody>
      </p:sp>
      <p:sp>
        <p:nvSpPr>
          <p:cNvPr id="19" name="Text 13"/>
          <p:cNvSpPr/>
          <p:nvPr/>
        </p:nvSpPr>
        <p:spPr>
          <a:xfrm>
            <a:off x="5029200" y="2560320"/>
            <a:ext cx="3977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on what matters to the audience. Link findings to objectives and decisions.</a:t>
            </a:r>
            <a:endParaRPr lang="en-US" sz="1000" dirty="0"/>
          </a:p>
        </p:txBody>
      </p:sp>
      <p:sp>
        <p:nvSpPr>
          <p:cNvPr id="20" name="Shape 14"/>
          <p:cNvSpPr/>
          <p:nvPr/>
        </p:nvSpPr>
        <p:spPr>
          <a:xfrm>
            <a:off x="457200" y="3291840"/>
            <a:ext cx="4251960" cy="1005840"/>
          </a:xfrm>
          <a:prstGeom prst="rect">
            <a:avLst/>
          </a:prstGeom>
          <a:solidFill>
            <a:srgbClr val="FFFFFF"/>
          </a:solidFill>
          <a:ln w="25400">
            <a:solidFill>
              <a:srgbClr val="97BC62"/>
            </a:solidFill>
            <a:prstDash val="solid"/>
          </a:ln>
        </p:spPr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3429000"/>
            <a:ext cx="201168" cy="201168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868680" y="3401568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 Actionable</a:t>
            </a:r>
            <a:endParaRPr lang="en-US" sz="1300" dirty="0"/>
          </a:p>
        </p:txBody>
      </p:sp>
      <p:sp>
        <p:nvSpPr>
          <p:cNvPr id="23" name="Text 16"/>
          <p:cNvSpPr/>
          <p:nvPr/>
        </p:nvSpPr>
        <p:spPr>
          <a:xfrm>
            <a:off x="594360" y="3703320"/>
            <a:ext cx="3977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 specific recommendations based on evidence. Make clear what needs to change.</a:t>
            </a:r>
            <a:endParaRPr lang="en-US" sz="1000" dirty="0"/>
          </a:p>
        </p:txBody>
      </p:sp>
      <p:sp>
        <p:nvSpPr>
          <p:cNvPr id="24" name="Shape 17"/>
          <p:cNvSpPr/>
          <p:nvPr/>
        </p:nvSpPr>
        <p:spPr>
          <a:xfrm>
            <a:off x="4892040" y="3291840"/>
            <a:ext cx="4251960" cy="1005840"/>
          </a:xfrm>
          <a:prstGeom prst="rect">
            <a:avLst/>
          </a:prstGeom>
          <a:solidFill>
            <a:srgbClr val="FFFFFF"/>
          </a:solidFill>
          <a:ln w="25400">
            <a:solidFill>
              <a:srgbClr val="97BC62"/>
            </a:solidFill>
            <a:prstDash val="solid"/>
          </a:ln>
        </p:spPr>
      </p:sp>
      <p:pic>
        <p:nvPicPr>
          <p:cNvPr id="25" name="Image 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0" y="3429000"/>
            <a:ext cx="201168" cy="201168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5303520" y="3401568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Everything</a:t>
            </a:r>
            <a:endParaRPr lang="en-US" sz="1300" dirty="0"/>
          </a:p>
        </p:txBody>
      </p:sp>
      <p:sp>
        <p:nvSpPr>
          <p:cNvPr id="27" name="Text 19"/>
          <p:cNvSpPr/>
          <p:nvPr/>
        </p:nvSpPr>
        <p:spPr>
          <a:xfrm>
            <a:off x="5029200" y="3703320"/>
            <a:ext cx="3977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records of all data sources, methodologies, and decisions for transparency.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40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5920" y="1828800"/>
            <a:ext cx="164592" cy="16459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920240" y="18288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M&amp;E is not just reporting—it's learning and improving</a:t>
            </a:r>
            <a:endParaRPr lang="en-US" sz="150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5920" y="2212848"/>
            <a:ext cx="164592" cy="164592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920240" y="2212848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Establish baselines and use SMART indicators</a:t>
            </a:r>
            <a:endParaRPr lang="en-US" sz="150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5920" y="2596896"/>
            <a:ext cx="164592" cy="164592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1920240" y="2596896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 quantitative and qualitative methods</a:t>
            </a:r>
            <a:endParaRPr lang="en-US" sz="1500" dirty="0"/>
          </a:p>
        </p:txBody>
      </p:sp>
      <p:pic>
        <p:nvPicPr>
          <p:cNvPr id="9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5920" y="2980944"/>
            <a:ext cx="164592" cy="164592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1920240" y="2980944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feedback loops for adaptive management</a:t>
            </a:r>
            <a:endParaRPr lang="en-US" sz="1500" dirty="0"/>
          </a:p>
        </p:txBody>
      </p:sp>
      <p:pic>
        <p:nvPicPr>
          <p:cNvPr id="11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5920" y="3364992"/>
            <a:ext cx="164592" cy="164592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1920240" y="3364992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honestly, clearly, and on time</a:t>
            </a:r>
            <a:endParaRPr lang="en-US" sz="1500" dirty="0"/>
          </a:p>
        </p:txBody>
      </p:sp>
      <p:pic>
        <p:nvPicPr>
          <p:cNvPr id="13" name="Image 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5920" y="3749040"/>
            <a:ext cx="164592" cy="164592"/>
          </a:xfrm>
          <a:prstGeom prst="rect">
            <a:avLst/>
          </a:prstGeom>
        </p:spPr>
      </p:pic>
      <p:sp>
        <p:nvSpPr>
          <p:cNvPr id="14" name="Text 6"/>
          <p:cNvSpPr/>
          <p:nvPr/>
        </p:nvSpPr>
        <p:spPr>
          <a:xfrm>
            <a:off x="1920240" y="37490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M&amp;E data to make evidence-based decisions</a:t>
            </a:r>
            <a:endParaRPr lang="en-US" sz="1500" dirty="0"/>
          </a:p>
        </p:txBody>
      </p:sp>
      <p:sp>
        <p:nvSpPr>
          <p:cNvPr id="15" name="Text 7"/>
          <p:cNvSpPr/>
          <p:nvPr/>
        </p:nvSpPr>
        <p:spPr>
          <a:xfrm>
            <a:off x="457200" y="42062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E8A6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M&amp;E transforms data into knowledge, and knowledge into better projects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940</Words>
  <Application>Microsoft Office PowerPoint</Application>
  <PresentationFormat>On-screen Show (16:9)</PresentationFormat>
  <Paragraphs>231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Monitoring &amp; Evaluation and Adaptive Programming</dc:title>
  <dc:subject>PptxGenJS Presentation</dc:subject>
  <dc:creator>M&amp;E Workshop</dc:creator>
  <cp:lastModifiedBy>LENOVO</cp:lastModifiedBy>
  <cp:revision>2</cp:revision>
  <dcterms:created xsi:type="dcterms:W3CDTF">2026-02-11T12:39:42Z</dcterms:created>
  <dcterms:modified xsi:type="dcterms:W3CDTF">2026-02-13T13:54:59Z</dcterms:modified>
</cp:coreProperties>
</file>