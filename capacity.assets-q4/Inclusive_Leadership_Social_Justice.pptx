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F30"/>
        </a:solidFill>
      </p:bgPr>
    </p:bg>
    <p:spTree>
      <p:nvGrpSpPr>
        <p:cNvPr id="1" name=""/>
        <p:cNvGrpSpPr/>
        <p:nvPr/>
      </p:nvGrpSpPr>
      <p:grpSpPr>
        <a:xfrm>
          <a:off x="0" y="0"/>
          <a:ext cx="0" cy="0"/>
          <a:chOff x="0" y="0"/>
          <a:chExt cx="0" cy="0"/>
        </a:xfrm>
      </p:grpSpPr>
      <p:sp>
        <p:nvSpPr>
          <p:cNvPr id="2" name="Text 0"/>
          <p:cNvSpPr/>
          <p:nvPr/>
        </p:nvSpPr>
        <p:spPr>
          <a:xfrm>
            <a:off x="457200" y="1371600"/>
            <a:ext cx="8229600" cy="640080"/>
          </a:xfrm>
          <a:prstGeom prst="rect">
            <a:avLst/>
          </a:prstGeom>
          <a:noFill/>
          <a:ln/>
        </p:spPr>
        <p:txBody>
          <a:bodyPr wrap="square" rtlCol="0" anchor="ctr"/>
          <a:lstStyle/>
          <a:p>
            <a:pPr algn="ctr" indent="0" marL="0">
              <a:buNone/>
            </a:pPr>
            <a:r>
              <a:rPr lang="en-US" sz="4800" b="1" dirty="0">
                <a:solidFill>
                  <a:srgbClr val="F5F5F5"/>
                </a:solidFill>
                <a:latin typeface="Arial Black" pitchFamily="34" charset="0"/>
                <a:ea typeface="Arial Black" pitchFamily="34" charset="-122"/>
                <a:cs typeface="Arial Black" pitchFamily="34" charset="-120"/>
              </a:rPr>
              <a:t>INCLUSIVE LEADERSHIP,</a:t>
            </a:r>
            <a:endParaRPr lang="en-US" sz="4800" dirty="0"/>
          </a:p>
        </p:txBody>
      </p:sp>
      <p:sp>
        <p:nvSpPr>
          <p:cNvPr id="3" name="Text 1"/>
          <p:cNvSpPr/>
          <p:nvPr/>
        </p:nvSpPr>
        <p:spPr>
          <a:xfrm>
            <a:off x="457200" y="1965960"/>
            <a:ext cx="8229600" cy="640080"/>
          </a:xfrm>
          <a:prstGeom prst="rect">
            <a:avLst/>
          </a:prstGeom>
          <a:noFill/>
          <a:ln/>
        </p:spPr>
        <p:txBody>
          <a:bodyPr wrap="square" rtlCol="0" anchor="ctr"/>
          <a:lstStyle/>
          <a:p>
            <a:pPr algn="ctr" indent="0" marL="0">
              <a:buNone/>
            </a:pPr>
            <a:r>
              <a:rPr lang="en-US" sz="4800" b="1" dirty="0">
                <a:solidFill>
                  <a:srgbClr val="A26769"/>
                </a:solidFill>
                <a:latin typeface="Arial Black" pitchFamily="34" charset="0"/>
                <a:ea typeface="Arial Black" pitchFamily="34" charset="-122"/>
                <a:cs typeface="Arial Black" pitchFamily="34" charset="-120"/>
              </a:rPr>
              <a:t>SOCIAL JUSTICE &amp;</a:t>
            </a:r>
            <a:endParaRPr lang="en-US" sz="4800" dirty="0"/>
          </a:p>
        </p:txBody>
      </p:sp>
      <p:sp>
        <p:nvSpPr>
          <p:cNvPr id="4" name="Text 2"/>
          <p:cNvSpPr/>
          <p:nvPr/>
        </p:nvSpPr>
        <p:spPr>
          <a:xfrm>
            <a:off x="457200" y="2560320"/>
            <a:ext cx="8229600" cy="640080"/>
          </a:xfrm>
          <a:prstGeom prst="rect">
            <a:avLst/>
          </a:prstGeom>
          <a:noFill/>
          <a:ln/>
        </p:spPr>
        <p:txBody>
          <a:bodyPr wrap="square" rtlCol="0" anchor="ctr"/>
          <a:lstStyle/>
          <a:p>
            <a:pPr algn="ctr" indent="0" marL="0">
              <a:buNone/>
            </a:pPr>
            <a:r>
              <a:rPr lang="en-US" sz="4800" b="1" dirty="0">
                <a:solidFill>
                  <a:srgbClr val="D4A574"/>
                </a:solidFill>
                <a:latin typeface="Arial Black" pitchFamily="34" charset="0"/>
                <a:ea typeface="Arial Black" pitchFamily="34" charset="-122"/>
                <a:cs typeface="Arial Black" pitchFamily="34" charset="-120"/>
              </a:rPr>
              <a:t>LONG-TERM STRATEGY</a:t>
            </a:r>
            <a:endParaRPr lang="en-US" sz="4800" dirty="0"/>
          </a:p>
        </p:txBody>
      </p:sp>
      <p:sp>
        <p:nvSpPr>
          <p:cNvPr id="5" name="Text 3"/>
          <p:cNvSpPr/>
          <p:nvPr/>
        </p:nvSpPr>
        <p:spPr>
          <a:xfrm>
            <a:off x="457200" y="3429000"/>
            <a:ext cx="8229600" cy="365760"/>
          </a:xfrm>
          <a:prstGeom prst="rect">
            <a:avLst/>
          </a:prstGeom>
          <a:noFill/>
          <a:ln/>
        </p:spPr>
        <p:txBody>
          <a:bodyPr wrap="square" rtlCol="0" anchor="ctr"/>
          <a:lstStyle/>
          <a:p>
            <a:pPr algn="ctr" indent="0" marL="0">
              <a:buNone/>
            </a:pPr>
            <a:r>
              <a:rPr lang="en-US" sz="1800" i="1" dirty="0">
                <a:solidFill>
                  <a:srgbClr val="F5F5F5"/>
                </a:solidFill>
                <a:latin typeface="Georgia" pitchFamily="34" charset="0"/>
                <a:ea typeface="Georgia" pitchFamily="34" charset="-122"/>
                <a:cs typeface="Georgia" pitchFamily="34" charset="-120"/>
              </a:rPr>
              <a:t>Building Equitable, Sustainable Organizations</a:t>
            </a:r>
            <a:endParaRPr lang="en-US" sz="1800" dirty="0"/>
          </a:p>
        </p:txBody>
      </p:sp>
      <p:sp>
        <p:nvSpPr>
          <p:cNvPr id="6" name="Text 4"/>
          <p:cNvSpPr/>
          <p:nvPr/>
        </p:nvSpPr>
        <p:spPr>
          <a:xfrm>
            <a:off x="457200" y="4389120"/>
            <a:ext cx="8229600" cy="274320"/>
          </a:xfrm>
          <a:prstGeom prst="rect">
            <a:avLst/>
          </a:prstGeom>
          <a:noFill/>
          <a:ln/>
        </p:spPr>
        <p:txBody>
          <a:bodyPr wrap="square" rtlCol="0" anchor="ctr"/>
          <a:lstStyle/>
          <a:p>
            <a:pPr algn="ctr" indent="0" marL="0">
              <a:buNone/>
            </a:pPr>
            <a:r>
              <a:rPr lang="en-US" sz="1400" dirty="0">
                <a:solidFill>
                  <a:srgbClr val="636E72"/>
                </a:solidFill>
                <a:latin typeface="Calibri" pitchFamily="34" charset="0"/>
                <a:ea typeface="Calibri" pitchFamily="34" charset="-122"/>
                <a:cs typeface="Calibri" pitchFamily="34" charset="-120"/>
              </a:rPr>
              <a:t>Youth Advocate Networks | Rwanda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WORKSHOP OBJECTIVES</a:t>
            </a:r>
            <a:endParaRPr lang="en-US" sz="3600" dirty="0"/>
          </a:p>
        </p:txBody>
      </p:sp>
      <p:pic>
        <p:nvPicPr>
          <p:cNvPr id="3" name="Image 0" descr="preencoded.png">    </p:cNvPr>
          <p:cNvPicPr>
            <a:picLocks noChangeAspect="1"/>
          </p:cNvPicPr>
          <p:nvPr/>
        </p:nvPicPr>
        <p:blipFill>
          <a:blip r:embed="rId1"/>
          <a:stretch>
            <a:fillRect/>
          </a:stretch>
        </p:blipFill>
        <p:spPr>
          <a:xfrm>
            <a:off x="640080" y="1298448"/>
            <a:ext cx="320040" cy="320040"/>
          </a:xfrm>
          <a:prstGeom prst="rect">
            <a:avLst/>
          </a:prstGeom>
        </p:spPr>
      </p:pic>
      <p:sp>
        <p:nvSpPr>
          <p:cNvPr id="4" name="Text 1"/>
          <p:cNvSpPr/>
          <p:nvPr/>
        </p:nvSpPr>
        <p:spPr>
          <a:xfrm>
            <a:off x="1097280" y="1280160"/>
            <a:ext cx="7589520" cy="457200"/>
          </a:xfrm>
          <a:prstGeom prst="rect">
            <a:avLst/>
          </a:prstGeom>
          <a:noFill/>
          <a:ln/>
        </p:spPr>
        <p:txBody>
          <a:bodyPr wrap="square" rtlCol="0" anchor="ctr"/>
          <a:lstStyle/>
          <a:p>
            <a:pPr indent="0" marL="0">
              <a:buNone/>
            </a:pPr>
            <a:r>
              <a:rPr lang="en-US" sz="1500" dirty="0">
                <a:solidFill>
                  <a:srgbClr val="2D3436"/>
                </a:solidFill>
                <a:latin typeface="Calibri" pitchFamily="34" charset="0"/>
                <a:ea typeface="Calibri" pitchFamily="34" charset="-122"/>
                <a:cs typeface="Calibri" pitchFamily="34" charset="-120"/>
              </a:rPr>
              <a:t>Understand principles of inclusivity, equity, and social justice in advocacy work</a:t>
            </a:r>
            <a:endParaRPr lang="en-US" sz="1500" dirty="0"/>
          </a:p>
        </p:txBody>
      </p:sp>
      <p:pic>
        <p:nvPicPr>
          <p:cNvPr id="5" name="Image 1" descr="preencoded.png">    </p:cNvPr>
          <p:cNvPicPr>
            <a:picLocks noChangeAspect="1"/>
          </p:cNvPicPr>
          <p:nvPr/>
        </p:nvPicPr>
        <p:blipFill>
          <a:blip r:embed="rId2"/>
          <a:stretch>
            <a:fillRect/>
          </a:stretch>
        </p:blipFill>
        <p:spPr>
          <a:xfrm>
            <a:off x="640080" y="1892808"/>
            <a:ext cx="320040" cy="320040"/>
          </a:xfrm>
          <a:prstGeom prst="rect">
            <a:avLst/>
          </a:prstGeom>
        </p:spPr>
      </p:pic>
      <p:sp>
        <p:nvSpPr>
          <p:cNvPr id="6" name="Text 2"/>
          <p:cNvSpPr/>
          <p:nvPr/>
        </p:nvSpPr>
        <p:spPr>
          <a:xfrm>
            <a:off x="1097280" y="1874520"/>
            <a:ext cx="7589520" cy="457200"/>
          </a:xfrm>
          <a:prstGeom prst="rect">
            <a:avLst/>
          </a:prstGeom>
          <a:noFill/>
          <a:ln/>
        </p:spPr>
        <p:txBody>
          <a:bodyPr wrap="square" rtlCol="0" anchor="ctr"/>
          <a:lstStyle/>
          <a:p>
            <a:pPr indent="0" marL="0">
              <a:buNone/>
            </a:pPr>
            <a:r>
              <a:rPr lang="en-US" sz="1500" dirty="0">
                <a:solidFill>
                  <a:srgbClr val="2D3436"/>
                </a:solidFill>
                <a:latin typeface="Calibri" pitchFamily="34" charset="0"/>
                <a:ea typeface="Calibri" pitchFamily="34" charset="-122"/>
                <a:cs typeface="Calibri" pitchFamily="34" charset="-120"/>
              </a:rPr>
              <a:t>Build awareness around gender, disability, child rights, and mental health sensitivity</a:t>
            </a:r>
            <a:endParaRPr lang="en-US" sz="1500" dirty="0"/>
          </a:p>
        </p:txBody>
      </p:sp>
      <p:pic>
        <p:nvPicPr>
          <p:cNvPr id="7" name="Image 2" descr="preencoded.png">    </p:cNvPr>
          <p:cNvPicPr>
            <a:picLocks noChangeAspect="1"/>
          </p:cNvPicPr>
          <p:nvPr/>
        </p:nvPicPr>
        <p:blipFill>
          <a:blip r:embed="rId3"/>
          <a:stretch>
            <a:fillRect/>
          </a:stretch>
        </p:blipFill>
        <p:spPr>
          <a:xfrm>
            <a:off x="640080" y="2487168"/>
            <a:ext cx="320040" cy="320040"/>
          </a:xfrm>
          <a:prstGeom prst="rect">
            <a:avLst/>
          </a:prstGeom>
        </p:spPr>
      </p:pic>
      <p:sp>
        <p:nvSpPr>
          <p:cNvPr id="8" name="Text 3"/>
          <p:cNvSpPr/>
          <p:nvPr/>
        </p:nvSpPr>
        <p:spPr>
          <a:xfrm>
            <a:off x="1097280" y="2468880"/>
            <a:ext cx="7589520" cy="457200"/>
          </a:xfrm>
          <a:prstGeom prst="rect">
            <a:avLst/>
          </a:prstGeom>
          <a:noFill/>
          <a:ln/>
        </p:spPr>
        <p:txBody>
          <a:bodyPr wrap="square" rtlCol="0" anchor="ctr"/>
          <a:lstStyle/>
          <a:p>
            <a:pPr indent="0" marL="0">
              <a:buNone/>
            </a:pPr>
            <a:r>
              <a:rPr lang="en-US" sz="1500" dirty="0">
                <a:solidFill>
                  <a:srgbClr val="2D3436"/>
                </a:solidFill>
                <a:latin typeface="Calibri" pitchFamily="34" charset="0"/>
                <a:ea typeface="Calibri" pitchFamily="34" charset="-122"/>
                <a:cs typeface="Calibri" pitchFamily="34" charset="-120"/>
              </a:rPr>
              <a:t>Learn to design inclusive programs that serve youth, girls, persons with disabilities, and marginalized communities</a:t>
            </a:r>
            <a:endParaRPr lang="en-US" sz="1500" dirty="0"/>
          </a:p>
        </p:txBody>
      </p:sp>
      <p:pic>
        <p:nvPicPr>
          <p:cNvPr id="9" name="Image 3" descr="preencoded.png">    </p:cNvPr>
          <p:cNvPicPr>
            <a:picLocks noChangeAspect="1"/>
          </p:cNvPicPr>
          <p:nvPr/>
        </p:nvPicPr>
        <p:blipFill>
          <a:blip r:embed="rId4"/>
          <a:stretch>
            <a:fillRect/>
          </a:stretch>
        </p:blipFill>
        <p:spPr>
          <a:xfrm>
            <a:off x="640080" y="3081528"/>
            <a:ext cx="320040" cy="320040"/>
          </a:xfrm>
          <a:prstGeom prst="rect">
            <a:avLst/>
          </a:prstGeom>
        </p:spPr>
      </p:pic>
      <p:sp>
        <p:nvSpPr>
          <p:cNvPr id="10" name="Text 4"/>
          <p:cNvSpPr/>
          <p:nvPr/>
        </p:nvSpPr>
        <p:spPr>
          <a:xfrm>
            <a:off x="1097280" y="3063240"/>
            <a:ext cx="7589520" cy="457200"/>
          </a:xfrm>
          <a:prstGeom prst="rect">
            <a:avLst/>
          </a:prstGeom>
          <a:noFill/>
          <a:ln/>
        </p:spPr>
        <p:txBody>
          <a:bodyPr wrap="square" rtlCol="0" anchor="ctr"/>
          <a:lstStyle/>
          <a:p>
            <a:pPr indent="0" marL="0">
              <a:buNone/>
            </a:pPr>
            <a:r>
              <a:rPr lang="en-US" sz="1500" dirty="0">
                <a:solidFill>
                  <a:srgbClr val="2D3436"/>
                </a:solidFill>
                <a:latin typeface="Calibri" pitchFamily="34" charset="0"/>
                <a:ea typeface="Calibri" pitchFamily="34" charset="-122"/>
                <a:cs typeface="Calibri" pitchFamily="34" charset="-120"/>
              </a:rPr>
              <a:t>Develop strategic planning skills: vision, mission, long-term goals, and institutional governance</a:t>
            </a:r>
            <a:endParaRPr lang="en-US" sz="1500" dirty="0"/>
          </a:p>
        </p:txBody>
      </p:sp>
      <p:pic>
        <p:nvPicPr>
          <p:cNvPr id="11" name="Image 4" descr="preencoded.png">    </p:cNvPr>
          <p:cNvPicPr>
            <a:picLocks noChangeAspect="1"/>
          </p:cNvPicPr>
          <p:nvPr/>
        </p:nvPicPr>
        <p:blipFill>
          <a:blip r:embed="rId5"/>
          <a:stretch>
            <a:fillRect/>
          </a:stretch>
        </p:blipFill>
        <p:spPr>
          <a:xfrm>
            <a:off x="640080" y="3675888"/>
            <a:ext cx="320040" cy="320040"/>
          </a:xfrm>
          <a:prstGeom prst="rect">
            <a:avLst/>
          </a:prstGeom>
        </p:spPr>
      </p:pic>
      <p:sp>
        <p:nvSpPr>
          <p:cNvPr id="12" name="Text 5"/>
          <p:cNvSpPr/>
          <p:nvPr/>
        </p:nvSpPr>
        <p:spPr>
          <a:xfrm>
            <a:off x="1097280" y="3657600"/>
            <a:ext cx="7589520" cy="457200"/>
          </a:xfrm>
          <a:prstGeom prst="rect">
            <a:avLst/>
          </a:prstGeom>
          <a:noFill/>
          <a:ln/>
        </p:spPr>
        <p:txBody>
          <a:bodyPr wrap="square" rtlCol="0" anchor="ctr"/>
          <a:lstStyle/>
          <a:p>
            <a:pPr indent="0" marL="0">
              <a:buNone/>
            </a:pPr>
            <a:r>
              <a:rPr lang="en-US" sz="1500" dirty="0">
                <a:solidFill>
                  <a:srgbClr val="2D3436"/>
                </a:solidFill>
                <a:latin typeface="Calibri" pitchFamily="34" charset="0"/>
                <a:ea typeface="Calibri" pitchFamily="34" charset="-122"/>
                <a:cs typeface="Calibri" pitchFamily="34" charset="-120"/>
              </a:rPr>
              <a:t>Create organizational policies for safeguarding, inclusion, succession planning, and risk management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WHAT IS INCLUSIVE LEADERSHIP?</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Inclusive leadership means creating environments where all people—regardless of gender, ability, age, background, or identity—can participate fully, contribute their talents, and influence decisions. It's about recognizing and valuing diversity as a strength, not a challenge to manage.</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CORE PRINCIPLES OF INCLUSIVE LEADERSHIP</a:t>
            </a:r>
            <a:endParaRPr lang="en-US" sz="1600" dirty="0"/>
          </a:p>
        </p:txBody>
      </p:sp>
      <p:pic>
        <p:nvPicPr>
          <p:cNvPr id="6" name="Image 1" descr="preencoded.png">    </p:cNvPr>
          <p:cNvPicPr>
            <a:picLocks noChangeAspect="1"/>
          </p:cNvPicPr>
          <p:nvPr/>
        </p:nvPicPr>
        <p:blipFill>
          <a:blip r:embed="rId2"/>
          <a:stretch>
            <a:fillRect/>
          </a:stretch>
        </p:blipFill>
        <p:spPr>
          <a:xfrm>
            <a:off x="731520" y="2395728"/>
            <a:ext cx="274320" cy="274320"/>
          </a:xfrm>
          <a:prstGeom prst="rect">
            <a:avLst/>
          </a:prstGeom>
        </p:spPr>
      </p:pic>
      <p:sp>
        <p:nvSpPr>
          <p:cNvPr id="7" name="Text 3"/>
          <p:cNvSpPr/>
          <p:nvPr/>
        </p:nvSpPr>
        <p:spPr>
          <a:xfrm>
            <a:off x="1097280" y="2377440"/>
            <a:ext cx="740664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Equity Over Equality: </a:t>
            </a:r>
            <a:pPr indent="0" marL="0">
              <a:buNone/>
            </a:pPr>
            <a:r>
              <a:rPr lang="en-US" sz="1200" dirty="0">
                <a:solidFill>
                  <a:srgbClr val="2D3436"/>
                </a:solidFill>
                <a:latin typeface="Calibri" pitchFamily="34" charset="0"/>
                <a:ea typeface="Calibri" pitchFamily="34" charset="-122"/>
                <a:cs typeface="Calibri" pitchFamily="34" charset="-120"/>
              </a:rPr>
              <a:t>Equity means giving people what they need to succeed, not treating everyone exactly the same. Different people face different barriers.</a:t>
            </a:r>
            <a:endParaRPr lang="en-US" sz="1200" dirty="0"/>
          </a:p>
        </p:txBody>
      </p:sp>
      <p:pic>
        <p:nvPicPr>
          <p:cNvPr id="8" name="Image 2" descr="preencoded.png">    </p:cNvPr>
          <p:cNvPicPr>
            <a:picLocks noChangeAspect="1"/>
          </p:cNvPicPr>
          <p:nvPr/>
        </p:nvPicPr>
        <p:blipFill>
          <a:blip r:embed="rId3"/>
          <a:stretch>
            <a:fillRect/>
          </a:stretch>
        </p:blipFill>
        <p:spPr>
          <a:xfrm>
            <a:off x="731520" y="2816352"/>
            <a:ext cx="274320" cy="274320"/>
          </a:xfrm>
          <a:prstGeom prst="rect">
            <a:avLst/>
          </a:prstGeom>
        </p:spPr>
      </p:pic>
      <p:sp>
        <p:nvSpPr>
          <p:cNvPr id="9" name="Text 4"/>
          <p:cNvSpPr/>
          <p:nvPr/>
        </p:nvSpPr>
        <p:spPr>
          <a:xfrm>
            <a:off x="1097280" y="2798064"/>
            <a:ext cx="740664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Intentional Representation: </a:t>
            </a:r>
            <a:pPr indent="0" marL="0">
              <a:buNone/>
            </a:pPr>
            <a:r>
              <a:rPr lang="en-US" sz="1200" dirty="0">
                <a:solidFill>
                  <a:srgbClr val="2D3436"/>
                </a:solidFill>
                <a:latin typeface="Calibri" pitchFamily="34" charset="0"/>
                <a:ea typeface="Calibri" pitchFamily="34" charset="-122"/>
                <a:cs typeface="Calibri" pitchFamily="34" charset="-120"/>
              </a:rPr>
              <a:t>Actively ensure diverse voices are at the table in leadership, decision-making, and program design—not just as beneficiaries.</a:t>
            </a:r>
            <a:endParaRPr lang="en-US" sz="1200" dirty="0"/>
          </a:p>
        </p:txBody>
      </p:sp>
      <p:pic>
        <p:nvPicPr>
          <p:cNvPr id="10" name="Image 3" descr="preencoded.png">    </p:cNvPr>
          <p:cNvPicPr>
            <a:picLocks noChangeAspect="1"/>
          </p:cNvPicPr>
          <p:nvPr/>
        </p:nvPicPr>
        <p:blipFill>
          <a:blip r:embed="rId4"/>
          <a:stretch>
            <a:fillRect/>
          </a:stretch>
        </p:blipFill>
        <p:spPr>
          <a:xfrm>
            <a:off x="731520" y="3236976"/>
            <a:ext cx="274320" cy="274320"/>
          </a:xfrm>
          <a:prstGeom prst="rect">
            <a:avLst/>
          </a:prstGeom>
        </p:spPr>
      </p:pic>
      <p:sp>
        <p:nvSpPr>
          <p:cNvPr id="11" name="Text 5"/>
          <p:cNvSpPr/>
          <p:nvPr/>
        </p:nvSpPr>
        <p:spPr>
          <a:xfrm>
            <a:off x="1097280" y="3218688"/>
            <a:ext cx="740664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Accessibility: </a:t>
            </a:r>
            <a:pPr indent="0" marL="0">
              <a:buNone/>
            </a:pPr>
            <a:r>
              <a:rPr lang="en-US" sz="1200" dirty="0">
                <a:solidFill>
                  <a:srgbClr val="2D3436"/>
                </a:solidFill>
                <a:latin typeface="Calibri" pitchFamily="34" charset="0"/>
                <a:ea typeface="Calibri" pitchFamily="34" charset="-122"/>
                <a:cs typeface="Calibri" pitchFamily="34" charset="-120"/>
              </a:rPr>
              <a:t>Remove physical, social, and structural barriers that prevent participation. Design with accessibility from the start, not as an afterthought.</a:t>
            </a:r>
            <a:endParaRPr lang="en-US" sz="1200" dirty="0"/>
          </a:p>
        </p:txBody>
      </p:sp>
      <p:pic>
        <p:nvPicPr>
          <p:cNvPr id="12" name="Image 4" descr="preencoded.png">    </p:cNvPr>
          <p:cNvPicPr>
            <a:picLocks noChangeAspect="1"/>
          </p:cNvPicPr>
          <p:nvPr/>
        </p:nvPicPr>
        <p:blipFill>
          <a:blip r:embed="rId5"/>
          <a:stretch>
            <a:fillRect/>
          </a:stretch>
        </p:blipFill>
        <p:spPr>
          <a:xfrm>
            <a:off x="731520" y="3657600"/>
            <a:ext cx="274320" cy="274320"/>
          </a:xfrm>
          <a:prstGeom prst="rect">
            <a:avLst/>
          </a:prstGeom>
        </p:spPr>
      </p:pic>
      <p:sp>
        <p:nvSpPr>
          <p:cNvPr id="13" name="Text 6"/>
          <p:cNvSpPr/>
          <p:nvPr/>
        </p:nvSpPr>
        <p:spPr>
          <a:xfrm>
            <a:off x="1097280" y="3639312"/>
            <a:ext cx="740664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Cultural Humility: </a:t>
            </a:r>
            <a:pPr indent="0" marL="0">
              <a:buNone/>
            </a:pPr>
            <a:r>
              <a:rPr lang="en-US" sz="1200" dirty="0">
                <a:solidFill>
                  <a:srgbClr val="2D3436"/>
                </a:solidFill>
                <a:latin typeface="Calibri" pitchFamily="34" charset="0"/>
                <a:ea typeface="Calibri" pitchFamily="34" charset="-122"/>
                <a:cs typeface="Calibri" pitchFamily="34" charset="-120"/>
              </a:rPr>
              <a:t>Recognize you don't know everything about others' experiences. Listen, learn, and adapt your approach based on their lived realities.</a:t>
            </a:r>
            <a:endParaRPr lang="en-US" sz="1200" dirty="0"/>
          </a:p>
        </p:txBody>
      </p:sp>
      <p:pic>
        <p:nvPicPr>
          <p:cNvPr id="14" name="Image 5" descr="preencoded.png">    </p:cNvPr>
          <p:cNvPicPr>
            <a:picLocks noChangeAspect="1"/>
          </p:cNvPicPr>
          <p:nvPr/>
        </p:nvPicPr>
        <p:blipFill>
          <a:blip r:embed="rId6"/>
          <a:stretch>
            <a:fillRect/>
          </a:stretch>
        </p:blipFill>
        <p:spPr>
          <a:xfrm>
            <a:off x="731520" y="4078224"/>
            <a:ext cx="274320" cy="274320"/>
          </a:xfrm>
          <a:prstGeom prst="rect">
            <a:avLst/>
          </a:prstGeom>
        </p:spPr>
      </p:pic>
      <p:sp>
        <p:nvSpPr>
          <p:cNvPr id="15" name="Text 7"/>
          <p:cNvSpPr/>
          <p:nvPr/>
        </p:nvSpPr>
        <p:spPr>
          <a:xfrm>
            <a:off x="1097280" y="4059936"/>
            <a:ext cx="740664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Power Sharing: </a:t>
            </a:r>
            <a:pPr indent="0" marL="0">
              <a:buNone/>
            </a:pPr>
            <a:r>
              <a:rPr lang="en-US" sz="1200" dirty="0">
                <a:solidFill>
                  <a:srgbClr val="2D3436"/>
                </a:solidFill>
                <a:latin typeface="Calibri" pitchFamily="34" charset="0"/>
                <a:ea typeface="Calibri" pitchFamily="34" charset="-122"/>
                <a:cs typeface="Calibri" pitchFamily="34" charset="-120"/>
              </a:rPr>
              <a:t>Redistribute decision-making power. Create opportunities for marginalized groups to lead, not just participate.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EQUITY VS. EQUALITY</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Understanding the difference between equality and equity is foundational to inclusive leadership. Both matter, but equity is what creates real fairness.</a:t>
            </a:r>
            <a:endParaRPr lang="en-US" sz="1400" dirty="0"/>
          </a:p>
        </p:txBody>
      </p:sp>
      <p:sp>
        <p:nvSpPr>
          <p:cNvPr id="5" name="Shape 2"/>
          <p:cNvSpPr/>
          <p:nvPr/>
        </p:nvSpPr>
        <p:spPr>
          <a:xfrm>
            <a:off x="457200" y="2011680"/>
            <a:ext cx="402336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3"/>
          <p:cNvSpPr/>
          <p:nvPr/>
        </p:nvSpPr>
        <p:spPr>
          <a:xfrm>
            <a:off x="457200" y="2011680"/>
            <a:ext cx="73152" cy="2377440"/>
          </a:xfrm>
          <a:prstGeom prst="rect">
            <a:avLst/>
          </a:prstGeom>
          <a:solidFill>
            <a:srgbClr val="A26769"/>
          </a:solidFill>
          <a:ln/>
        </p:spPr>
      </p:sp>
      <p:sp>
        <p:nvSpPr>
          <p:cNvPr id="7" name="Text 4"/>
          <p:cNvSpPr/>
          <p:nvPr/>
        </p:nvSpPr>
        <p:spPr>
          <a:xfrm>
            <a:off x="731520" y="2148840"/>
            <a:ext cx="3566160" cy="320040"/>
          </a:xfrm>
          <a:prstGeom prst="rect">
            <a:avLst/>
          </a:prstGeom>
          <a:noFill/>
          <a:ln/>
        </p:spPr>
        <p:txBody>
          <a:bodyPr wrap="square" rtlCol="0" anchor="ctr"/>
          <a:lstStyle/>
          <a:p>
            <a:pPr indent="0" marL="0">
              <a:buNone/>
            </a:pPr>
            <a:r>
              <a:rPr lang="en-US" sz="1800" b="1" dirty="0">
                <a:solidFill>
                  <a:srgbClr val="A26769"/>
                </a:solidFill>
                <a:latin typeface="Arial" pitchFamily="34" charset="0"/>
                <a:ea typeface="Arial" pitchFamily="34" charset="-122"/>
                <a:cs typeface="Arial" pitchFamily="34" charset="-120"/>
              </a:rPr>
              <a:t>EQUALITY</a:t>
            </a:r>
            <a:endParaRPr lang="en-US" sz="1800" dirty="0"/>
          </a:p>
        </p:txBody>
      </p:sp>
      <p:sp>
        <p:nvSpPr>
          <p:cNvPr id="8" name="Text 5"/>
          <p:cNvSpPr/>
          <p:nvPr/>
        </p:nvSpPr>
        <p:spPr>
          <a:xfrm>
            <a:off x="731520" y="2560320"/>
            <a:ext cx="3566160" cy="16459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Definition:</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Giving everyone the same resources or opportunities</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Example:</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Providing the same training budget for all staff members</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Limitation:</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Assumes everyone starts from the same place and has the same needs. Ignores systemic barriers.</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Result:</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May perpetuate inequality by not addressing underlying disadvantages</a:t>
            </a:r>
            <a:endParaRPr lang="en-US" sz="1100" dirty="0"/>
          </a:p>
        </p:txBody>
      </p:sp>
      <p:sp>
        <p:nvSpPr>
          <p:cNvPr id="9" name="Shape 6"/>
          <p:cNvSpPr/>
          <p:nvPr/>
        </p:nvSpPr>
        <p:spPr>
          <a:xfrm>
            <a:off x="4663440" y="2011680"/>
            <a:ext cx="402336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4663440" y="2011680"/>
            <a:ext cx="73152" cy="2377440"/>
          </a:xfrm>
          <a:prstGeom prst="rect">
            <a:avLst/>
          </a:prstGeom>
          <a:solidFill>
            <a:srgbClr val="6D2E46"/>
          </a:solidFill>
          <a:ln/>
        </p:spPr>
      </p:sp>
      <p:sp>
        <p:nvSpPr>
          <p:cNvPr id="11" name="Text 8"/>
          <p:cNvSpPr/>
          <p:nvPr/>
        </p:nvSpPr>
        <p:spPr>
          <a:xfrm>
            <a:off x="4937760" y="2148840"/>
            <a:ext cx="3566160" cy="320040"/>
          </a:xfrm>
          <a:prstGeom prst="rect">
            <a:avLst/>
          </a:prstGeom>
          <a:noFill/>
          <a:ln/>
        </p:spPr>
        <p:txBody>
          <a:bodyPr wrap="square" rtlCol="0" anchor="ctr"/>
          <a:lstStyle/>
          <a:p>
            <a:pPr indent="0" marL="0">
              <a:buNone/>
            </a:pPr>
            <a:r>
              <a:rPr lang="en-US" sz="1800" b="1" dirty="0">
                <a:solidFill>
                  <a:srgbClr val="6D2E46"/>
                </a:solidFill>
                <a:latin typeface="Arial" pitchFamily="34" charset="0"/>
                <a:ea typeface="Arial" pitchFamily="34" charset="-122"/>
                <a:cs typeface="Arial" pitchFamily="34" charset="-120"/>
              </a:rPr>
              <a:t>EQUITY</a:t>
            </a:r>
            <a:endParaRPr lang="en-US" sz="1800" dirty="0"/>
          </a:p>
        </p:txBody>
      </p:sp>
      <p:sp>
        <p:nvSpPr>
          <p:cNvPr id="12" name="Text 9"/>
          <p:cNvSpPr/>
          <p:nvPr/>
        </p:nvSpPr>
        <p:spPr>
          <a:xfrm>
            <a:off x="4937760" y="2560320"/>
            <a:ext cx="3566160" cy="16459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Definition:</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Giving people what they need to reach equal outcomes</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Example:</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Providing larger budgets to teams working in remote areas with higher costs</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Strength:</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Recognizes different starting points and adjusts support accordingly. Addresses systemic barriers.</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Result:</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Creates conditions for everyone to succeed regardless of their circumstances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GENDER AWARENESS &amp; EQUALITY</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Gender equality means ensuring that people of all genders have equal rights, responsibilities, and opportunities. In Rwanda and globally, gender-based barriers still limit opportunities for women and girls. Youth-led organizations must actively work to dismantle these barriers.</a:t>
            </a:r>
            <a:endParaRPr lang="en-US" sz="1400" dirty="0"/>
          </a:p>
        </p:txBody>
      </p:sp>
      <p:sp>
        <p:nvSpPr>
          <p:cNvPr id="5" name="Shape 2"/>
          <p:cNvSpPr/>
          <p:nvPr/>
        </p:nvSpPr>
        <p:spPr>
          <a:xfrm>
            <a:off x="457200" y="2011680"/>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3"/>
          <p:cNvSpPr/>
          <p:nvPr/>
        </p:nvSpPr>
        <p:spPr>
          <a:xfrm>
            <a:off x="457200" y="2011680"/>
            <a:ext cx="2286000" cy="548640"/>
          </a:xfrm>
          <a:prstGeom prst="rect">
            <a:avLst/>
          </a:prstGeom>
          <a:solidFill>
            <a:srgbClr val="E07A5F"/>
          </a:solidFill>
          <a:ln/>
        </p:spPr>
      </p:sp>
      <p:sp>
        <p:nvSpPr>
          <p:cNvPr id="7" name="Text 4"/>
          <p:cNvSpPr/>
          <p:nvPr/>
        </p:nvSpPr>
        <p:spPr>
          <a:xfrm>
            <a:off x="548640" y="2057400"/>
            <a:ext cx="210312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Leadership &amp; Decision-Making</a:t>
            </a:r>
            <a:endParaRPr lang="en-US" sz="1200" dirty="0"/>
          </a:p>
        </p:txBody>
      </p:sp>
      <p:sp>
        <p:nvSpPr>
          <p:cNvPr id="8" name="Text 5"/>
          <p:cNvSpPr/>
          <p:nvPr/>
        </p:nvSpPr>
        <p:spPr>
          <a:xfrm>
            <a:off x="2926080" y="2084832"/>
            <a:ext cx="5577840" cy="411480"/>
          </a:xfrm>
          <a:prstGeom prst="rect">
            <a:avLst/>
          </a:prstGeom>
          <a:noFill/>
          <a:ln/>
        </p:spPr>
        <p:txBody>
          <a:bodyPr wrap="square" rtlCol="0" anchor="ctr"/>
          <a:lstStyle/>
          <a:p>
            <a:pPr indent="0" marL="0">
              <a:buNone/>
            </a:pPr>
            <a:r>
              <a:rPr lang="en-US" sz="1000" b="1" dirty="0">
                <a:solidFill>
                  <a:srgbClr val="6D2E46"/>
                </a:solidFill>
                <a:latin typeface="Calibri" pitchFamily="34" charset="0"/>
                <a:ea typeface="Calibri" pitchFamily="34" charset="-122"/>
                <a:cs typeface="Calibri" pitchFamily="34" charset="-120"/>
              </a:rPr>
              <a:t>Challenge: </a:t>
            </a:r>
            <a:pPr indent="0" marL="0">
              <a:buNone/>
            </a:pPr>
            <a:r>
              <a:rPr lang="en-US" sz="1000" dirty="0">
                <a:solidFill>
                  <a:srgbClr val="2D3436"/>
                </a:solidFill>
                <a:latin typeface="Calibri" pitchFamily="34" charset="0"/>
                <a:ea typeface="Calibri" pitchFamily="34" charset="-122"/>
                <a:cs typeface="Calibri" pitchFamily="34" charset="-120"/>
              </a:rPr>
              <a:t>Women underrepresented in leadership roles </a:t>
            </a:r>
            <a:pPr indent="0" marL="0">
              <a:buNone/>
            </a:pPr>
            <a:r>
              <a:rPr lang="en-US" sz="1000" b="1" dirty="0">
                <a:solidFill>
                  <a:srgbClr val="A26769"/>
                </a:solidFill>
                <a:latin typeface="Calibri" pitchFamily="34" charset="0"/>
                <a:ea typeface="Calibri" pitchFamily="34" charset="-122"/>
                <a:cs typeface="Calibri" pitchFamily="34" charset="-120"/>
              </a:rPr>
              <a:t>→ Action: </a:t>
            </a:r>
            <a:pPr indent="0" marL="0">
              <a:buNone/>
            </a:pPr>
            <a:r>
              <a:rPr lang="en-US" sz="1000" dirty="0">
                <a:solidFill>
                  <a:srgbClr val="2D3436"/>
                </a:solidFill>
                <a:latin typeface="Calibri" pitchFamily="34" charset="0"/>
                <a:ea typeface="Calibri" pitchFamily="34" charset="-122"/>
                <a:cs typeface="Calibri" pitchFamily="34" charset="-120"/>
              </a:rPr>
              <a:t>Set targets for women in leadership (e.g., 50% of board/staff). Provide mentorship and leadership training for young women.</a:t>
            </a:r>
            <a:endParaRPr lang="en-US" sz="1000" dirty="0"/>
          </a:p>
        </p:txBody>
      </p:sp>
      <p:sp>
        <p:nvSpPr>
          <p:cNvPr id="9" name="Shape 6"/>
          <p:cNvSpPr/>
          <p:nvPr/>
        </p:nvSpPr>
        <p:spPr>
          <a:xfrm>
            <a:off x="457200" y="2633472"/>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457200" y="2633472"/>
            <a:ext cx="2286000" cy="548640"/>
          </a:xfrm>
          <a:prstGeom prst="rect">
            <a:avLst/>
          </a:prstGeom>
          <a:solidFill>
            <a:srgbClr val="E07A5F"/>
          </a:solidFill>
          <a:ln/>
        </p:spPr>
      </p:sp>
      <p:sp>
        <p:nvSpPr>
          <p:cNvPr id="11" name="Text 8"/>
          <p:cNvSpPr/>
          <p:nvPr/>
        </p:nvSpPr>
        <p:spPr>
          <a:xfrm>
            <a:off x="548640" y="2679192"/>
            <a:ext cx="210312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Economic Participation</a:t>
            </a:r>
            <a:endParaRPr lang="en-US" sz="1200" dirty="0"/>
          </a:p>
        </p:txBody>
      </p:sp>
      <p:sp>
        <p:nvSpPr>
          <p:cNvPr id="12" name="Text 9"/>
          <p:cNvSpPr/>
          <p:nvPr/>
        </p:nvSpPr>
        <p:spPr>
          <a:xfrm>
            <a:off x="2926080" y="2706624"/>
            <a:ext cx="5577840" cy="411480"/>
          </a:xfrm>
          <a:prstGeom prst="rect">
            <a:avLst/>
          </a:prstGeom>
          <a:noFill/>
          <a:ln/>
        </p:spPr>
        <p:txBody>
          <a:bodyPr wrap="square" rtlCol="0" anchor="ctr"/>
          <a:lstStyle/>
          <a:p>
            <a:pPr indent="0" marL="0">
              <a:buNone/>
            </a:pPr>
            <a:r>
              <a:rPr lang="en-US" sz="1000" b="1" dirty="0">
                <a:solidFill>
                  <a:srgbClr val="6D2E46"/>
                </a:solidFill>
                <a:latin typeface="Calibri" pitchFamily="34" charset="0"/>
                <a:ea typeface="Calibri" pitchFamily="34" charset="-122"/>
                <a:cs typeface="Calibri" pitchFamily="34" charset="-120"/>
              </a:rPr>
              <a:t>Challenge: </a:t>
            </a:r>
            <a:pPr indent="0" marL="0">
              <a:buNone/>
            </a:pPr>
            <a:r>
              <a:rPr lang="en-US" sz="1000" dirty="0">
                <a:solidFill>
                  <a:srgbClr val="2D3436"/>
                </a:solidFill>
                <a:latin typeface="Calibri" pitchFamily="34" charset="0"/>
                <a:ea typeface="Calibri" pitchFamily="34" charset="-122"/>
                <a:cs typeface="Calibri" pitchFamily="34" charset="-120"/>
              </a:rPr>
              <a:t>Girls face barriers to employment and entrepreneurship </a:t>
            </a:r>
            <a:pPr indent="0" marL="0">
              <a:buNone/>
            </a:pPr>
            <a:r>
              <a:rPr lang="en-US" sz="1000" b="1" dirty="0">
                <a:solidFill>
                  <a:srgbClr val="A26769"/>
                </a:solidFill>
                <a:latin typeface="Calibri" pitchFamily="34" charset="0"/>
                <a:ea typeface="Calibri" pitchFamily="34" charset="-122"/>
                <a:cs typeface="Calibri" pitchFamily="34" charset="-120"/>
              </a:rPr>
              <a:t>→ Action: </a:t>
            </a:r>
            <a:pPr indent="0" marL="0">
              <a:buNone/>
            </a:pPr>
            <a:r>
              <a:rPr lang="en-US" sz="1000" dirty="0">
                <a:solidFill>
                  <a:srgbClr val="2D3436"/>
                </a:solidFill>
                <a:latin typeface="Calibri" pitchFamily="34" charset="0"/>
                <a:ea typeface="Calibri" pitchFamily="34" charset="-122"/>
                <a:cs typeface="Calibri" pitchFamily="34" charset="-120"/>
              </a:rPr>
              <a:t>Design programs with childcare support, flexible schedules, and skills training tailored to women's economic needs.</a:t>
            </a:r>
            <a:endParaRPr lang="en-US" sz="1000" dirty="0"/>
          </a:p>
        </p:txBody>
      </p:sp>
      <p:sp>
        <p:nvSpPr>
          <p:cNvPr id="13" name="Shape 10"/>
          <p:cNvSpPr/>
          <p:nvPr/>
        </p:nvSpPr>
        <p:spPr>
          <a:xfrm>
            <a:off x="457200" y="3255264"/>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1"/>
          <p:cNvSpPr/>
          <p:nvPr/>
        </p:nvSpPr>
        <p:spPr>
          <a:xfrm>
            <a:off x="457200" y="3255264"/>
            <a:ext cx="2286000" cy="548640"/>
          </a:xfrm>
          <a:prstGeom prst="rect">
            <a:avLst/>
          </a:prstGeom>
          <a:solidFill>
            <a:srgbClr val="E07A5F"/>
          </a:solidFill>
          <a:ln/>
        </p:spPr>
      </p:sp>
      <p:sp>
        <p:nvSpPr>
          <p:cNvPr id="15" name="Text 12"/>
          <p:cNvSpPr/>
          <p:nvPr/>
        </p:nvSpPr>
        <p:spPr>
          <a:xfrm>
            <a:off x="548640" y="3300984"/>
            <a:ext cx="210312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Safety &amp; Protection</a:t>
            </a:r>
            <a:endParaRPr lang="en-US" sz="1200" dirty="0"/>
          </a:p>
        </p:txBody>
      </p:sp>
      <p:sp>
        <p:nvSpPr>
          <p:cNvPr id="16" name="Text 13"/>
          <p:cNvSpPr/>
          <p:nvPr/>
        </p:nvSpPr>
        <p:spPr>
          <a:xfrm>
            <a:off x="2926080" y="3328416"/>
            <a:ext cx="5577840" cy="411480"/>
          </a:xfrm>
          <a:prstGeom prst="rect">
            <a:avLst/>
          </a:prstGeom>
          <a:noFill/>
          <a:ln/>
        </p:spPr>
        <p:txBody>
          <a:bodyPr wrap="square" rtlCol="0" anchor="ctr"/>
          <a:lstStyle/>
          <a:p>
            <a:pPr indent="0" marL="0">
              <a:buNone/>
            </a:pPr>
            <a:r>
              <a:rPr lang="en-US" sz="1000" b="1" dirty="0">
                <a:solidFill>
                  <a:srgbClr val="6D2E46"/>
                </a:solidFill>
                <a:latin typeface="Calibri" pitchFamily="34" charset="0"/>
                <a:ea typeface="Calibri" pitchFamily="34" charset="-122"/>
                <a:cs typeface="Calibri" pitchFamily="34" charset="-120"/>
              </a:rPr>
              <a:t>Challenge: </a:t>
            </a:r>
            <a:pPr indent="0" marL="0">
              <a:buNone/>
            </a:pPr>
            <a:r>
              <a:rPr lang="en-US" sz="1000" dirty="0">
                <a:solidFill>
                  <a:srgbClr val="2D3436"/>
                </a:solidFill>
                <a:latin typeface="Calibri" pitchFamily="34" charset="0"/>
                <a:ea typeface="Calibri" pitchFamily="34" charset="-122"/>
                <a:cs typeface="Calibri" pitchFamily="34" charset="-120"/>
              </a:rPr>
              <a:t>Gender-based violence limits participation </a:t>
            </a:r>
            <a:pPr indent="0" marL="0">
              <a:buNone/>
            </a:pPr>
            <a:r>
              <a:rPr lang="en-US" sz="1000" b="1" dirty="0">
                <a:solidFill>
                  <a:srgbClr val="A26769"/>
                </a:solidFill>
                <a:latin typeface="Calibri" pitchFamily="34" charset="0"/>
                <a:ea typeface="Calibri" pitchFamily="34" charset="-122"/>
                <a:cs typeface="Calibri" pitchFamily="34" charset="-120"/>
              </a:rPr>
              <a:t>→ Action: </a:t>
            </a:r>
            <a:pPr indent="0" marL="0">
              <a:buNone/>
            </a:pPr>
            <a:r>
              <a:rPr lang="en-US" sz="1000" dirty="0">
                <a:solidFill>
                  <a:srgbClr val="2D3436"/>
                </a:solidFill>
                <a:latin typeface="Calibri" pitchFamily="34" charset="0"/>
                <a:ea typeface="Calibri" pitchFamily="34" charset="-122"/>
                <a:cs typeface="Calibri" pitchFamily="34" charset="-120"/>
              </a:rPr>
              <a:t>Establish clear anti-harassment policies. Create safe spaces for women and girls to share concerns.</a:t>
            </a:r>
            <a:endParaRPr lang="en-US" sz="1000" dirty="0"/>
          </a:p>
        </p:txBody>
      </p:sp>
      <p:sp>
        <p:nvSpPr>
          <p:cNvPr id="17" name="Shape 14"/>
          <p:cNvSpPr/>
          <p:nvPr/>
        </p:nvSpPr>
        <p:spPr>
          <a:xfrm>
            <a:off x="457200" y="3877056"/>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Shape 15"/>
          <p:cNvSpPr/>
          <p:nvPr/>
        </p:nvSpPr>
        <p:spPr>
          <a:xfrm>
            <a:off x="457200" y="3877056"/>
            <a:ext cx="2286000" cy="548640"/>
          </a:xfrm>
          <a:prstGeom prst="rect">
            <a:avLst/>
          </a:prstGeom>
          <a:solidFill>
            <a:srgbClr val="E07A5F"/>
          </a:solidFill>
          <a:ln/>
        </p:spPr>
      </p:sp>
      <p:sp>
        <p:nvSpPr>
          <p:cNvPr id="19" name="Text 16"/>
          <p:cNvSpPr/>
          <p:nvPr/>
        </p:nvSpPr>
        <p:spPr>
          <a:xfrm>
            <a:off x="548640" y="3922776"/>
            <a:ext cx="210312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Stereotypes &amp; Norms</a:t>
            </a:r>
            <a:endParaRPr lang="en-US" sz="1200" dirty="0"/>
          </a:p>
        </p:txBody>
      </p:sp>
      <p:sp>
        <p:nvSpPr>
          <p:cNvPr id="20" name="Text 17"/>
          <p:cNvSpPr/>
          <p:nvPr/>
        </p:nvSpPr>
        <p:spPr>
          <a:xfrm>
            <a:off x="2926080" y="3950208"/>
            <a:ext cx="5577840" cy="411480"/>
          </a:xfrm>
          <a:prstGeom prst="rect">
            <a:avLst/>
          </a:prstGeom>
          <a:noFill/>
          <a:ln/>
        </p:spPr>
        <p:txBody>
          <a:bodyPr wrap="square" rtlCol="0" anchor="ctr"/>
          <a:lstStyle/>
          <a:p>
            <a:pPr indent="0" marL="0">
              <a:buNone/>
            </a:pPr>
            <a:r>
              <a:rPr lang="en-US" sz="1000" b="1" dirty="0">
                <a:solidFill>
                  <a:srgbClr val="6D2E46"/>
                </a:solidFill>
                <a:latin typeface="Calibri" pitchFamily="34" charset="0"/>
                <a:ea typeface="Calibri" pitchFamily="34" charset="-122"/>
                <a:cs typeface="Calibri" pitchFamily="34" charset="-120"/>
              </a:rPr>
              <a:t>Challenge: </a:t>
            </a:r>
            <a:pPr indent="0" marL="0">
              <a:buNone/>
            </a:pPr>
            <a:r>
              <a:rPr lang="en-US" sz="1000" dirty="0">
                <a:solidFill>
                  <a:srgbClr val="2D3436"/>
                </a:solidFill>
                <a:latin typeface="Calibri" pitchFamily="34" charset="0"/>
                <a:ea typeface="Calibri" pitchFamily="34" charset="-122"/>
                <a:cs typeface="Calibri" pitchFamily="34" charset="-120"/>
              </a:rPr>
              <a:t>Cultural expectations limit girls' ambitions </a:t>
            </a:r>
            <a:pPr indent="0" marL="0">
              <a:buNone/>
            </a:pPr>
            <a:r>
              <a:rPr lang="en-US" sz="1000" b="1" dirty="0">
                <a:solidFill>
                  <a:srgbClr val="A26769"/>
                </a:solidFill>
                <a:latin typeface="Calibri" pitchFamily="34" charset="0"/>
                <a:ea typeface="Calibri" pitchFamily="34" charset="-122"/>
                <a:cs typeface="Calibri" pitchFamily="34" charset="-120"/>
              </a:rPr>
              <a:t>→ Action: </a:t>
            </a:r>
            <a:pPr indent="0" marL="0">
              <a:buNone/>
            </a:pPr>
            <a:r>
              <a:rPr lang="en-US" sz="1000" dirty="0">
                <a:solidFill>
                  <a:srgbClr val="2D3436"/>
                </a:solidFill>
                <a:latin typeface="Calibri" pitchFamily="34" charset="0"/>
                <a:ea typeface="Calibri" pitchFamily="34" charset="-122"/>
                <a:cs typeface="Calibri" pitchFamily="34" charset="-120"/>
              </a:rPr>
              <a:t>Challenge stereotypes in messaging. Showcase diverse role models. Engage boys and men as allies.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DISABILITY AWARENESS &amp; INCLUSION</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Disability inclusion means ensuring persons with disabilities can fully participate in all aspects of society. In Rwanda, approximately 5% of the population has a disability. Inclusive organizations design programs and spaces that are accessible to everyone from the start.</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KEY CONCEPTS</a:t>
            </a:r>
            <a:endParaRPr lang="en-US" sz="1600" dirty="0"/>
          </a:p>
        </p:txBody>
      </p:sp>
      <p:sp>
        <p:nvSpPr>
          <p:cNvPr id="6" name="Shape 3"/>
          <p:cNvSpPr/>
          <p:nvPr/>
        </p:nvSpPr>
        <p:spPr>
          <a:xfrm>
            <a:off x="457200" y="2377440"/>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4"/>
          <p:cNvSpPr/>
          <p:nvPr/>
        </p:nvSpPr>
        <p:spPr>
          <a:xfrm>
            <a:off x="457200" y="2377440"/>
            <a:ext cx="2560320" cy="457200"/>
          </a:xfrm>
          <a:prstGeom prst="rect">
            <a:avLst/>
          </a:prstGeom>
          <a:solidFill>
            <a:srgbClr val="A26769"/>
          </a:solidFill>
          <a:ln/>
        </p:spPr>
      </p:sp>
      <p:sp>
        <p:nvSpPr>
          <p:cNvPr id="8" name="Text 5"/>
          <p:cNvSpPr/>
          <p:nvPr/>
        </p:nvSpPr>
        <p:spPr>
          <a:xfrm>
            <a:off x="548640" y="2423160"/>
            <a:ext cx="23774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Social Model of Disability</a:t>
            </a:r>
            <a:endParaRPr lang="en-US" sz="1200" dirty="0"/>
          </a:p>
        </p:txBody>
      </p:sp>
      <p:sp>
        <p:nvSpPr>
          <p:cNvPr id="9" name="Text 6"/>
          <p:cNvSpPr/>
          <p:nvPr/>
        </p:nvSpPr>
        <p:spPr>
          <a:xfrm>
            <a:off x="3200400" y="2423160"/>
            <a:ext cx="5303520" cy="36576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Disability is caused by society's barriers (inaccessible buildings, discriminatory attitudes), not by a person's impairment. Our job is to remove barriers.</a:t>
            </a:r>
            <a:endParaRPr lang="en-US" sz="1200" dirty="0"/>
          </a:p>
        </p:txBody>
      </p:sp>
      <p:sp>
        <p:nvSpPr>
          <p:cNvPr id="10" name="Shape 7"/>
          <p:cNvSpPr/>
          <p:nvPr/>
        </p:nvSpPr>
        <p:spPr>
          <a:xfrm>
            <a:off x="457200" y="2907792"/>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8"/>
          <p:cNvSpPr/>
          <p:nvPr/>
        </p:nvSpPr>
        <p:spPr>
          <a:xfrm>
            <a:off x="457200" y="2907792"/>
            <a:ext cx="2560320" cy="457200"/>
          </a:xfrm>
          <a:prstGeom prst="rect">
            <a:avLst/>
          </a:prstGeom>
          <a:solidFill>
            <a:srgbClr val="A26769"/>
          </a:solidFill>
          <a:ln/>
        </p:spPr>
      </p:sp>
      <p:sp>
        <p:nvSpPr>
          <p:cNvPr id="12" name="Text 9"/>
          <p:cNvSpPr/>
          <p:nvPr/>
        </p:nvSpPr>
        <p:spPr>
          <a:xfrm>
            <a:off x="548640" y="2953512"/>
            <a:ext cx="23774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Nothing About Us Without Us</a:t>
            </a:r>
            <a:endParaRPr lang="en-US" sz="1200" dirty="0"/>
          </a:p>
        </p:txBody>
      </p:sp>
      <p:sp>
        <p:nvSpPr>
          <p:cNvPr id="13" name="Text 10"/>
          <p:cNvSpPr/>
          <p:nvPr/>
        </p:nvSpPr>
        <p:spPr>
          <a:xfrm>
            <a:off x="3200400" y="2953512"/>
            <a:ext cx="5303520" cy="36576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Persons with disabilities must be involved in designing programs that affect them. They are experts in their own experiences.</a:t>
            </a:r>
            <a:endParaRPr lang="en-US" sz="1200" dirty="0"/>
          </a:p>
        </p:txBody>
      </p:sp>
      <p:sp>
        <p:nvSpPr>
          <p:cNvPr id="14" name="Shape 11"/>
          <p:cNvSpPr/>
          <p:nvPr/>
        </p:nvSpPr>
        <p:spPr>
          <a:xfrm>
            <a:off x="457200" y="3438144"/>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2"/>
          <p:cNvSpPr/>
          <p:nvPr/>
        </p:nvSpPr>
        <p:spPr>
          <a:xfrm>
            <a:off x="457200" y="3438144"/>
            <a:ext cx="2560320" cy="457200"/>
          </a:xfrm>
          <a:prstGeom prst="rect">
            <a:avLst/>
          </a:prstGeom>
          <a:solidFill>
            <a:srgbClr val="A26769"/>
          </a:solidFill>
          <a:ln/>
        </p:spPr>
      </p:sp>
      <p:sp>
        <p:nvSpPr>
          <p:cNvPr id="16" name="Text 13"/>
          <p:cNvSpPr/>
          <p:nvPr/>
        </p:nvSpPr>
        <p:spPr>
          <a:xfrm>
            <a:off x="548640" y="3483864"/>
            <a:ext cx="23774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Universal Design</a:t>
            </a:r>
            <a:endParaRPr lang="en-US" sz="1200" dirty="0"/>
          </a:p>
        </p:txBody>
      </p:sp>
      <p:sp>
        <p:nvSpPr>
          <p:cNvPr id="17" name="Text 14"/>
          <p:cNvSpPr/>
          <p:nvPr/>
        </p:nvSpPr>
        <p:spPr>
          <a:xfrm>
            <a:off x="3200400" y="3483864"/>
            <a:ext cx="5303520" cy="36576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Design programs, materials, and spaces to be usable by everyone from the start, rather than retrofitting accessibility later.</a:t>
            </a:r>
            <a:endParaRPr lang="en-US" sz="1200" dirty="0"/>
          </a:p>
        </p:txBody>
      </p:sp>
      <p:sp>
        <p:nvSpPr>
          <p:cNvPr id="18" name="Text 15"/>
          <p:cNvSpPr/>
          <p:nvPr/>
        </p:nvSpPr>
        <p:spPr>
          <a:xfrm>
            <a:off x="731520" y="384048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PRACTICAL INCLUSION ACTIONS</a:t>
            </a:r>
            <a:endParaRPr lang="en-US" sz="1600" dirty="0"/>
          </a:p>
        </p:txBody>
      </p:sp>
      <p:pic>
        <p:nvPicPr>
          <p:cNvPr id="19" name="Image 1" descr="preencoded.png">    </p:cNvPr>
          <p:cNvPicPr>
            <a:picLocks noChangeAspect="1"/>
          </p:cNvPicPr>
          <p:nvPr/>
        </p:nvPicPr>
        <p:blipFill>
          <a:blip r:embed="rId2"/>
          <a:stretch>
            <a:fillRect/>
          </a:stretch>
        </p:blipFill>
        <p:spPr>
          <a:xfrm>
            <a:off x="731520" y="4270248"/>
            <a:ext cx="228600" cy="228600"/>
          </a:xfrm>
          <a:prstGeom prst="rect">
            <a:avLst/>
          </a:prstGeom>
        </p:spPr>
      </p:pic>
      <p:sp>
        <p:nvSpPr>
          <p:cNvPr id="20" name="Text 16"/>
          <p:cNvSpPr/>
          <p:nvPr/>
        </p:nvSpPr>
        <p:spPr>
          <a:xfrm>
            <a:off x="1051560" y="4251960"/>
            <a:ext cx="347472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Ensure venues have ramps, accessible toilets, and adequate signage</a:t>
            </a:r>
            <a:endParaRPr lang="en-US" sz="1100" dirty="0"/>
          </a:p>
        </p:txBody>
      </p:sp>
      <p:pic>
        <p:nvPicPr>
          <p:cNvPr id="21" name="Image 2" descr="preencoded.png">    </p:cNvPr>
          <p:cNvPicPr>
            <a:picLocks noChangeAspect="1"/>
          </p:cNvPicPr>
          <p:nvPr/>
        </p:nvPicPr>
        <p:blipFill>
          <a:blip r:embed="rId3"/>
          <a:stretch>
            <a:fillRect/>
          </a:stretch>
        </p:blipFill>
        <p:spPr>
          <a:xfrm>
            <a:off x="4663440" y="4270248"/>
            <a:ext cx="228600" cy="228600"/>
          </a:xfrm>
          <a:prstGeom prst="rect">
            <a:avLst/>
          </a:prstGeom>
        </p:spPr>
      </p:pic>
      <p:sp>
        <p:nvSpPr>
          <p:cNvPr id="22" name="Text 17"/>
          <p:cNvSpPr/>
          <p:nvPr/>
        </p:nvSpPr>
        <p:spPr>
          <a:xfrm>
            <a:off x="4983480" y="4251960"/>
            <a:ext cx="347472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Provide materials in multiple formats (large print, braille, audio, simplified language)</a:t>
            </a:r>
            <a:endParaRPr lang="en-US" sz="1100" dirty="0"/>
          </a:p>
        </p:txBody>
      </p:sp>
      <p:pic>
        <p:nvPicPr>
          <p:cNvPr id="23" name="Image 3" descr="preencoded.png">    </p:cNvPr>
          <p:cNvPicPr>
            <a:picLocks noChangeAspect="1"/>
          </p:cNvPicPr>
          <p:nvPr/>
        </p:nvPicPr>
        <p:blipFill>
          <a:blip r:embed="rId4"/>
          <a:stretch>
            <a:fillRect/>
          </a:stretch>
        </p:blipFill>
        <p:spPr>
          <a:xfrm>
            <a:off x="731520" y="4590288"/>
            <a:ext cx="228600" cy="228600"/>
          </a:xfrm>
          <a:prstGeom prst="rect">
            <a:avLst/>
          </a:prstGeom>
        </p:spPr>
      </p:pic>
      <p:sp>
        <p:nvSpPr>
          <p:cNvPr id="24" name="Text 18"/>
          <p:cNvSpPr/>
          <p:nvPr/>
        </p:nvSpPr>
        <p:spPr>
          <a:xfrm>
            <a:off x="1051560" y="4572000"/>
            <a:ext cx="347472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Use sign language interpreters at events and captioning for videos</a:t>
            </a:r>
            <a:endParaRPr lang="en-US" sz="1100" dirty="0"/>
          </a:p>
        </p:txBody>
      </p:sp>
      <p:pic>
        <p:nvPicPr>
          <p:cNvPr id="25" name="Image 4" descr="preencoded.png">    </p:cNvPr>
          <p:cNvPicPr>
            <a:picLocks noChangeAspect="1"/>
          </p:cNvPicPr>
          <p:nvPr/>
        </p:nvPicPr>
        <p:blipFill>
          <a:blip r:embed="rId5"/>
          <a:stretch>
            <a:fillRect/>
          </a:stretch>
        </p:blipFill>
        <p:spPr>
          <a:xfrm>
            <a:off x="4663440" y="4590288"/>
            <a:ext cx="228600" cy="228600"/>
          </a:xfrm>
          <a:prstGeom prst="rect">
            <a:avLst/>
          </a:prstGeom>
        </p:spPr>
      </p:pic>
      <p:sp>
        <p:nvSpPr>
          <p:cNvPr id="26" name="Text 19"/>
          <p:cNvSpPr/>
          <p:nvPr/>
        </p:nvSpPr>
        <p:spPr>
          <a:xfrm>
            <a:off x="4983480" y="4572000"/>
            <a:ext cx="347472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Ask participants about accessibility needs during registration</a:t>
            </a:r>
            <a:endParaRPr lang="en-US" sz="1100" dirty="0"/>
          </a:p>
        </p:txBody>
      </p:sp>
      <p:pic>
        <p:nvPicPr>
          <p:cNvPr id="27" name="Image 5" descr="preencoded.png">    </p:cNvPr>
          <p:cNvPicPr>
            <a:picLocks noChangeAspect="1"/>
          </p:cNvPicPr>
          <p:nvPr/>
        </p:nvPicPr>
        <p:blipFill>
          <a:blip r:embed="rId6"/>
          <a:stretch>
            <a:fillRect/>
          </a:stretch>
        </p:blipFill>
        <p:spPr>
          <a:xfrm>
            <a:off x="731520" y="4910328"/>
            <a:ext cx="228600" cy="228600"/>
          </a:xfrm>
          <a:prstGeom prst="rect">
            <a:avLst/>
          </a:prstGeom>
        </p:spPr>
      </p:pic>
      <p:sp>
        <p:nvSpPr>
          <p:cNvPr id="28" name="Text 20"/>
          <p:cNvSpPr/>
          <p:nvPr/>
        </p:nvSpPr>
        <p:spPr>
          <a:xfrm>
            <a:off x="1051560" y="4892040"/>
            <a:ext cx="347472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Budget for accessibility supports (transport, assistive devices, personal assistants)</a:t>
            </a:r>
            <a:endParaRPr lang="en-US" sz="1100" dirty="0"/>
          </a:p>
        </p:txBody>
      </p:sp>
      <p:pic>
        <p:nvPicPr>
          <p:cNvPr id="29" name="Image 6" descr="preencoded.png">    </p:cNvPr>
          <p:cNvPicPr>
            <a:picLocks noChangeAspect="1"/>
          </p:cNvPicPr>
          <p:nvPr/>
        </p:nvPicPr>
        <p:blipFill>
          <a:blip r:embed="rId7"/>
          <a:stretch>
            <a:fillRect/>
          </a:stretch>
        </p:blipFill>
        <p:spPr>
          <a:xfrm>
            <a:off x="4663440" y="4910328"/>
            <a:ext cx="228600" cy="228600"/>
          </a:xfrm>
          <a:prstGeom prst="rect">
            <a:avLst/>
          </a:prstGeom>
        </p:spPr>
      </p:pic>
      <p:sp>
        <p:nvSpPr>
          <p:cNvPr id="30" name="Text 21"/>
          <p:cNvSpPr/>
          <p:nvPr/>
        </p:nvSpPr>
        <p:spPr>
          <a:xfrm>
            <a:off x="4983480" y="4892040"/>
            <a:ext cx="347472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Train staff on disability etiquette and respectful language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CHILD RIGHTS &amp; SAFEGUARDING</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The UN Convention on the Rights of the Child recognizes that children have rights—not just needs. When working with children and youth, organizations must uphold these rights and protect them from harm. This is both a moral and legal responsibility.</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FOUR CORE CHILD RIGHTS PRINCIPLES</a:t>
            </a:r>
            <a:endParaRPr lang="en-US" sz="1600" dirty="0"/>
          </a:p>
        </p:txBody>
      </p:sp>
      <p:sp>
        <p:nvSpPr>
          <p:cNvPr id="6" name="Shape 3"/>
          <p:cNvSpPr/>
          <p:nvPr/>
        </p:nvSpPr>
        <p:spPr>
          <a:xfrm>
            <a:off x="731520" y="2377440"/>
            <a:ext cx="365760" cy="365760"/>
          </a:xfrm>
          <a:prstGeom prst="ellipse">
            <a:avLst/>
          </a:prstGeom>
          <a:solidFill>
            <a:srgbClr val="E07A5F"/>
          </a:solidFill>
          <a:ln/>
        </p:spPr>
      </p:sp>
      <p:sp>
        <p:nvSpPr>
          <p:cNvPr id="7" name="Text 4"/>
          <p:cNvSpPr/>
          <p:nvPr/>
        </p:nvSpPr>
        <p:spPr>
          <a:xfrm>
            <a:off x="731520" y="23774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p:nvPr/>
        </p:nvSpPr>
        <p:spPr>
          <a:xfrm>
            <a:off x="1234440" y="2377440"/>
            <a:ext cx="722376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Non-Discrimination: </a:t>
            </a:r>
            <a:pPr indent="0" marL="0">
              <a:buNone/>
            </a:pPr>
            <a:r>
              <a:rPr lang="en-US" sz="1200" dirty="0">
                <a:solidFill>
                  <a:srgbClr val="2D3436"/>
                </a:solidFill>
                <a:latin typeface="Calibri" pitchFamily="34" charset="0"/>
                <a:ea typeface="Calibri" pitchFamily="34" charset="-122"/>
                <a:cs typeface="Calibri" pitchFamily="34" charset="-120"/>
              </a:rPr>
              <a:t>Every child has rights regardless of race, gender, disability, family background, or any other status</a:t>
            </a:r>
            <a:endParaRPr lang="en-US" sz="1200" dirty="0"/>
          </a:p>
        </p:txBody>
      </p:sp>
      <p:sp>
        <p:nvSpPr>
          <p:cNvPr id="9" name="Shape 6"/>
          <p:cNvSpPr/>
          <p:nvPr/>
        </p:nvSpPr>
        <p:spPr>
          <a:xfrm>
            <a:off x="731520" y="2834640"/>
            <a:ext cx="365760" cy="365760"/>
          </a:xfrm>
          <a:prstGeom prst="ellipse">
            <a:avLst/>
          </a:prstGeom>
          <a:solidFill>
            <a:srgbClr val="E07A5F"/>
          </a:solidFill>
          <a:ln/>
        </p:spPr>
      </p:sp>
      <p:sp>
        <p:nvSpPr>
          <p:cNvPr id="10" name="Text 7"/>
          <p:cNvSpPr/>
          <p:nvPr/>
        </p:nvSpPr>
        <p:spPr>
          <a:xfrm>
            <a:off x="731520" y="28346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8"/>
          <p:cNvSpPr/>
          <p:nvPr/>
        </p:nvSpPr>
        <p:spPr>
          <a:xfrm>
            <a:off x="1234440" y="2834640"/>
            <a:ext cx="722376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Best Interests of the Child: </a:t>
            </a:r>
            <a:pPr indent="0" marL="0">
              <a:buNone/>
            </a:pPr>
            <a:r>
              <a:rPr lang="en-US" sz="1200" dirty="0">
                <a:solidFill>
                  <a:srgbClr val="2D3436"/>
                </a:solidFill>
                <a:latin typeface="Calibri" pitchFamily="34" charset="0"/>
                <a:ea typeface="Calibri" pitchFamily="34" charset="-122"/>
                <a:cs typeface="Calibri" pitchFamily="34" charset="-120"/>
              </a:rPr>
              <a:t>In all decisions affecting children, their best interests must be the primary consideration</a:t>
            </a:r>
            <a:endParaRPr lang="en-US" sz="1200" dirty="0"/>
          </a:p>
        </p:txBody>
      </p:sp>
      <p:sp>
        <p:nvSpPr>
          <p:cNvPr id="12" name="Shape 9"/>
          <p:cNvSpPr/>
          <p:nvPr/>
        </p:nvSpPr>
        <p:spPr>
          <a:xfrm>
            <a:off x="731520" y="3291840"/>
            <a:ext cx="365760" cy="365760"/>
          </a:xfrm>
          <a:prstGeom prst="ellipse">
            <a:avLst/>
          </a:prstGeom>
          <a:solidFill>
            <a:srgbClr val="E07A5F"/>
          </a:solidFill>
          <a:ln/>
        </p:spPr>
      </p:sp>
      <p:sp>
        <p:nvSpPr>
          <p:cNvPr id="13" name="Text 10"/>
          <p:cNvSpPr/>
          <p:nvPr/>
        </p:nvSpPr>
        <p:spPr>
          <a:xfrm>
            <a:off x="731520" y="32918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1"/>
          <p:cNvSpPr/>
          <p:nvPr/>
        </p:nvSpPr>
        <p:spPr>
          <a:xfrm>
            <a:off x="1234440" y="3291840"/>
            <a:ext cx="722376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Right to Life, Survival &amp; Development: </a:t>
            </a:r>
            <a:pPr indent="0" marL="0">
              <a:buNone/>
            </a:pPr>
            <a:r>
              <a:rPr lang="en-US" sz="1200" dirty="0">
                <a:solidFill>
                  <a:srgbClr val="2D3436"/>
                </a:solidFill>
                <a:latin typeface="Calibri" pitchFamily="34" charset="0"/>
                <a:ea typeface="Calibri" pitchFamily="34" charset="-122"/>
                <a:cs typeface="Calibri" pitchFamily="34" charset="-120"/>
              </a:rPr>
              <a:t>Children have the right to live and develop to their full potential—physically, mentally, and socially</a:t>
            </a:r>
            <a:endParaRPr lang="en-US" sz="1200" dirty="0"/>
          </a:p>
        </p:txBody>
      </p:sp>
      <p:sp>
        <p:nvSpPr>
          <p:cNvPr id="15" name="Shape 12"/>
          <p:cNvSpPr/>
          <p:nvPr/>
        </p:nvSpPr>
        <p:spPr>
          <a:xfrm>
            <a:off x="731520" y="3749040"/>
            <a:ext cx="365760" cy="365760"/>
          </a:xfrm>
          <a:prstGeom prst="ellipse">
            <a:avLst/>
          </a:prstGeom>
          <a:solidFill>
            <a:srgbClr val="E07A5F"/>
          </a:solidFill>
          <a:ln/>
        </p:spPr>
      </p:sp>
      <p:sp>
        <p:nvSpPr>
          <p:cNvPr id="16" name="Text 13"/>
          <p:cNvSpPr/>
          <p:nvPr/>
        </p:nvSpPr>
        <p:spPr>
          <a:xfrm>
            <a:off x="731520" y="37490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7" name="Text 14"/>
          <p:cNvSpPr/>
          <p:nvPr/>
        </p:nvSpPr>
        <p:spPr>
          <a:xfrm>
            <a:off x="1234440" y="3749040"/>
            <a:ext cx="722376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Respect for the Views of the Child: </a:t>
            </a:r>
            <a:pPr indent="0" marL="0">
              <a:buNone/>
            </a:pPr>
            <a:r>
              <a:rPr lang="en-US" sz="1200" dirty="0">
                <a:solidFill>
                  <a:srgbClr val="2D3436"/>
                </a:solidFill>
                <a:latin typeface="Calibri" pitchFamily="34" charset="0"/>
                <a:ea typeface="Calibri" pitchFamily="34" charset="-122"/>
                <a:cs typeface="Calibri" pitchFamily="34" charset="-120"/>
              </a:rPr>
              <a:t>Children have the right to express their views and have those views taken seriously in matters affecting them</a:t>
            </a:r>
            <a:endParaRPr lang="en-US" sz="1200" dirty="0"/>
          </a:p>
        </p:txBody>
      </p:sp>
      <p:sp>
        <p:nvSpPr>
          <p:cNvPr id="18" name="Text 15"/>
          <p:cNvSpPr/>
          <p:nvPr/>
        </p:nvSpPr>
        <p:spPr>
          <a:xfrm>
            <a:off x="731520" y="4389120"/>
            <a:ext cx="7680960" cy="274320"/>
          </a:xfrm>
          <a:prstGeom prst="rect">
            <a:avLst/>
          </a:prstGeom>
          <a:noFill/>
          <a:ln/>
        </p:spPr>
        <p:txBody>
          <a:bodyPr wrap="square" rtlCol="0" anchor="ctr"/>
          <a:lstStyle/>
          <a:p>
            <a:pPr indent="0" marL="0">
              <a:buNone/>
            </a:pPr>
            <a:r>
              <a:rPr lang="en-US" sz="1500" b="1" dirty="0">
                <a:solidFill>
                  <a:srgbClr val="6D2E46"/>
                </a:solidFill>
                <a:latin typeface="Arial" pitchFamily="34" charset="0"/>
                <a:ea typeface="Arial" pitchFamily="34" charset="-122"/>
                <a:cs typeface="Arial" pitchFamily="34" charset="-120"/>
              </a:rPr>
              <a:t>SAFEGUARDING ESSENTIALS</a:t>
            </a:r>
            <a:endParaRPr lang="en-US" sz="1500" dirty="0"/>
          </a:p>
        </p:txBody>
      </p:sp>
      <p:sp>
        <p:nvSpPr>
          <p:cNvPr id="19" name="Text 16"/>
          <p:cNvSpPr/>
          <p:nvPr/>
        </p:nvSpPr>
        <p:spPr>
          <a:xfrm>
            <a:off x="731520" y="4709160"/>
            <a:ext cx="7680960" cy="54864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Child safeguarding means protecting children from abuse, neglect, exploitation, and harm. Every organization working with children MUST have safeguarding policies and trained staff. Key measures: background checks for staff/volunteers, codes of conduct, clear reporting procedures, child-friendly complaint mechanisms, and regular safeguarding training.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MENTAL HEALTH SENSITIVITY</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Mental health challenges affect people across all demographics. Stigma, discrimination, and lack of support prevent many from seeking help. Inclusive organizations create environments where mental health is openly discussed and supported.</a:t>
            </a:r>
            <a:endParaRPr lang="en-US" sz="1400" dirty="0"/>
          </a:p>
        </p:txBody>
      </p:sp>
      <p:sp>
        <p:nvSpPr>
          <p:cNvPr id="5" name="Shape 2"/>
          <p:cNvSpPr/>
          <p:nvPr/>
        </p:nvSpPr>
        <p:spPr>
          <a:xfrm>
            <a:off x="457200" y="2011680"/>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3"/>
          <p:cNvSpPr/>
          <p:nvPr/>
        </p:nvSpPr>
        <p:spPr>
          <a:xfrm>
            <a:off x="457200" y="2011680"/>
            <a:ext cx="2560320" cy="594360"/>
          </a:xfrm>
          <a:prstGeom prst="rect">
            <a:avLst/>
          </a:prstGeom>
          <a:solidFill>
            <a:srgbClr val="D4A574"/>
          </a:solidFill>
          <a:ln/>
        </p:spPr>
      </p:sp>
      <p:sp>
        <p:nvSpPr>
          <p:cNvPr id="7" name="Text 4"/>
          <p:cNvSpPr/>
          <p:nvPr/>
        </p:nvSpPr>
        <p:spPr>
          <a:xfrm>
            <a:off x="548640" y="2103120"/>
            <a:ext cx="237744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Normalize Mental Health Conversations</a:t>
            </a:r>
            <a:endParaRPr lang="en-US" sz="1200" dirty="0"/>
          </a:p>
        </p:txBody>
      </p:sp>
      <p:sp>
        <p:nvSpPr>
          <p:cNvPr id="8" name="Text 5"/>
          <p:cNvSpPr/>
          <p:nvPr/>
        </p:nvSpPr>
        <p:spPr>
          <a:xfrm>
            <a:off x="3200400" y="2103120"/>
            <a:ext cx="5303520" cy="41148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Talk about mental health openly in team meetings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Share resources and normalize seeking help</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Use non-stigmatizing language (avoid 'crazy', 'insane', etc.)</a:t>
            </a:r>
            <a:endParaRPr lang="en-US" sz="1000" dirty="0"/>
          </a:p>
        </p:txBody>
      </p:sp>
      <p:sp>
        <p:nvSpPr>
          <p:cNvPr id="9" name="Shape 6"/>
          <p:cNvSpPr/>
          <p:nvPr/>
        </p:nvSpPr>
        <p:spPr>
          <a:xfrm>
            <a:off x="457200" y="2679192"/>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457200" y="2679192"/>
            <a:ext cx="2560320" cy="594360"/>
          </a:xfrm>
          <a:prstGeom prst="rect">
            <a:avLst/>
          </a:prstGeom>
          <a:solidFill>
            <a:srgbClr val="D4A574"/>
          </a:solidFill>
          <a:ln/>
        </p:spPr>
      </p:sp>
      <p:sp>
        <p:nvSpPr>
          <p:cNvPr id="11" name="Text 8"/>
          <p:cNvSpPr/>
          <p:nvPr/>
        </p:nvSpPr>
        <p:spPr>
          <a:xfrm>
            <a:off x="548640" y="2770632"/>
            <a:ext cx="237744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Create Psychologically Safe Spaces</a:t>
            </a:r>
            <a:endParaRPr lang="en-US" sz="1200" dirty="0"/>
          </a:p>
        </p:txBody>
      </p:sp>
      <p:sp>
        <p:nvSpPr>
          <p:cNvPr id="12" name="Text 9"/>
          <p:cNvSpPr/>
          <p:nvPr/>
        </p:nvSpPr>
        <p:spPr>
          <a:xfrm>
            <a:off x="3200400" y="2770632"/>
            <a:ext cx="5303520" cy="41148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Allow people to share struggles without judgment</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Respect confidentiality and privacy</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Recognize that trauma affects behavior and performance</a:t>
            </a:r>
            <a:endParaRPr lang="en-US" sz="1000" dirty="0"/>
          </a:p>
        </p:txBody>
      </p:sp>
      <p:sp>
        <p:nvSpPr>
          <p:cNvPr id="13" name="Shape 10"/>
          <p:cNvSpPr/>
          <p:nvPr/>
        </p:nvSpPr>
        <p:spPr>
          <a:xfrm>
            <a:off x="457200" y="3346704"/>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1"/>
          <p:cNvSpPr/>
          <p:nvPr/>
        </p:nvSpPr>
        <p:spPr>
          <a:xfrm>
            <a:off x="457200" y="3346704"/>
            <a:ext cx="2560320" cy="594360"/>
          </a:xfrm>
          <a:prstGeom prst="rect">
            <a:avLst/>
          </a:prstGeom>
          <a:solidFill>
            <a:srgbClr val="D4A574"/>
          </a:solidFill>
          <a:ln/>
        </p:spPr>
      </p:sp>
      <p:sp>
        <p:nvSpPr>
          <p:cNvPr id="15" name="Text 12"/>
          <p:cNvSpPr/>
          <p:nvPr/>
        </p:nvSpPr>
        <p:spPr>
          <a:xfrm>
            <a:off x="548640" y="3438144"/>
            <a:ext cx="237744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Provide Mental Health Support</a:t>
            </a:r>
            <a:endParaRPr lang="en-US" sz="1200" dirty="0"/>
          </a:p>
        </p:txBody>
      </p:sp>
      <p:sp>
        <p:nvSpPr>
          <p:cNvPr id="16" name="Text 13"/>
          <p:cNvSpPr/>
          <p:nvPr/>
        </p:nvSpPr>
        <p:spPr>
          <a:xfrm>
            <a:off x="3200400" y="3438144"/>
            <a:ext cx="5303520" cy="41148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Connect staff/beneficiaries with counseling services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Offer mental health days or flexible schedules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Train staff in psychological first aid</a:t>
            </a:r>
            <a:endParaRPr lang="en-US" sz="1000" dirty="0"/>
          </a:p>
        </p:txBody>
      </p:sp>
      <p:sp>
        <p:nvSpPr>
          <p:cNvPr id="17" name="Shape 14"/>
          <p:cNvSpPr/>
          <p:nvPr/>
        </p:nvSpPr>
        <p:spPr>
          <a:xfrm>
            <a:off x="457200" y="4014216"/>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Shape 15"/>
          <p:cNvSpPr/>
          <p:nvPr/>
        </p:nvSpPr>
        <p:spPr>
          <a:xfrm>
            <a:off x="457200" y="4014216"/>
            <a:ext cx="2560320" cy="594360"/>
          </a:xfrm>
          <a:prstGeom prst="rect">
            <a:avLst/>
          </a:prstGeom>
          <a:solidFill>
            <a:srgbClr val="D4A574"/>
          </a:solidFill>
          <a:ln/>
        </p:spPr>
      </p:sp>
      <p:sp>
        <p:nvSpPr>
          <p:cNvPr id="19" name="Text 16"/>
          <p:cNvSpPr/>
          <p:nvPr/>
        </p:nvSpPr>
        <p:spPr>
          <a:xfrm>
            <a:off x="548640" y="4105656"/>
            <a:ext cx="237744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Reduce Stress &amp; Burnout Triggers</a:t>
            </a:r>
            <a:endParaRPr lang="en-US" sz="1200" dirty="0"/>
          </a:p>
        </p:txBody>
      </p:sp>
      <p:sp>
        <p:nvSpPr>
          <p:cNvPr id="20" name="Text 17"/>
          <p:cNvSpPr/>
          <p:nvPr/>
        </p:nvSpPr>
        <p:spPr>
          <a:xfrm>
            <a:off x="3200400" y="4105656"/>
            <a:ext cx="5303520" cy="41148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Set realistic workloads and deadlines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Encourage breaks and time off</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Model healthy work-life boundaries from leadership</a:t>
            </a:r>
            <a:endParaRPr lang="en-US" sz="1000" dirty="0"/>
          </a:p>
        </p:txBody>
      </p:sp>
      <p:sp>
        <p:nvSpPr>
          <p:cNvPr id="21" name="Shape 18"/>
          <p:cNvSpPr/>
          <p:nvPr/>
        </p:nvSpPr>
        <p:spPr>
          <a:xfrm>
            <a:off x="457200" y="4681728"/>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Shape 19"/>
          <p:cNvSpPr/>
          <p:nvPr/>
        </p:nvSpPr>
        <p:spPr>
          <a:xfrm>
            <a:off x="457200" y="4681728"/>
            <a:ext cx="2560320" cy="594360"/>
          </a:xfrm>
          <a:prstGeom prst="rect">
            <a:avLst/>
          </a:prstGeom>
          <a:solidFill>
            <a:srgbClr val="D4A574"/>
          </a:solidFill>
          <a:ln/>
        </p:spPr>
      </p:sp>
      <p:sp>
        <p:nvSpPr>
          <p:cNvPr id="23" name="Text 20"/>
          <p:cNvSpPr/>
          <p:nvPr/>
        </p:nvSpPr>
        <p:spPr>
          <a:xfrm>
            <a:off x="548640" y="4773168"/>
            <a:ext cx="237744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Be Inclusive in Program Design</a:t>
            </a:r>
            <a:endParaRPr lang="en-US" sz="1200" dirty="0"/>
          </a:p>
        </p:txBody>
      </p:sp>
      <p:sp>
        <p:nvSpPr>
          <p:cNvPr id="24" name="Text 21"/>
          <p:cNvSpPr/>
          <p:nvPr/>
        </p:nvSpPr>
        <p:spPr>
          <a:xfrm>
            <a:off x="3200400" y="4773168"/>
            <a:ext cx="5303520" cy="41148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Consider mental health when scheduling (avoid overwhelming schedules)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Offer quiet spaces at events for those who need breaks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Provide content warnings for potentially triggering material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SOCIAL JUSTICE ETHICS</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Social justice is about fair distribution of resources, opportunities, and power in society. It means addressing systemic inequalities—not just individual acts of unfairness. As youth advocates, your work should challenge unjust systems, not just provide charity.</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SOCIAL JUSTICE PRINCIPLES FOR ADVOCACY</a:t>
            </a:r>
            <a:endParaRPr lang="en-US" sz="1600" dirty="0"/>
          </a:p>
        </p:txBody>
      </p:sp>
      <p:sp>
        <p:nvSpPr>
          <p:cNvPr id="6" name="Shape 3"/>
          <p:cNvSpPr/>
          <p:nvPr/>
        </p:nvSpPr>
        <p:spPr>
          <a:xfrm>
            <a:off x="731520" y="2377440"/>
            <a:ext cx="3657600" cy="274320"/>
          </a:xfrm>
          <a:prstGeom prst="rect">
            <a:avLst/>
          </a:prstGeom>
          <a:solidFill>
            <a:srgbClr val="636E72"/>
          </a:solidFill>
          <a:ln/>
        </p:spPr>
      </p:sp>
      <p:sp>
        <p:nvSpPr>
          <p:cNvPr id="7" name="Text 4"/>
          <p:cNvSpPr/>
          <p:nvPr/>
        </p:nvSpPr>
        <p:spPr>
          <a:xfrm>
            <a:off x="731520" y="2404872"/>
            <a:ext cx="3657600" cy="2286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Charity Approach</a:t>
            </a:r>
            <a:endParaRPr lang="en-US" sz="1200" dirty="0"/>
          </a:p>
        </p:txBody>
      </p:sp>
      <p:sp>
        <p:nvSpPr>
          <p:cNvPr id="8" name="Shape 5"/>
          <p:cNvSpPr/>
          <p:nvPr/>
        </p:nvSpPr>
        <p:spPr>
          <a:xfrm>
            <a:off x="4754880" y="2377440"/>
            <a:ext cx="3657600" cy="274320"/>
          </a:xfrm>
          <a:prstGeom prst="rect">
            <a:avLst/>
          </a:prstGeom>
          <a:solidFill>
            <a:srgbClr val="6D2E46"/>
          </a:solidFill>
          <a:ln/>
        </p:spPr>
      </p:sp>
      <p:sp>
        <p:nvSpPr>
          <p:cNvPr id="9" name="Text 6"/>
          <p:cNvSpPr/>
          <p:nvPr/>
        </p:nvSpPr>
        <p:spPr>
          <a:xfrm>
            <a:off x="4754880" y="2404872"/>
            <a:ext cx="3657600" cy="2286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Justice Approach</a:t>
            </a:r>
            <a:endParaRPr lang="en-US" sz="1200" dirty="0"/>
          </a:p>
        </p:txBody>
      </p:sp>
      <p:sp>
        <p:nvSpPr>
          <p:cNvPr id="10" name="Text 7"/>
          <p:cNvSpPr/>
          <p:nvPr/>
        </p:nvSpPr>
        <p:spPr>
          <a:xfrm>
            <a:off x="457200" y="2743200"/>
            <a:ext cx="8229600" cy="274320"/>
          </a:xfrm>
          <a:prstGeom prst="rect">
            <a:avLst/>
          </a:prstGeom>
          <a:noFill/>
          <a:ln/>
        </p:spPr>
        <p:txBody>
          <a:bodyPr wrap="square" rtlCol="0" anchor="ctr"/>
          <a:lstStyle/>
          <a:p>
            <a:pPr indent="0" marL="0">
              <a:buNone/>
            </a:pPr>
            <a:r>
              <a:rPr lang="en-US" sz="1300" b="1" dirty="0">
                <a:solidFill>
                  <a:srgbClr val="6D2E46"/>
                </a:solidFill>
                <a:latin typeface="Arial" pitchFamily="34" charset="0"/>
                <a:ea typeface="Arial" pitchFamily="34" charset="-122"/>
                <a:cs typeface="Arial" pitchFamily="34" charset="-120"/>
              </a:rPr>
              <a:t>Address Root Causes, Not Just Symptoms</a:t>
            </a:r>
            <a:endParaRPr lang="en-US" sz="1300" dirty="0"/>
          </a:p>
        </p:txBody>
      </p:sp>
      <p:sp>
        <p:nvSpPr>
          <p:cNvPr id="11" name="Shape 8"/>
          <p:cNvSpPr/>
          <p:nvPr/>
        </p:nvSpPr>
        <p:spPr>
          <a:xfrm>
            <a:off x="731520" y="3063240"/>
            <a:ext cx="3657600" cy="320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Text 9"/>
          <p:cNvSpPr/>
          <p:nvPr/>
        </p:nvSpPr>
        <p:spPr>
          <a:xfrm>
            <a:off x="822960" y="3108960"/>
            <a:ext cx="3474720" cy="228600"/>
          </a:xfrm>
          <a:prstGeom prst="rect">
            <a:avLst/>
          </a:prstGeom>
          <a:noFill/>
          <a:ln/>
        </p:spPr>
        <p:txBody>
          <a:bodyPr wrap="square" rtlCol="0" anchor="ctr"/>
          <a:lstStyle/>
          <a:p>
            <a:pPr indent="0" marL="0">
              <a:buNone/>
            </a:pPr>
            <a:r>
              <a:rPr lang="en-US" sz="1000" i="1" dirty="0">
                <a:solidFill>
                  <a:srgbClr val="2D3436"/>
                </a:solidFill>
                <a:latin typeface="Calibri" pitchFamily="34" charset="0"/>
                <a:ea typeface="Calibri" pitchFamily="34" charset="-122"/>
                <a:cs typeface="Calibri" pitchFamily="34" charset="-120"/>
              </a:rPr>
              <a:t>Provide free school supplies to poor children</a:t>
            </a:r>
            <a:endParaRPr lang="en-US" sz="1000" dirty="0"/>
          </a:p>
        </p:txBody>
      </p:sp>
      <p:sp>
        <p:nvSpPr>
          <p:cNvPr id="13" name="Shape 10"/>
          <p:cNvSpPr/>
          <p:nvPr/>
        </p:nvSpPr>
        <p:spPr>
          <a:xfrm>
            <a:off x="4754880" y="3063240"/>
            <a:ext cx="3657600" cy="320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Text 11"/>
          <p:cNvSpPr/>
          <p:nvPr/>
        </p:nvSpPr>
        <p:spPr>
          <a:xfrm>
            <a:off x="4846320" y="3108960"/>
            <a:ext cx="3474720" cy="228600"/>
          </a:xfrm>
          <a:prstGeom prst="rect">
            <a:avLst/>
          </a:prstGeom>
          <a:noFill/>
          <a:ln/>
        </p:spPr>
        <p:txBody>
          <a:bodyPr wrap="square" rtlCol="0" anchor="ctr"/>
          <a:lstStyle/>
          <a:p>
            <a:pPr indent="0" marL="0">
              <a:buNone/>
            </a:pPr>
            <a:r>
              <a:rPr lang="en-US" sz="1000" b="1" dirty="0">
                <a:solidFill>
                  <a:srgbClr val="2D3436"/>
                </a:solidFill>
                <a:latin typeface="Calibri" pitchFamily="34" charset="0"/>
                <a:ea typeface="Calibri" pitchFamily="34" charset="-122"/>
                <a:cs typeface="Calibri" pitchFamily="34" charset="-120"/>
              </a:rPr>
              <a:t>Advocate for government funding of education so all children have supplies</a:t>
            </a:r>
            <a:endParaRPr lang="en-US" sz="1000" dirty="0"/>
          </a:p>
        </p:txBody>
      </p:sp>
      <p:sp>
        <p:nvSpPr>
          <p:cNvPr id="15" name="Text 12"/>
          <p:cNvSpPr/>
          <p:nvPr/>
        </p:nvSpPr>
        <p:spPr>
          <a:xfrm>
            <a:off x="457200" y="3474720"/>
            <a:ext cx="8229600" cy="274320"/>
          </a:xfrm>
          <a:prstGeom prst="rect">
            <a:avLst/>
          </a:prstGeom>
          <a:noFill/>
          <a:ln/>
        </p:spPr>
        <p:txBody>
          <a:bodyPr wrap="square" rtlCol="0" anchor="ctr"/>
          <a:lstStyle/>
          <a:p>
            <a:pPr indent="0" marL="0">
              <a:buNone/>
            </a:pPr>
            <a:r>
              <a:rPr lang="en-US" sz="1300" b="1" dirty="0">
                <a:solidFill>
                  <a:srgbClr val="6D2E46"/>
                </a:solidFill>
                <a:latin typeface="Arial" pitchFamily="34" charset="0"/>
                <a:ea typeface="Arial" pitchFamily="34" charset="-122"/>
                <a:cs typeface="Arial" pitchFamily="34" charset="-120"/>
              </a:rPr>
              <a:t>Center Affected Communities</a:t>
            </a:r>
            <a:endParaRPr lang="en-US" sz="1300" dirty="0"/>
          </a:p>
        </p:txBody>
      </p:sp>
      <p:sp>
        <p:nvSpPr>
          <p:cNvPr id="16" name="Shape 13"/>
          <p:cNvSpPr/>
          <p:nvPr/>
        </p:nvSpPr>
        <p:spPr>
          <a:xfrm>
            <a:off x="731520" y="3794760"/>
            <a:ext cx="3657600" cy="320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Text 14"/>
          <p:cNvSpPr/>
          <p:nvPr/>
        </p:nvSpPr>
        <p:spPr>
          <a:xfrm>
            <a:off x="822960" y="3840480"/>
            <a:ext cx="3474720" cy="228600"/>
          </a:xfrm>
          <a:prstGeom prst="rect">
            <a:avLst/>
          </a:prstGeom>
          <a:noFill/>
          <a:ln/>
        </p:spPr>
        <p:txBody>
          <a:bodyPr wrap="square" rtlCol="0" anchor="ctr"/>
          <a:lstStyle/>
          <a:p>
            <a:pPr indent="0" marL="0">
              <a:buNone/>
            </a:pPr>
            <a:r>
              <a:rPr lang="en-US" sz="1000" i="1" dirty="0">
                <a:solidFill>
                  <a:srgbClr val="2D3436"/>
                </a:solidFill>
                <a:latin typeface="Calibri" pitchFamily="34" charset="0"/>
                <a:ea typeface="Calibri" pitchFamily="34" charset="-122"/>
                <a:cs typeface="Calibri" pitchFamily="34" charset="-120"/>
              </a:rPr>
              <a:t>Design programs based on what you think people need</a:t>
            </a:r>
            <a:endParaRPr lang="en-US" sz="1000" dirty="0"/>
          </a:p>
        </p:txBody>
      </p:sp>
      <p:sp>
        <p:nvSpPr>
          <p:cNvPr id="18" name="Shape 15"/>
          <p:cNvSpPr/>
          <p:nvPr/>
        </p:nvSpPr>
        <p:spPr>
          <a:xfrm>
            <a:off x="4754880" y="3794760"/>
            <a:ext cx="3657600" cy="320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Text 16"/>
          <p:cNvSpPr/>
          <p:nvPr/>
        </p:nvSpPr>
        <p:spPr>
          <a:xfrm>
            <a:off x="4846320" y="3840480"/>
            <a:ext cx="3474720" cy="228600"/>
          </a:xfrm>
          <a:prstGeom prst="rect">
            <a:avLst/>
          </a:prstGeom>
          <a:noFill/>
          <a:ln/>
        </p:spPr>
        <p:txBody>
          <a:bodyPr wrap="square" rtlCol="0" anchor="ctr"/>
          <a:lstStyle/>
          <a:p>
            <a:pPr indent="0" marL="0">
              <a:buNone/>
            </a:pPr>
            <a:r>
              <a:rPr lang="en-US" sz="1000" b="1" dirty="0">
                <a:solidFill>
                  <a:srgbClr val="2D3436"/>
                </a:solidFill>
                <a:latin typeface="Calibri" pitchFamily="34" charset="0"/>
                <a:ea typeface="Calibri" pitchFamily="34" charset="-122"/>
                <a:cs typeface="Calibri" pitchFamily="34" charset="-120"/>
              </a:rPr>
              <a:t>Co-create solutions with the communities you serve; they know their needs best</a:t>
            </a:r>
            <a:endParaRPr lang="en-US" sz="1000" dirty="0"/>
          </a:p>
        </p:txBody>
      </p:sp>
      <p:sp>
        <p:nvSpPr>
          <p:cNvPr id="20" name="Text 17"/>
          <p:cNvSpPr/>
          <p:nvPr/>
        </p:nvSpPr>
        <p:spPr>
          <a:xfrm>
            <a:off x="457200" y="4206240"/>
            <a:ext cx="8229600" cy="274320"/>
          </a:xfrm>
          <a:prstGeom prst="rect">
            <a:avLst/>
          </a:prstGeom>
          <a:noFill/>
          <a:ln/>
        </p:spPr>
        <p:txBody>
          <a:bodyPr wrap="square" rtlCol="0" anchor="ctr"/>
          <a:lstStyle/>
          <a:p>
            <a:pPr indent="0" marL="0">
              <a:buNone/>
            </a:pPr>
            <a:r>
              <a:rPr lang="en-US" sz="1300" b="1" dirty="0">
                <a:solidFill>
                  <a:srgbClr val="6D2E46"/>
                </a:solidFill>
                <a:latin typeface="Arial" pitchFamily="34" charset="0"/>
                <a:ea typeface="Arial" pitchFamily="34" charset="-122"/>
                <a:cs typeface="Arial" pitchFamily="34" charset="-120"/>
              </a:rPr>
              <a:t>Challenge Power Structures</a:t>
            </a:r>
            <a:endParaRPr lang="en-US" sz="1300" dirty="0"/>
          </a:p>
        </p:txBody>
      </p:sp>
      <p:sp>
        <p:nvSpPr>
          <p:cNvPr id="21" name="Shape 18"/>
          <p:cNvSpPr/>
          <p:nvPr/>
        </p:nvSpPr>
        <p:spPr>
          <a:xfrm>
            <a:off x="731520" y="4526280"/>
            <a:ext cx="3657600" cy="320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Text 19"/>
          <p:cNvSpPr/>
          <p:nvPr/>
        </p:nvSpPr>
        <p:spPr>
          <a:xfrm>
            <a:off x="822960" y="4572000"/>
            <a:ext cx="3474720" cy="228600"/>
          </a:xfrm>
          <a:prstGeom prst="rect">
            <a:avLst/>
          </a:prstGeom>
          <a:noFill/>
          <a:ln/>
        </p:spPr>
        <p:txBody>
          <a:bodyPr wrap="square" rtlCol="0" anchor="ctr"/>
          <a:lstStyle/>
          <a:p>
            <a:pPr indent="0" marL="0">
              <a:buNone/>
            </a:pPr>
            <a:r>
              <a:rPr lang="en-US" sz="1000" i="1" dirty="0">
                <a:solidFill>
                  <a:srgbClr val="2D3436"/>
                </a:solidFill>
                <a:latin typeface="Calibri" pitchFamily="34" charset="0"/>
                <a:ea typeface="Calibri" pitchFamily="34" charset="-122"/>
                <a:cs typeface="Calibri" pitchFamily="34" charset="-120"/>
              </a:rPr>
              <a:t>Accept the status quo and work within existing systems</a:t>
            </a:r>
            <a:endParaRPr lang="en-US" sz="1000" dirty="0"/>
          </a:p>
        </p:txBody>
      </p:sp>
      <p:sp>
        <p:nvSpPr>
          <p:cNvPr id="23" name="Shape 20"/>
          <p:cNvSpPr/>
          <p:nvPr/>
        </p:nvSpPr>
        <p:spPr>
          <a:xfrm>
            <a:off x="4754880" y="4526280"/>
            <a:ext cx="3657600" cy="320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Text 21"/>
          <p:cNvSpPr/>
          <p:nvPr/>
        </p:nvSpPr>
        <p:spPr>
          <a:xfrm>
            <a:off x="4846320" y="4572000"/>
            <a:ext cx="3474720" cy="228600"/>
          </a:xfrm>
          <a:prstGeom prst="rect">
            <a:avLst/>
          </a:prstGeom>
          <a:noFill/>
          <a:ln/>
        </p:spPr>
        <p:txBody>
          <a:bodyPr wrap="square" rtlCol="0" anchor="ctr"/>
          <a:lstStyle/>
          <a:p>
            <a:pPr indent="0" marL="0">
              <a:buNone/>
            </a:pPr>
            <a:r>
              <a:rPr lang="en-US" sz="1000" b="1" dirty="0">
                <a:solidFill>
                  <a:srgbClr val="2D3436"/>
                </a:solidFill>
                <a:latin typeface="Calibri" pitchFamily="34" charset="0"/>
                <a:ea typeface="Calibri" pitchFamily="34" charset="-122"/>
                <a:cs typeface="Calibri" pitchFamily="34" charset="-120"/>
              </a:rPr>
              <a:t>Question why certain groups are excluded and push for systemic change</a:t>
            </a:r>
            <a:endParaRPr lang="en-US" sz="1000" dirty="0"/>
          </a:p>
        </p:txBody>
      </p:sp>
      <p:sp>
        <p:nvSpPr>
          <p:cNvPr id="25" name="Text 22"/>
          <p:cNvSpPr/>
          <p:nvPr/>
        </p:nvSpPr>
        <p:spPr>
          <a:xfrm>
            <a:off x="457200" y="4937760"/>
            <a:ext cx="8229600" cy="274320"/>
          </a:xfrm>
          <a:prstGeom prst="rect">
            <a:avLst/>
          </a:prstGeom>
          <a:noFill/>
          <a:ln/>
        </p:spPr>
        <p:txBody>
          <a:bodyPr wrap="square" rtlCol="0" anchor="ctr"/>
          <a:lstStyle/>
          <a:p>
            <a:pPr indent="0" marL="0">
              <a:buNone/>
            </a:pPr>
            <a:r>
              <a:rPr lang="en-US" sz="1300" b="1" dirty="0">
                <a:solidFill>
                  <a:srgbClr val="6D2E46"/>
                </a:solidFill>
                <a:latin typeface="Arial" pitchFamily="34" charset="0"/>
                <a:ea typeface="Arial" pitchFamily="34" charset="-122"/>
                <a:cs typeface="Arial" pitchFamily="34" charset="-120"/>
              </a:rPr>
              <a:t>Promote Dignity &amp; Agency</a:t>
            </a:r>
            <a:endParaRPr lang="en-US" sz="1300" dirty="0"/>
          </a:p>
        </p:txBody>
      </p:sp>
      <p:sp>
        <p:nvSpPr>
          <p:cNvPr id="26" name="Shape 23"/>
          <p:cNvSpPr/>
          <p:nvPr/>
        </p:nvSpPr>
        <p:spPr>
          <a:xfrm>
            <a:off x="731520" y="5257800"/>
            <a:ext cx="3657600" cy="320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7" name="Text 24"/>
          <p:cNvSpPr/>
          <p:nvPr/>
        </p:nvSpPr>
        <p:spPr>
          <a:xfrm>
            <a:off x="822960" y="5303520"/>
            <a:ext cx="3474720" cy="228600"/>
          </a:xfrm>
          <a:prstGeom prst="rect">
            <a:avLst/>
          </a:prstGeom>
          <a:noFill/>
          <a:ln/>
        </p:spPr>
        <p:txBody>
          <a:bodyPr wrap="square" rtlCol="0" anchor="ctr"/>
          <a:lstStyle/>
          <a:p>
            <a:pPr indent="0" marL="0">
              <a:buNone/>
            </a:pPr>
            <a:r>
              <a:rPr lang="en-US" sz="1000" i="1" dirty="0">
                <a:solidFill>
                  <a:srgbClr val="2D3436"/>
                </a:solidFill>
                <a:latin typeface="Calibri" pitchFamily="34" charset="0"/>
                <a:ea typeface="Calibri" pitchFamily="34" charset="-122"/>
                <a:cs typeface="Calibri" pitchFamily="34" charset="-120"/>
              </a:rPr>
              <a:t>Help people survive ('save' them)</a:t>
            </a:r>
            <a:endParaRPr lang="en-US" sz="1000" dirty="0"/>
          </a:p>
        </p:txBody>
      </p:sp>
      <p:sp>
        <p:nvSpPr>
          <p:cNvPr id="28" name="Shape 25"/>
          <p:cNvSpPr/>
          <p:nvPr/>
        </p:nvSpPr>
        <p:spPr>
          <a:xfrm>
            <a:off x="4754880" y="5257800"/>
            <a:ext cx="3657600" cy="320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9" name="Text 26"/>
          <p:cNvSpPr/>
          <p:nvPr/>
        </p:nvSpPr>
        <p:spPr>
          <a:xfrm>
            <a:off x="4846320" y="5303520"/>
            <a:ext cx="3474720" cy="228600"/>
          </a:xfrm>
          <a:prstGeom prst="rect">
            <a:avLst/>
          </a:prstGeom>
          <a:noFill/>
          <a:ln/>
        </p:spPr>
        <p:txBody>
          <a:bodyPr wrap="square" rtlCol="0" anchor="ctr"/>
          <a:lstStyle/>
          <a:p>
            <a:pPr indent="0" marL="0">
              <a:buNone/>
            </a:pPr>
            <a:r>
              <a:rPr lang="en-US" sz="1000" b="1" dirty="0">
                <a:solidFill>
                  <a:srgbClr val="2D3436"/>
                </a:solidFill>
                <a:latin typeface="Calibri" pitchFamily="34" charset="0"/>
                <a:ea typeface="Calibri" pitchFamily="34" charset="-122"/>
                <a:cs typeface="Calibri" pitchFamily="34" charset="-120"/>
              </a:rPr>
              <a:t>Empower people to advocate for themselves and change their own conditions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DESIGNING INCLUSIVE PROGRAMS</a:t>
            </a:r>
            <a:endParaRPr lang="en-US" sz="3600" dirty="0"/>
          </a:p>
        </p:txBody>
      </p:sp>
      <p:sp>
        <p:nvSpPr>
          <p:cNvPr id="3" name="Text 1"/>
          <p:cNvSpPr/>
          <p:nvPr/>
        </p:nvSpPr>
        <p:spPr>
          <a:xfrm>
            <a:off x="731520" y="1097280"/>
            <a:ext cx="7680960" cy="54864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Inclusive program design means intentionally creating initiatives that are accessible, relevant, and beneficial to diverse populations—including youth, girls, persons with disabilities, and marginalized groups. It requires going beyond one-size-fits-all approaches.</a:t>
            </a:r>
            <a:endParaRPr lang="en-US" sz="1400" dirty="0"/>
          </a:p>
        </p:txBody>
      </p:sp>
      <p:sp>
        <p:nvSpPr>
          <p:cNvPr id="4" name="Text 2"/>
          <p:cNvSpPr/>
          <p:nvPr/>
        </p:nvSpPr>
        <p:spPr>
          <a:xfrm>
            <a:off x="731520" y="182880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THE INCLUSIVE DESIGN PROCESS</a:t>
            </a:r>
            <a:endParaRPr lang="en-US" sz="1600" dirty="0"/>
          </a:p>
        </p:txBody>
      </p:sp>
      <p:sp>
        <p:nvSpPr>
          <p:cNvPr id="5" name="Shape 3"/>
          <p:cNvSpPr/>
          <p:nvPr/>
        </p:nvSpPr>
        <p:spPr>
          <a:xfrm>
            <a:off x="457200" y="224028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457200" y="2240280"/>
            <a:ext cx="4206240" cy="274320"/>
          </a:xfrm>
          <a:prstGeom prst="rect">
            <a:avLst/>
          </a:prstGeom>
          <a:solidFill>
            <a:srgbClr val="6D2E46"/>
          </a:solidFill>
          <a:ln/>
        </p:spPr>
      </p:sp>
      <p:sp>
        <p:nvSpPr>
          <p:cNvPr id="7" name="Text 5"/>
          <p:cNvSpPr/>
          <p:nvPr/>
        </p:nvSpPr>
        <p:spPr>
          <a:xfrm>
            <a:off x="640080" y="228600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 RESEARCH &amp; LISTEN</a:t>
            </a:r>
            <a:endParaRPr lang="en-US" sz="1200" dirty="0"/>
          </a:p>
        </p:txBody>
      </p:sp>
      <p:sp>
        <p:nvSpPr>
          <p:cNvPr id="8" name="Text 6"/>
          <p:cNvSpPr/>
          <p:nvPr/>
        </p:nvSpPr>
        <p:spPr>
          <a:xfrm>
            <a:off x="640080" y="2560320"/>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Conduct needs assessments with target populations. Ask: What barriers do you face? What solutions do you envision?</a:t>
            </a:r>
            <a:endParaRPr lang="en-US" sz="1000" dirty="0"/>
          </a:p>
        </p:txBody>
      </p:sp>
      <p:sp>
        <p:nvSpPr>
          <p:cNvPr id="9" name="Text 7"/>
          <p:cNvSpPr/>
          <p:nvPr/>
        </p:nvSpPr>
        <p:spPr>
          <a:xfrm>
            <a:off x="640080" y="2907792"/>
            <a:ext cx="3840480" cy="201168"/>
          </a:xfrm>
          <a:prstGeom prst="rect">
            <a:avLst/>
          </a:prstGeom>
          <a:noFill/>
          <a:ln/>
        </p:spPr>
        <p:txBody>
          <a:bodyPr wrap="square" rtlCol="0" anchor="ctr"/>
          <a:lstStyle/>
          <a:p>
            <a:pPr indent="0" marL="0">
              <a:buNone/>
            </a:pPr>
            <a:r>
              <a:rPr lang="en-US" sz="900" dirty="0">
                <a:solidFill>
                  <a:srgbClr val="D4A574"/>
                </a:solidFill>
                <a:latin typeface="Calibri" pitchFamily="34" charset="0"/>
                <a:ea typeface="Calibri" pitchFamily="34" charset="-122"/>
                <a:cs typeface="Calibri" pitchFamily="34" charset="-120"/>
              </a:rPr>
              <a:t>💡 </a:t>
            </a:r>
            <a:pPr indent="0" marL="0">
              <a:buNone/>
            </a:pPr>
            <a:r>
              <a:rPr lang="en-US" sz="900" i="1" dirty="0">
                <a:solidFill>
                  <a:srgbClr val="D4A574"/>
                </a:solidFill>
                <a:latin typeface="Calibri" pitchFamily="34" charset="0"/>
                <a:ea typeface="Calibri" pitchFamily="34" charset="-122"/>
                <a:cs typeface="Calibri" pitchFamily="34" charset="-120"/>
              </a:rPr>
              <a:t>Use multiple methods (surveys, focus groups, one-on-ones) to reach different people</a:t>
            </a:r>
            <a:endParaRPr lang="en-US" sz="900" dirty="0"/>
          </a:p>
        </p:txBody>
      </p:sp>
      <p:sp>
        <p:nvSpPr>
          <p:cNvPr id="10" name="Shape 8"/>
          <p:cNvSpPr/>
          <p:nvPr/>
        </p:nvSpPr>
        <p:spPr>
          <a:xfrm>
            <a:off x="4937760" y="224028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9"/>
          <p:cNvSpPr/>
          <p:nvPr/>
        </p:nvSpPr>
        <p:spPr>
          <a:xfrm>
            <a:off x="4937760" y="2240280"/>
            <a:ext cx="4206240" cy="274320"/>
          </a:xfrm>
          <a:prstGeom prst="rect">
            <a:avLst/>
          </a:prstGeom>
          <a:solidFill>
            <a:srgbClr val="6D2E46"/>
          </a:solidFill>
          <a:ln/>
        </p:spPr>
      </p:sp>
      <p:sp>
        <p:nvSpPr>
          <p:cNvPr id="12" name="Text 10"/>
          <p:cNvSpPr/>
          <p:nvPr/>
        </p:nvSpPr>
        <p:spPr>
          <a:xfrm>
            <a:off x="5120640" y="228600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 INVOLVE STAKEHOLDERS</a:t>
            </a:r>
            <a:endParaRPr lang="en-US" sz="1200" dirty="0"/>
          </a:p>
        </p:txBody>
      </p:sp>
      <p:sp>
        <p:nvSpPr>
          <p:cNvPr id="13" name="Text 11"/>
          <p:cNvSpPr/>
          <p:nvPr/>
        </p:nvSpPr>
        <p:spPr>
          <a:xfrm>
            <a:off x="5120640" y="2560320"/>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Include representatives from target groups in design teams. Ensure they have real decision-making power, not token participation.</a:t>
            </a:r>
            <a:endParaRPr lang="en-US" sz="1000" dirty="0"/>
          </a:p>
        </p:txBody>
      </p:sp>
      <p:sp>
        <p:nvSpPr>
          <p:cNvPr id="14" name="Text 12"/>
          <p:cNvSpPr/>
          <p:nvPr/>
        </p:nvSpPr>
        <p:spPr>
          <a:xfrm>
            <a:off x="5120640" y="2907792"/>
            <a:ext cx="3840480" cy="201168"/>
          </a:xfrm>
          <a:prstGeom prst="rect">
            <a:avLst/>
          </a:prstGeom>
          <a:noFill/>
          <a:ln/>
        </p:spPr>
        <p:txBody>
          <a:bodyPr wrap="square" rtlCol="0" anchor="ctr"/>
          <a:lstStyle/>
          <a:p>
            <a:pPr indent="0" marL="0">
              <a:buNone/>
            </a:pPr>
            <a:r>
              <a:rPr lang="en-US" sz="900" dirty="0">
                <a:solidFill>
                  <a:srgbClr val="D4A574"/>
                </a:solidFill>
                <a:latin typeface="Calibri" pitchFamily="34" charset="0"/>
                <a:ea typeface="Calibri" pitchFamily="34" charset="-122"/>
                <a:cs typeface="Calibri" pitchFamily="34" charset="-120"/>
              </a:rPr>
              <a:t>💡 </a:t>
            </a:r>
            <a:pPr indent="0" marL="0">
              <a:buNone/>
            </a:pPr>
            <a:r>
              <a:rPr lang="en-US" sz="900" i="1" dirty="0">
                <a:solidFill>
                  <a:srgbClr val="D4A574"/>
                </a:solidFill>
                <a:latin typeface="Calibri" pitchFamily="34" charset="0"/>
                <a:ea typeface="Calibri" pitchFamily="34" charset="-122"/>
                <a:cs typeface="Calibri" pitchFamily="34" charset="-120"/>
              </a:rPr>
              <a:t>Pay people for their expertise and time—especially those from marginalized communities</a:t>
            </a:r>
            <a:endParaRPr lang="en-US" sz="900" dirty="0"/>
          </a:p>
        </p:txBody>
      </p:sp>
      <p:sp>
        <p:nvSpPr>
          <p:cNvPr id="15" name="Shape 13"/>
          <p:cNvSpPr/>
          <p:nvPr/>
        </p:nvSpPr>
        <p:spPr>
          <a:xfrm>
            <a:off x="457200" y="324612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Shape 14"/>
          <p:cNvSpPr/>
          <p:nvPr/>
        </p:nvSpPr>
        <p:spPr>
          <a:xfrm>
            <a:off x="457200" y="3246120"/>
            <a:ext cx="4206240" cy="274320"/>
          </a:xfrm>
          <a:prstGeom prst="rect">
            <a:avLst/>
          </a:prstGeom>
          <a:solidFill>
            <a:srgbClr val="6D2E46"/>
          </a:solidFill>
          <a:ln/>
        </p:spPr>
      </p:sp>
      <p:sp>
        <p:nvSpPr>
          <p:cNvPr id="17" name="Text 15"/>
          <p:cNvSpPr/>
          <p:nvPr/>
        </p:nvSpPr>
        <p:spPr>
          <a:xfrm>
            <a:off x="640080" y="329184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 IDENTIFY BARRIERS</a:t>
            </a:r>
            <a:endParaRPr lang="en-US" sz="1200" dirty="0"/>
          </a:p>
        </p:txBody>
      </p:sp>
      <p:sp>
        <p:nvSpPr>
          <p:cNvPr id="18" name="Text 16"/>
          <p:cNvSpPr/>
          <p:nvPr/>
        </p:nvSpPr>
        <p:spPr>
          <a:xfrm>
            <a:off x="640080" y="3566160"/>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Map specific obstacles preventing participation: physical (inaccessible venues), financial (can't afford transport), social (gender norms), informational (language/literacy).</a:t>
            </a:r>
            <a:endParaRPr lang="en-US" sz="1000" dirty="0"/>
          </a:p>
        </p:txBody>
      </p:sp>
      <p:sp>
        <p:nvSpPr>
          <p:cNvPr id="19" name="Text 17"/>
          <p:cNvSpPr/>
          <p:nvPr/>
        </p:nvSpPr>
        <p:spPr>
          <a:xfrm>
            <a:off x="640080" y="3913632"/>
            <a:ext cx="3840480" cy="201168"/>
          </a:xfrm>
          <a:prstGeom prst="rect">
            <a:avLst/>
          </a:prstGeom>
          <a:noFill/>
          <a:ln/>
        </p:spPr>
        <p:txBody>
          <a:bodyPr wrap="square" rtlCol="0" anchor="ctr"/>
          <a:lstStyle/>
          <a:p>
            <a:pPr indent="0" marL="0">
              <a:buNone/>
            </a:pPr>
            <a:r>
              <a:rPr lang="en-US" sz="900" dirty="0">
                <a:solidFill>
                  <a:srgbClr val="D4A574"/>
                </a:solidFill>
                <a:latin typeface="Calibri" pitchFamily="34" charset="0"/>
                <a:ea typeface="Calibri" pitchFamily="34" charset="-122"/>
                <a:cs typeface="Calibri" pitchFamily="34" charset="-120"/>
              </a:rPr>
              <a:t>💡 </a:t>
            </a:r>
            <a:pPr indent="0" marL="0">
              <a:buNone/>
            </a:pPr>
            <a:r>
              <a:rPr lang="en-US" sz="900" i="1" dirty="0">
                <a:solidFill>
                  <a:srgbClr val="D4A574"/>
                </a:solidFill>
                <a:latin typeface="Calibri" pitchFamily="34" charset="0"/>
                <a:ea typeface="Calibri" pitchFamily="34" charset="-122"/>
                <a:cs typeface="Calibri" pitchFamily="34" charset="-120"/>
              </a:rPr>
              <a:t>Ask 'Who is NOT here and why?' at every stage</a:t>
            </a:r>
            <a:endParaRPr lang="en-US" sz="900" dirty="0"/>
          </a:p>
        </p:txBody>
      </p:sp>
      <p:sp>
        <p:nvSpPr>
          <p:cNvPr id="20" name="Shape 18"/>
          <p:cNvSpPr/>
          <p:nvPr/>
        </p:nvSpPr>
        <p:spPr>
          <a:xfrm>
            <a:off x="4937760" y="324612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1" name="Shape 19"/>
          <p:cNvSpPr/>
          <p:nvPr/>
        </p:nvSpPr>
        <p:spPr>
          <a:xfrm>
            <a:off x="4937760" y="3246120"/>
            <a:ext cx="4206240" cy="274320"/>
          </a:xfrm>
          <a:prstGeom prst="rect">
            <a:avLst/>
          </a:prstGeom>
          <a:solidFill>
            <a:srgbClr val="6D2E46"/>
          </a:solidFill>
          <a:ln/>
        </p:spPr>
      </p:sp>
      <p:sp>
        <p:nvSpPr>
          <p:cNvPr id="22" name="Text 20"/>
          <p:cNvSpPr/>
          <p:nvPr/>
        </p:nvSpPr>
        <p:spPr>
          <a:xfrm>
            <a:off x="5120640" y="329184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4. BUILD IN SUPPORTS</a:t>
            </a:r>
            <a:endParaRPr lang="en-US" sz="1200" dirty="0"/>
          </a:p>
        </p:txBody>
      </p:sp>
      <p:sp>
        <p:nvSpPr>
          <p:cNvPr id="23" name="Text 21"/>
          <p:cNvSpPr/>
          <p:nvPr/>
        </p:nvSpPr>
        <p:spPr>
          <a:xfrm>
            <a:off x="5120640" y="3566160"/>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Design accommodations from the start: childcare, transportation, flexible scheduling, accessible materials, language interpretation, stipends.</a:t>
            </a:r>
            <a:endParaRPr lang="en-US" sz="1000" dirty="0"/>
          </a:p>
        </p:txBody>
      </p:sp>
      <p:sp>
        <p:nvSpPr>
          <p:cNvPr id="24" name="Text 22"/>
          <p:cNvSpPr/>
          <p:nvPr/>
        </p:nvSpPr>
        <p:spPr>
          <a:xfrm>
            <a:off x="5120640" y="3913632"/>
            <a:ext cx="3840480" cy="201168"/>
          </a:xfrm>
          <a:prstGeom prst="rect">
            <a:avLst/>
          </a:prstGeom>
          <a:noFill/>
          <a:ln/>
        </p:spPr>
        <p:txBody>
          <a:bodyPr wrap="square" rtlCol="0" anchor="ctr"/>
          <a:lstStyle/>
          <a:p>
            <a:pPr indent="0" marL="0">
              <a:buNone/>
            </a:pPr>
            <a:r>
              <a:rPr lang="en-US" sz="900" dirty="0">
                <a:solidFill>
                  <a:srgbClr val="D4A574"/>
                </a:solidFill>
                <a:latin typeface="Calibri" pitchFamily="34" charset="0"/>
                <a:ea typeface="Calibri" pitchFamily="34" charset="-122"/>
                <a:cs typeface="Calibri" pitchFamily="34" charset="-120"/>
              </a:rPr>
              <a:t>💡 </a:t>
            </a:r>
            <a:pPr indent="0" marL="0">
              <a:buNone/>
            </a:pPr>
            <a:r>
              <a:rPr lang="en-US" sz="900" i="1" dirty="0">
                <a:solidFill>
                  <a:srgbClr val="D4A574"/>
                </a:solidFill>
                <a:latin typeface="Calibri" pitchFamily="34" charset="0"/>
                <a:ea typeface="Calibri" pitchFamily="34" charset="-122"/>
                <a:cs typeface="Calibri" pitchFamily="34" charset="-120"/>
              </a:rPr>
              <a:t>Budget for inclusion—it's not an add-on, it's essential</a:t>
            </a:r>
            <a:endParaRPr lang="en-US" sz="900" dirty="0"/>
          </a:p>
        </p:txBody>
      </p:sp>
      <p:sp>
        <p:nvSpPr>
          <p:cNvPr id="25" name="Shape 23"/>
          <p:cNvSpPr/>
          <p:nvPr/>
        </p:nvSpPr>
        <p:spPr>
          <a:xfrm>
            <a:off x="457200" y="425196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Shape 24"/>
          <p:cNvSpPr/>
          <p:nvPr/>
        </p:nvSpPr>
        <p:spPr>
          <a:xfrm>
            <a:off x="457200" y="4251960"/>
            <a:ext cx="4206240" cy="274320"/>
          </a:xfrm>
          <a:prstGeom prst="rect">
            <a:avLst/>
          </a:prstGeom>
          <a:solidFill>
            <a:srgbClr val="6D2E46"/>
          </a:solidFill>
          <a:ln/>
        </p:spPr>
      </p:sp>
      <p:sp>
        <p:nvSpPr>
          <p:cNvPr id="27" name="Text 25"/>
          <p:cNvSpPr/>
          <p:nvPr/>
        </p:nvSpPr>
        <p:spPr>
          <a:xfrm>
            <a:off x="640080" y="429768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5. TEST &amp; ADAPT</a:t>
            </a:r>
            <a:endParaRPr lang="en-US" sz="1200" dirty="0"/>
          </a:p>
        </p:txBody>
      </p:sp>
      <p:sp>
        <p:nvSpPr>
          <p:cNvPr id="28" name="Text 26"/>
          <p:cNvSpPr/>
          <p:nvPr/>
        </p:nvSpPr>
        <p:spPr>
          <a:xfrm>
            <a:off x="640080" y="4572000"/>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Pilot with small groups representing diverse backgrounds. Collect feedback and iterate before scaling.</a:t>
            </a:r>
            <a:endParaRPr lang="en-US" sz="1000" dirty="0"/>
          </a:p>
        </p:txBody>
      </p:sp>
      <p:sp>
        <p:nvSpPr>
          <p:cNvPr id="29" name="Text 27"/>
          <p:cNvSpPr/>
          <p:nvPr/>
        </p:nvSpPr>
        <p:spPr>
          <a:xfrm>
            <a:off x="640080" y="4919472"/>
            <a:ext cx="3840480" cy="201168"/>
          </a:xfrm>
          <a:prstGeom prst="rect">
            <a:avLst/>
          </a:prstGeom>
          <a:noFill/>
          <a:ln/>
        </p:spPr>
        <p:txBody>
          <a:bodyPr wrap="square" rtlCol="0" anchor="ctr"/>
          <a:lstStyle/>
          <a:p>
            <a:pPr indent="0" marL="0">
              <a:buNone/>
            </a:pPr>
            <a:r>
              <a:rPr lang="en-US" sz="900" dirty="0">
                <a:solidFill>
                  <a:srgbClr val="D4A574"/>
                </a:solidFill>
                <a:latin typeface="Calibri" pitchFamily="34" charset="0"/>
                <a:ea typeface="Calibri" pitchFamily="34" charset="-122"/>
                <a:cs typeface="Calibri" pitchFamily="34" charset="-120"/>
              </a:rPr>
              <a:t>💡 </a:t>
            </a:r>
            <a:pPr indent="0" marL="0">
              <a:buNone/>
            </a:pPr>
            <a:r>
              <a:rPr lang="en-US" sz="900" i="1" dirty="0">
                <a:solidFill>
                  <a:srgbClr val="D4A574"/>
                </a:solidFill>
                <a:latin typeface="Calibri" pitchFamily="34" charset="0"/>
                <a:ea typeface="Calibri" pitchFamily="34" charset="-122"/>
                <a:cs typeface="Calibri" pitchFamily="34" charset="-120"/>
              </a:rPr>
              <a:t>Create safe channels for honest feedback—people need to trust you'll listen</a:t>
            </a:r>
            <a:endParaRPr lang="en-US" sz="900" dirty="0"/>
          </a:p>
        </p:txBody>
      </p:sp>
      <p:sp>
        <p:nvSpPr>
          <p:cNvPr id="30" name="Shape 28"/>
          <p:cNvSpPr/>
          <p:nvPr/>
        </p:nvSpPr>
        <p:spPr>
          <a:xfrm>
            <a:off x="4937760" y="425196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1" name="Shape 29"/>
          <p:cNvSpPr/>
          <p:nvPr/>
        </p:nvSpPr>
        <p:spPr>
          <a:xfrm>
            <a:off x="4937760" y="4251960"/>
            <a:ext cx="4206240" cy="274320"/>
          </a:xfrm>
          <a:prstGeom prst="rect">
            <a:avLst/>
          </a:prstGeom>
          <a:solidFill>
            <a:srgbClr val="6D2E46"/>
          </a:solidFill>
          <a:ln/>
        </p:spPr>
      </p:sp>
      <p:sp>
        <p:nvSpPr>
          <p:cNvPr id="32" name="Text 30"/>
          <p:cNvSpPr/>
          <p:nvPr/>
        </p:nvSpPr>
        <p:spPr>
          <a:xfrm>
            <a:off x="5120640" y="429768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6. MONITOR INCLUSION</a:t>
            </a:r>
            <a:endParaRPr lang="en-US" sz="1200" dirty="0"/>
          </a:p>
        </p:txBody>
      </p:sp>
      <p:sp>
        <p:nvSpPr>
          <p:cNvPr id="33" name="Text 31"/>
          <p:cNvSpPr/>
          <p:nvPr/>
        </p:nvSpPr>
        <p:spPr>
          <a:xfrm>
            <a:off x="5120640" y="4572000"/>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Track who is participating (disaggregate by gender, disability, age, location). If certain groups are missing, adjust your approach.</a:t>
            </a:r>
            <a:endParaRPr lang="en-US" sz="1000" dirty="0"/>
          </a:p>
        </p:txBody>
      </p:sp>
      <p:sp>
        <p:nvSpPr>
          <p:cNvPr id="34" name="Text 32"/>
          <p:cNvSpPr/>
          <p:nvPr/>
        </p:nvSpPr>
        <p:spPr>
          <a:xfrm>
            <a:off x="5120640" y="4919472"/>
            <a:ext cx="3840480" cy="201168"/>
          </a:xfrm>
          <a:prstGeom prst="rect">
            <a:avLst/>
          </a:prstGeom>
          <a:noFill/>
          <a:ln/>
        </p:spPr>
        <p:txBody>
          <a:bodyPr wrap="square" rtlCol="0" anchor="ctr"/>
          <a:lstStyle/>
          <a:p>
            <a:pPr indent="0" marL="0">
              <a:buNone/>
            </a:pPr>
            <a:r>
              <a:rPr lang="en-US" sz="900" dirty="0">
                <a:solidFill>
                  <a:srgbClr val="D4A574"/>
                </a:solidFill>
                <a:latin typeface="Calibri" pitchFamily="34" charset="0"/>
                <a:ea typeface="Calibri" pitchFamily="34" charset="-122"/>
                <a:cs typeface="Calibri" pitchFamily="34" charset="-120"/>
              </a:rPr>
              <a:t>💡 </a:t>
            </a:r>
            <a:pPr indent="0" marL="0">
              <a:buNone/>
            </a:pPr>
            <a:r>
              <a:rPr lang="en-US" sz="900" i="1" dirty="0">
                <a:solidFill>
                  <a:srgbClr val="D4A574"/>
                </a:solidFill>
                <a:latin typeface="Calibri" pitchFamily="34" charset="0"/>
                <a:ea typeface="Calibri" pitchFamily="34" charset="-122"/>
                <a:cs typeface="Calibri" pitchFamily="34" charset="-120"/>
              </a:rPr>
              <a:t>Set targets: e.g., 50% girls, 10% persons with disabilities (aligned with Rwanda's demographics)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REACHING MARGINALIZED YOUTH</a:t>
            </a:r>
            <a:endParaRPr lang="en-US" sz="3600" dirty="0"/>
          </a:p>
        </p:txBody>
      </p:sp>
      <p:sp>
        <p:nvSpPr>
          <p:cNvPr id="3" name="Text 1"/>
          <p:cNvSpPr/>
          <p:nvPr/>
        </p:nvSpPr>
        <p:spPr>
          <a:xfrm>
            <a:off x="731520" y="1097280"/>
            <a:ext cx="7680960" cy="45720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Some youth face multiple, intersecting barriers—poverty, disability, gender discrimination, geographic isolation, refugee/migrant status. Programs must be intentionally designed to reach those furthest behind.</a:t>
            </a:r>
            <a:endParaRPr lang="en-US" sz="1400" dirty="0"/>
          </a:p>
        </p:txBody>
      </p:sp>
      <p:sp>
        <p:nvSpPr>
          <p:cNvPr id="4" name="Shape 2"/>
          <p:cNvSpPr/>
          <p:nvPr/>
        </p:nvSpPr>
        <p:spPr>
          <a:xfrm>
            <a:off x="457200" y="1691640"/>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691640"/>
            <a:ext cx="1828800" cy="548640"/>
          </a:xfrm>
          <a:prstGeom prst="rect">
            <a:avLst/>
          </a:prstGeom>
          <a:solidFill>
            <a:srgbClr val="A26769"/>
          </a:solidFill>
          <a:ln/>
        </p:spPr>
      </p:sp>
      <p:sp>
        <p:nvSpPr>
          <p:cNvPr id="6" name="Text 4"/>
          <p:cNvSpPr/>
          <p:nvPr/>
        </p:nvSpPr>
        <p:spPr>
          <a:xfrm>
            <a:off x="548640" y="1783080"/>
            <a:ext cx="164592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Out-of-School Youth</a:t>
            </a:r>
            <a:endParaRPr lang="en-US" sz="1100" dirty="0"/>
          </a:p>
        </p:txBody>
      </p:sp>
      <p:sp>
        <p:nvSpPr>
          <p:cNvPr id="7" name="Text 5"/>
          <p:cNvSpPr/>
          <p:nvPr/>
        </p:nvSpPr>
        <p:spPr>
          <a:xfrm>
            <a:off x="2468880" y="1764792"/>
            <a:ext cx="2743200" cy="201168"/>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Barriers: </a:t>
            </a:r>
            <a:pPr indent="0" marL="0">
              <a:buNone/>
            </a:pPr>
            <a:r>
              <a:rPr lang="en-US" sz="900" dirty="0">
                <a:solidFill>
                  <a:srgbClr val="2D3436"/>
                </a:solidFill>
                <a:latin typeface="Calibri" pitchFamily="34" charset="0"/>
                <a:ea typeface="Calibri" pitchFamily="34" charset="-122"/>
                <a:cs typeface="Calibri" pitchFamily="34" charset="-120"/>
              </a:rPr>
              <a:t>Lack of education, economic pressure, stigma</a:t>
            </a:r>
            <a:endParaRPr lang="en-US" sz="900" dirty="0"/>
          </a:p>
        </p:txBody>
      </p:sp>
      <p:sp>
        <p:nvSpPr>
          <p:cNvPr id="8" name="Text 6"/>
          <p:cNvSpPr/>
          <p:nvPr/>
        </p:nvSpPr>
        <p:spPr>
          <a:xfrm>
            <a:off x="2468880" y="1984248"/>
            <a:ext cx="6035040" cy="210312"/>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Strategies: </a:t>
            </a:r>
            <a:pPr indent="0" marL="0">
              <a:buNone/>
            </a:pPr>
            <a:r>
              <a:rPr lang="en-US" sz="900" dirty="0">
                <a:solidFill>
                  <a:srgbClr val="2D3436"/>
                </a:solidFill>
                <a:latin typeface="Calibri" pitchFamily="34" charset="0"/>
                <a:ea typeface="Calibri" pitchFamily="34" charset="-122"/>
                <a:cs typeface="Calibri" pitchFamily="34" charset="-120"/>
              </a:rPr>
              <a:t>Offer flexible, non-formal learning (evening/weekend). Provide stipends to offset lost income. Recognize prior learning and life skills.</a:t>
            </a:r>
            <a:endParaRPr lang="en-US" sz="900" dirty="0"/>
          </a:p>
        </p:txBody>
      </p:sp>
      <p:sp>
        <p:nvSpPr>
          <p:cNvPr id="9" name="Shape 7"/>
          <p:cNvSpPr/>
          <p:nvPr/>
        </p:nvSpPr>
        <p:spPr>
          <a:xfrm>
            <a:off x="457200" y="2313432"/>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57200" y="2313432"/>
            <a:ext cx="1828800" cy="548640"/>
          </a:xfrm>
          <a:prstGeom prst="rect">
            <a:avLst/>
          </a:prstGeom>
          <a:solidFill>
            <a:srgbClr val="A26769"/>
          </a:solidFill>
          <a:ln/>
        </p:spPr>
      </p:sp>
      <p:sp>
        <p:nvSpPr>
          <p:cNvPr id="11" name="Text 9"/>
          <p:cNvSpPr/>
          <p:nvPr/>
        </p:nvSpPr>
        <p:spPr>
          <a:xfrm>
            <a:off x="548640" y="2404872"/>
            <a:ext cx="164592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Rural &amp; Remote Youth</a:t>
            </a:r>
            <a:endParaRPr lang="en-US" sz="1100" dirty="0"/>
          </a:p>
        </p:txBody>
      </p:sp>
      <p:sp>
        <p:nvSpPr>
          <p:cNvPr id="12" name="Text 10"/>
          <p:cNvSpPr/>
          <p:nvPr/>
        </p:nvSpPr>
        <p:spPr>
          <a:xfrm>
            <a:off x="2468880" y="2386584"/>
            <a:ext cx="2743200" cy="201168"/>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Barriers: </a:t>
            </a:r>
            <a:pPr indent="0" marL="0">
              <a:buNone/>
            </a:pPr>
            <a:r>
              <a:rPr lang="en-US" sz="900" dirty="0">
                <a:solidFill>
                  <a:srgbClr val="2D3436"/>
                </a:solidFill>
                <a:latin typeface="Calibri" pitchFamily="34" charset="0"/>
                <a:ea typeface="Calibri" pitchFamily="34" charset="-122"/>
                <a:cs typeface="Calibri" pitchFamily="34" charset="-120"/>
              </a:rPr>
              <a:t>Distance from services, limited connectivity, transport costs</a:t>
            </a:r>
            <a:endParaRPr lang="en-US" sz="900" dirty="0"/>
          </a:p>
        </p:txBody>
      </p:sp>
      <p:sp>
        <p:nvSpPr>
          <p:cNvPr id="13" name="Text 11"/>
          <p:cNvSpPr/>
          <p:nvPr/>
        </p:nvSpPr>
        <p:spPr>
          <a:xfrm>
            <a:off x="2468880" y="2606040"/>
            <a:ext cx="6035040" cy="210312"/>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Strategies: </a:t>
            </a:r>
            <a:pPr indent="0" marL="0">
              <a:buNone/>
            </a:pPr>
            <a:r>
              <a:rPr lang="en-US" sz="900" dirty="0">
                <a:solidFill>
                  <a:srgbClr val="2D3436"/>
                </a:solidFill>
                <a:latin typeface="Calibri" pitchFamily="34" charset="0"/>
                <a:ea typeface="Calibri" pitchFamily="34" charset="-122"/>
                <a:cs typeface="Calibri" pitchFamily="34" charset="-120"/>
              </a:rPr>
              <a:t>Decentralize programs—go to rural areas. Use offline materials. Partner with local community organizations.</a:t>
            </a:r>
            <a:endParaRPr lang="en-US" sz="900" dirty="0"/>
          </a:p>
        </p:txBody>
      </p:sp>
      <p:sp>
        <p:nvSpPr>
          <p:cNvPr id="14" name="Shape 12"/>
          <p:cNvSpPr/>
          <p:nvPr/>
        </p:nvSpPr>
        <p:spPr>
          <a:xfrm>
            <a:off x="457200" y="2935224"/>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2935224"/>
            <a:ext cx="1828800" cy="548640"/>
          </a:xfrm>
          <a:prstGeom prst="rect">
            <a:avLst/>
          </a:prstGeom>
          <a:solidFill>
            <a:srgbClr val="A26769"/>
          </a:solidFill>
          <a:ln/>
        </p:spPr>
      </p:sp>
      <p:sp>
        <p:nvSpPr>
          <p:cNvPr id="16" name="Text 14"/>
          <p:cNvSpPr/>
          <p:nvPr/>
        </p:nvSpPr>
        <p:spPr>
          <a:xfrm>
            <a:off x="548640" y="3026664"/>
            <a:ext cx="164592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Girls &amp; Young Women</a:t>
            </a:r>
            <a:endParaRPr lang="en-US" sz="1100" dirty="0"/>
          </a:p>
        </p:txBody>
      </p:sp>
      <p:sp>
        <p:nvSpPr>
          <p:cNvPr id="17" name="Text 15"/>
          <p:cNvSpPr/>
          <p:nvPr/>
        </p:nvSpPr>
        <p:spPr>
          <a:xfrm>
            <a:off x="2468880" y="3008376"/>
            <a:ext cx="2743200" cy="201168"/>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Barriers: </a:t>
            </a:r>
            <a:pPr indent="0" marL="0">
              <a:buNone/>
            </a:pPr>
            <a:r>
              <a:rPr lang="en-US" sz="900" dirty="0">
                <a:solidFill>
                  <a:srgbClr val="2D3436"/>
                </a:solidFill>
                <a:latin typeface="Calibri" pitchFamily="34" charset="0"/>
                <a:ea typeface="Calibri" pitchFamily="34" charset="-122"/>
                <a:cs typeface="Calibri" pitchFamily="34" charset="-120"/>
              </a:rPr>
              <a:t>Early marriage/pregnancy, caregiving duties, safety concerns</a:t>
            </a:r>
            <a:endParaRPr lang="en-US" sz="900" dirty="0"/>
          </a:p>
        </p:txBody>
      </p:sp>
      <p:sp>
        <p:nvSpPr>
          <p:cNvPr id="18" name="Text 16"/>
          <p:cNvSpPr/>
          <p:nvPr/>
        </p:nvSpPr>
        <p:spPr>
          <a:xfrm>
            <a:off x="2468880" y="3227832"/>
            <a:ext cx="6035040" cy="210312"/>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Strategies: </a:t>
            </a:r>
            <a:pPr indent="0" marL="0">
              <a:buNone/>
            </a:pPr>
            <a:r>
              <a:rPr lang="en-US" sz="900" dirty="0">
                <a:solidFill>
                  <a:srgbClr val="2D3436"/>
                </a:solidFill>
                <a:latin typeface="Calibri" pitchFamily="34" charset="0"/>
                <a:ea typeface="Calibri" pitchFamily="34" charset="-122"/>
                <a:cs typeface="Calibri" pitchFamily="34" charset="-120"/>
              </a:rPr>
              <a:t>Provide childcare. Schedule around caregiving responsibilities. Create women-only spaces. Engage families and community leaders.</a:t>
            </a:r>
            <a:endParaRPr lang="en-US" sz="900" dirty="0"/>
          </a:p>
        </p:txBody>
      </p:sp>
      <p:sp>
        <p:nvSpPr>
          <p:cNvPr id="19" name="Shape 17"/>
          <p:cNvSpPr/>
          <p:nvPr/>
        </p:nvSpPr>
        <p:spPr>
          <a:xfrm>
            <a:off x="457200" y="3557016"/>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57200" y="3557016"/>
            <a:ext cx="1828800" cy="548640"/>
          </a:xfrm>
          <a:prstGeom prst="rect">
            <a:avLst/>
          </a:prstGeom>
          <a:solidFill>
            <a:srgbClr val="A26769"/>
          </a:solidFill>
          <a:ln/>
        </p:spPr>
      </p:sp>
      <p:sp>
        <p:nvSpPr>
          <p:cNvPr id="21" name="Text 19"/>
          <p:cNvSpPr/>
          <p:nvPr/>
        </p:nvSpPr>
        <p:spPr>
          <a:xfrm>
            <a:off x="548640" y="3648456"/>
            <a:ext cx="164592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Youth with Disabilities</a:t>
            </a:r>
            <a:endParaRPr lang="en-US" sz="1100" dirty="0"/>
          </a:p>
        </p:txBody>
      </p:sp>
      <p:sp>
        <p:nvSpPr>
          <p:cNvPr id="22" name="Text 20"/>
          <p:cNvSpPr/>
          <p:nvPr/>
        </p:nvSpPr>
        <p:spPr>
          <a:xfrm>
            <a:off x="2468880" y="3630168"/>
            <a:ext cx="2743200" cy="201168"/>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Barriers: </a:t>
            </a:r>
            <a:pPr indent="0" marL="0">
              <a:buNone/>
            </a:pPr>
            <a:r>
              <a:rPr lang="en-US" sz="900" dirty="0">
                <a:solidFill>
                  <a:srgbClr val="2D3436"/>
                </a:solidFill>
                <a:latin typeface="Calibri" pitchFamily="34" charset="0"/>
                <a:ea typeface="Calibri" pitchFamily="34" charset="-122"/>
                <a:cs typeface="Calibri" pitchFamily="34" charset="-120"/>
              </a:rPr>
              <a:t>Inaccessibility, negative attitudes, lack of assistive devices</a:t>
            </a:r>
            <a:endParaRPr lang="en-US" sz="900" dirty="0"/>
          </a:p>
        </p:txBody>
      </p:sp>
      <p:sp>
        <p:nvSpPr>
          <p:cNvPr id="23" name="Text 21"/>
          <p:cNvSpPr/>
          <p:nvPr/>
        </p:nvSpPr>
        <p:spPr>
          <a:xfrm>
            <a:off x="2468880" y="3849624"/>
            <a:ext cx="6035040" cy="210312"/>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Strategies: </a:t>
            </a:r>
            <a:pPr indent="0" marL="0">
              <a:buNone/>
            </a:pPr>
            <a:r>
              <a:rPr lang="en-US" sz="900" dirty="0">
                <a:solidFill>
                  <a:srgbClr val="2D3436"/>
                </a:solidFill>
                <a:latin typeface="Calibri" pitchFamily="34" charset="0"/>
                <a:ea typeface="Calibri" pitchFamily="34" charset="-122"/>
                <a:cs typeface="Calibri" pitchFamily="34" charset="-120"/>
              </a:rPr>
              <a:t>Ensure physical accessibility. Provide assistive technology. Train staff on disability inclusion. Partner with DPOs (Disabled People's Organizations).</a:t>
            </a:r>
            <a:endParaRPr lang="en-US" sz="900" dirty="0"/>
          </a:p>
        </p:txBody>
      </p:sp>
      <p:sp>
        <p:nvSpPr>
          <p:cNvPr id="24" name="Shape 22"/>
          <p:cNvSpPr/>
          <p:nvPr/>
        </p:nvSpPr>
        <p:spPr>
          <a:xfrm>
            <a:off x="457200" y="4178808"/>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5" name="Shape 23"/>
          <p:cNvSpPr/>
          <p:nvPr/>
        </p:nvSpPr>
        <p:spPr>
          <a:xfrm>
            <a:off x="457200" y="4178808"/>
            <a:ext cx="1828800" cy="548640"/>
          </a:xfrm>
          <a:prstGeom prst="rect">
            <a:avLst/>
          </a:prstGeom>
          <a:solidFill>
            <a:srgbClr val="A26769"/>
          </a:solidFill>
          <a:ln/>
        </p:spPr>
      </p:sp>
      <p:sp>
        <p:nvSpPr>
          <p:cNvPr id="26" name="Text 24"/>
          <p:cNvSpPr/>
          <p:nvPr/>
        </p:nvSpPr>
        <p:spPr>
          <a:xfrm>
            <a:off x="548640" y="4270248"/>
            <a:ext cx="164592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Refugee &amp; Migrant Youth</a:t>
            </a:r>
            <a:endParaRPr lang="en-US" sz="1100" dirty="0"/>
          </a:p>
        </p:txBody>
      </p:sp>
      <p:sp>
        <p:nvSpPr>
          <p:cNvPr id="27" name="Text 25"/>
          <p:cNvSpPr/>
          <p:nvPr/>
        </p:nvSpPr>
        <p:spPr>
          <a:xfrm>
            <a:off x="2468880" y="4251960"/>
            <a:ext cx="2743200" cy="201168"/>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Barriers: </a:t>
            </a:r>
            <a:pPr indent="0" marL="0">
              <a:buNone/>
            </a:pPr>
            <a:r>
              <a:rPr lang="en-US" sz="900" dirty="0">
                <a:solidFill>
                  <a:srgbClr val="2D3436"/>
                </a:solidFill>
                <a:latin typeface="Calibri" pitchFamily="34" charset="0"/>
                <a:ea typeface="Calibri" pitchFamily="34" charset="-122"/>
                <a:cs typeface="Calibri" pitchFamily="34" charset="-120"/>
              </a:rPr>
              <a:t>Language barriers, legal status, discrimination, trauma</a:t>
            </a:r>
            <a:endParaRPr lang="en-US" sz="900" dirty="0"/>
          </a:p>
        </p:txBody>
      </p:sp>
      <p:sp>
        <p:nvSpPr>
          <p:cNvPr id="28" name="Text 26"/>
          <p:cNvSpPr/>
          <p:nvPr/>
        </p:nvSpPr>
        <p:spPr>
          <a:xfrm>
            <a:off x="2468880" y="4471416"/>
            <a:ext cx="6035040" cy="210312"/>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Strategies: </a:t>
            </a:r>
            <a:pPr indent="0" marL="0">
              <a:buNone/>
            </a:pPr>
            <a:r>
              <a:rPr lang="en-US" sz="900" dirty="0">
                <a:solidFill>
                  <a:srgbClr val="2D3436"/>
                </a:solidFill>
                <a:latin typeface="Calibri" pitchFamily="34" charset="0"/>
                <a:ea typeface="Calibri" pitchFamily="34" charset="-122"/>
                <a:cs typeface="Calibri" pitchFamily="34" charset="-120"/>
              </a:rPr>
              <a:t>Offer multilingual support. Provide psychosocial services. Link to legal aid. Build social cohesion between host and refugee youth.</a:t>
            </a:r>
            <a:endParaRPr lang="en-US" sz="900" dirty="0"/>
          </a:p>
        </p:txBody>
      </p:sp>
      <p:sp>
        <p:nvSpPr>
          <p:cNvPr id="29" name="Shape 27"/>
          <p:cNvSpPr/>
          <p:nvPr/>
        </p:nvSpPr>
        <p:spPr>
          <a:xfrm>
            <a:off x="457200" y="4800600"/>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Shape 28"/>
          <p:cNvSpPr/>
          <p:nvPr/>
        </p:nvSpPr>
        <p:spPr>
          <a:xfrm>
            <a:off x="457200" y="4800600"/>
            <a:ext cx="1828800" cy="548640"/>
          </a:xfrm>
          <a:prstGeom prst="rect">
            <a:avLst/>
          </a:prstGeom>
          <a:solidFill>
            <a:srgbClr val="A26769"/>
          </a:solidFill>
          <a:ln/>
        </p:spPr>
      </p:sp>
      <p:sp>
        <p:nvSpPr>
          <p:cNvPr id="31" name="Text 29"/>
          <p:cNvSpPr/>
          <p:nvPr/>
        </p:nvSpPr>
        <p:spPr>
          <a:xfrm>
            <a:off x="548640" y="4892040"/>
            <a:ext cx="164592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LGBTQ+ Youth</a:t>
            </a:r>
            <a:endParaRPr lang="en-US" sz="1100" dirty="0"/>
          </a:p>
        </p:txBody>
      </p:sp>
      <p:sp>
        <p:nvSpPr>
          <p:cNvPr id="32" name="Text 30"/>
          <p:cNvSpPr/>
          <p:nvPr/>
        </p:nvSpPr>
        <p:spPr>
          <a:xfrm>
            <a:off x="2468880" y="4873752"/>
            <a:ext cx="2743200" cy="201168"/>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Barriers: </a:t>
            </a:r>
            <a:pPr indent="0" marL="0">
              <a:buNone/>
            </a:pPr>
            <a:r>
              <a:rPr lang="en-US" sz="900" dirty="0">
                <a:solidFill>
                  <a:srgbClr val="2D3436"/>
                </a:solidFill>
                <a:latin typeface="Calibri" pitchFamily="34" charset="0"/>
                <a:ea typeface="Calibri" pitchFamily="34" charset="-122"/>
                <a:cs typeface="Calibri" pitchFamily="34" charset="-120"/>
              </a:rPr>
              <a:t>Stigma, discrimination, family rejection, violence</a:t>
            </a:r>
            <a:endParaRPr lang="en-US" sz="900" dirty="0"/>
          </a:p>
        </p:txBody>
      </p:sp>
      <p:sp>
        <p:nvSpPr>
          <p:cNvPr id="33" name="Text 31"/>
          <p:cNvSpPr/>
          <p:nvPr/>
        </p:nvSpPr>
        <p:spPr>
          <a:xfrm>
            <a:off x="2468880" y="5093208"/>
            <a:ext cx="6035040" cy="210312"/>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Strategies: </a:t>
            </a:r>
            <a:pPr indent="0" marL="0">
              <a:buNone/>
            </a:pPr>
            <a:r>
              <a:rPr lang="en-US" sz="900" dirty="0">
                <a:solidFill>
                  <a:srgbClr val="2D3436"/>
                </a:solidFill>
                <a:latin typeface="Calibri" pitchFamily="34" charset="0"/>
                <a:ea typeface="Calibri" pitchFamily="34" charset="-122"/>
                <a:cs typeface="Calibri" pitchFamily="34" charset="-120"/>
              </a:rPr>
              <a:t>Create safe, confidential spaces. Train staff on LGBTQ+ sensitivity. Connect youth with peer support. Advocate for policy change.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STRATEGIC PLANNING: VISION &amp; MISSION</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Strategic planning is the process of defining your organization's direction and making decisions on allocating resources to pursue this direction. It starts with clarifying your vision and mission—your north star.</a:t>
            </a:r>
            <a:endParaRPr lang="en-US" sz="1400" dirty="0"/>
          </a:p>
        </p:txBody>
      </p:sp>
      <p:sp>
        <p:nvSpPr>
          <p:cNvPr id="5" name="Shape 2"/>
          <p:cNvSpPr/>
          <p:nvPr/>
        </p:nvSpPr>
        <p:spPr>
          <a:xfrm>
            <a:off x="457200" y="2011680"/>
            <a:ext cx="402336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3"/>
          <p:cNvSpPr/>
          <p:nvPr/>
        </p:nvSpPr>
        <p:spPr>
          <a:xfrm>
            <a:off x="457200" y="2011680"/>
            <a:ext cx="73152" cy="2377440"/>
          </a:xfrm>
          <a:prstGeom prst="rect">
            <a:avLst/>
          </a:prstGeom>
          <a:solidFill>
            <a:srgbClr val="6D2E46"/>
          </a:solidFill>
          <a:ln/>
        </p:spPr>
      </p:sp>
      <p:sp>
        <p:nvSpPr>
          <p:cNvPr id="7" name="Text 4"/>
          <p:cNvSpPr/>
          <p:nvPr/>
        </p:nvSpPr>
        <p:spPr>
          <a:xfrm>
            <a:off x="731520" y="2148840"/>
            <a:ext cx="35661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VISION STATEMENT</a:t>
            </a:r>
            <a:endParaRPr lang="en-US" sz="1600" dirty="0"/>
          </a:p>
        </p:txBody>
      </p:sp>
      <p:sp>
        <p:nvSpPr>
          <p:cNvPr id="8" name="Text 5"/>
          <p:cNvSpPr/>
          <p:nvPr/>
        </p:nvSpPr>
        <p:spPr>
          <a:xfrm>
            <a:off x="731520" y="2560320"/>
            <a:ext cx="3566160" cy="16459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What it is: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A compelling picture of the future you want to create. It's aspirational—your ultimate dream.</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Good vision statements:</a:t>
            </a:r>
            <a:endParaRPr lang="en-US" sz="1100" dirty="0"/>
          </a:p>
          <a:p>
            <a:pPr marL="342900" indent="-342900">
              <a:buSzPct val="100000"/>
              <a:buChar char="•"/>
            </a:pPr>
            <a:r>
              <a:rPr lang="en-US" sz="1100" dirty="0">
                <a:solidFill>
                  <a:srgbClr val="2D3436"/>
                </a:solidFill>
                <a:latin typeface="Calibri" pitchFamily="34" charset="0"/>
                <a:ea typeface="Calibri" pitchFamily="34" charset="-122"/>
                <a:cs typeface="Calibri" pitchFamily="34" charset="-120"/>
              </a:rPr>
              <a:t>• Are inspiring and ambitious</a:t>
            </a:r>
            <a:endParaRPr lang="en-US" sz="1100" dirty="0"/>
          </a:p>
          <a:p>
            <a:pPr marL="342900" indent="-342900">
              <a:buSzPct val="100000"/>
              <a:buChar char="•"/>
            </a:pPr>
            <a:r>
              <a:rPr lang="en-US" sz="1100" dirty="0">
                <a:solidFill>
                  <a:srgbClr val="2D3436"/>
                </a:solidFill>
                <a:latin typeface="Calibri" pitchFamily="34" charset="0"/>
                <a:ea typeface="Calibri" pitchFamily="34" charset="-122"/>
                <a:cs typeface="Calibri" pitchFamily="34" charset="-120"/>
              </a:rPr>
              <a:t>• Describe the desired future state</a:t>
            </a:r>
            <a:endParaRPr lang="en-US" sz="1100" dirty="0"/>
          </a:p>
          <a:p>
            <a:pPr marL="342900" indent="-342900">
              <a:buSzPct val="100000"/>
              <a:buChar char="•"/>
            </a:pPr>
            <a:r>
              <a:rPr lang="en-US" sz="1100" dirty="0">
                <a:solidFill>
                  <a:srgbClr val="2D3436"/>
                </a:solidFill>
                <a:latin typeface="Calibri" pitchFamily="34" charset="0"/>
                <a:ea typeface="Calibri" pitchFamily="34" charset="-122"/>
                <a:cs typeface="Calibri" pitchFamily="34" charset="-120"/>
              </a:rPr>
              <a:t>• Are concise (1-2 sentences)</a:t>
            </a:r>
            <a:endParaRPr lang="en-US" sz="1100" dirty="0"/>
          </a:p>
          <a:p>
            <a:pPr indent="0" marL="0">
              <a:buNone/>
            </a:pPr>
            <a:endParaRPr lang="en-US" sz="1100" dirty="0"/>
          </a:p>
          <a:p>
            <a:pPr indent="0" marL="0">
              <a:buNone/>
            </a:pPr>
            <a:r>
              <a:rPr lang="en-US" sz="1100" b="1" i="1" dirty="0">
                <a:solidFill>
                  <a:srgbClr val="2D3436"/>
                </a:solidFill>
                <a:latin typeface="Calibri" pitchFamily="34" charset="0"/>
                <a:ea typeface="Calibri" pitchFamily="34" charset="-122"/>
                <a:cs typeface="Calibri" pitchFamily="34" charset="-120"/>
              </a:rPr>
              <a:t>Example:</a:t>
            </a:r>
            <a:endParaRPr lang="en-US" sz="1100" dirty="0"/>
          </a:p>
          <a:p>
            <a:pPr indent="0" marL="0">
              <a:buNone/>
            </a:pPr>
            <a:r>
              <a:rPr lang="en-US" sz="1100" i="1" dirty="0">
                <a:solidFill>
                  <a:srgbClr val="2D3436"/>
                </a:solidFill>
                <a:latin typeface="Calibri" pitchFamily="34" charset="0"/>
                <a:ea typeface="Calibri" pitchFamily="34" charset="-122"/>
                <a:cs typeface="Calibri" pitchFamily="34" charset="-120"/>
              </a:rPr>
              <a:t>"A Rwanda where all youth, regardless of background, have equal opportunities to lead, innovate, and shape their communities."</a:t>
            </a:r>
            <a:endParaRPr lang="en-US" sz="1100" dirty="0"/>
          </a:p>
        </p:txBody>
      </p:sp>
      <p:sp>
        <p:nvSpPr>
          <p:cNvPr id="9" name="Shape 6"/>
          <p:cNvSpPr/>
          <p:nvPr/>
        </p:nvSpPr>
        <p:spPr>
          <a:xfrm>
            <a:off x="4663440" y="2011680"/>
            <a:ext cx="402336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4663440" y="2011680"/>
            <a:ext cx="73152" cy="2377440"/>
          </a:xfrm>
          <a:prstGeom prst="rect">
            <a:avLst/>
          </a:prstGeom>
          <a:solidFill>
            <a:srgbClr val="A26769"/>
          </a:solidFill>
          <a:ln/>
        </p:spPr>
      </p:sp>
      <p:sp>
        <p:nvSpPr>
          <p:cNvPr id="11" name="Text 8"/>
          <p:cNvSpPr/>
          <p:nvPr/>
        </p:nvSpPr>
        <p:spPr>
          <a:xfrm>
            <a:off x="4937760" y="2148840"/>
            <a:ext cx="3566160" cy="320040"/>
          </a:xfrm>
          <a:prstGeom prst="rect">
            <a:avLst/>
          </a:prstGeom>
          <a:noFill/>
          <a:ln/>
        </p:spPr>
        <p:txBody>
          <a:bodyPr wrap="square" rtlCol="0" anchor="ctr"/>
          <a:lstStyle/>
          <a:p>
            <a:pPr indent="0" marL="0">
              <a:buNone/>
            </a:pPr>
            <a:r>
              <a:rPr lang="en-US" sz="1600" b="1" dirty="0">
                <a:solidFill>
                  <a:srgbClr val="A26769"/>
                </a:solidFill>
                <a:latin typeface="Arial" pitchFamily="34" charset="0"/>
                <a:ea typeface="Arial" pitchFamily="34" charset="-122"/>
                <a:cs typeface="Arial" pitchFamily="34" charset="-120"/>
              </a:rPr>
              <a:t>MISSION STATEMENT</a:t>
            </a:r>
            <a:endParaRPr lang="en-US" sz="1600" dirty="0"/>
          </a:p>
        </p:txBody>
      </p:sp>
      <p:sp>
        <p:nvSpPr>
          <p:cNvPr id="12" name="Text 9"/>
          <p:cNvSpPr/>
          <p:nvPr/>
        </p:nvSpPr>
        <p:spPr>
          <a:xfrm>
            <a:off x="4937760" y="2560320"/>
            <a:ext cx="3566160" cy="16459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What it is: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A clear statement of what you do, who you serve, and how you create change. It's action-oriented.</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Good mission statements:</a:t>
            </a:r>
            <a:endParaRPr lang="en-US" sz="1100" dirty="0"/>
          </a:p>
          <a:p>
            <a:pPr marL="342900" indent="-342900">
              <a:buSzPct val="100000"/>
              <a:buChar char="•"/>
            </a:pPr>
            <a:r>
              <a:rPr lang="en-US" sz="1100" dirty="0">
                <a:solidFill>
                  <a:srgbClr val="2D3436"/>
                </a:solidFill>
                <a:latin typeface="Calibri" pitchFamily="34" charset="0"/>
                <a:ea typeface="Calibri" pitchFamily="34" charset="-122"/>
                <a:cs typeface="Calibri" pitchFamily="34" charset="-120"/>
              </a:rPr>
              <a:t>• Define your purpose and approach</a:t>
            </a:r>
            <a:endParaRPr lang="en-US" sz="1100" dirty="0"/>
          </a:p>
          <a:p>
            <a:pPr marL="342900" indent="-342900">
              <a:buSzPct val="100000"/>
              <a:buChar char="•"/>
            </a:pPr>
            <a:r>
              <a:rPr lang="en-US" sz="1100" dirty="0">
                <a:solidFill>
                  <a:srgbClr val="2D3436"/>
                </a:solidFill>
                <a:latin typeface="Calibri" pitchFamily="34" charset="0"/>
                <a:ea typeface="Calibri" pitchFamily="34" charset="-122"/>
                <a:cs typeface="Calibri" pitchFamily="34" charset="-120"/>
              </a:rPr>
              <a:t>• Identify who you serve</a:t>
            </a:r>
            <a:endParaRPr lang="en-US" sz="1100" dirty="0"/>
          </a:p>
          <a:p>
            <a:pPr marL="342900" indent="-342900">
              <a:buSzPct val="100000"/>
              <a:buChar char="•"/>
            </a:pPr>
            <a:r>
              <a:rPr lang="en-US" sz="1100" dirty="0">
                <a:solidFill>
                  <a:srgbClr val="2D3436"/>
                </a:solidFill>
                <a:latin typeface="Calibri" pitchFamily="34" charset="0"/>
                <a:ea typeface="Calibri" pitchFamily="34" charset="-122"/>
                <a:cs typeface="Calibri" pitchFamily="34" charset="-120"/>
              </a:rPr>
              <a:t>• Are specific and actionable</a:t>
            </a:r>
            <a:endParaRPr lang="en-US" sz="1100" dirty="0"/>
          </a:p>
          <a:p>
            <a:pPr indent="0" marL="0">
              <a:buNone/>
            </a:pPr>
            <a:endParaRPr lang="en-US" sz="1100" dirty="0"/>
          </a:p>
          <a:p>
            <a:pPr indent="0" marL="0">
              <a:buNone/>
            </a:pPr>
            <a:r>
              <a:rPr lang="en-US" sz="1100" b="1" i="1" dirty="0">
                <a:solidFill>
                  <a:srgbClr val="2D3436"/>
                </a:solidFill>
                <a:latin typeface="Calibri" pitchFamily="34" charset="0"/>
                <a:ea typeface="Calibri" pitchFamily="34" charset="-122"/>
                <a:cs typeface="Calibri" pitchFamily="34" charset="-120"/>
              </a:rPr>
              <a:t>Example:</a:t>
            </a:r>
            <a:endParaRPr lang="en-US" sz="1100" dirty="0"/>
          </a:p>
          <a:p>
            <a:pPr indent="0" marL="0">
              <a:buNone/>
            </a:pPr>
            <a:r>
              <a:rPr lang="en-US" sz="1100" i="1" dirty="0">
                <a:solidFill>
                  <a:srgbClr val="2D3436"/>
                </a:solidFill>
                <a:latin typeface="Calibri" pitchFamily="34" charset="0"/>
                <a:ea typeface="Calibri" pitchFamily="34" charset="-122"/>
                <a:cs typeface="Calibri" pitchFamily="34" charset="-120"/>
              </a:rPr>
              <a:t>"We empower marginalized youth through leadership training, advocacy skills development, and community-led projects that advance social justice."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SETTING LONG-TERM GOALS</a:t>
            </a:r>
            <a:endParaRPr lang="en-US" sz="3600" dirty="0"/>
          </a:p>
        </p:txBody>
      </p:sp>
      <p:sp>
        <p:nvSpPr>
          <p:cNvPr id="3" name="Text 1"/>
          <p:cNvSpPr/>
          <p:nvPr/>
        </p:nvSpPr>
        <p:spPr>
          <a:xfrm>
            <a:off x="731520" y="1097280"/>
            <a:ext cx="7680960" cy="36576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Strategic goals translate your vision into concrete, measurable outcomes over 3-5 years. They guide your programs, resource allocation, and decision-making.</a:t>
            </a:r>
            <a:endParaRPr lang="en-US" sz="1400" dirty="0"/>
          </a:p>
        </p:txBody>
      </p:sp>
      <p:sp>
        <p:nvSpPr>
          <p:cNvPr id="4" name="Text 2"/>
          <p:cNvSpPr/>
          <p:nvPr/>
        </p:nvSpPr>
        <p:spPr>
          <a:xfrm>
            <a:off x="731520" y="160020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SMART GOAL FRAMEWORK</a:t>
            </a:r>
            <a:endParaRPr lang="en-US" sz="1600" dirty="0"/>
          </a:p>
        </p:txBody>
      </p:sp>
      <p:sp>
        <p:nvSpPr>
          <p:cNvPr id="5" name="Shape 3"/>
          <p:cNvSpPr/>
          <p:nvPr/>
        </p:nvSpPr>
        <p:spPr>
          <a:xfrm>
            <a:off x="457200" y="2011680"/>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640080" y="2057400"/>
            <a:ext cx="411480" cy="411480"/>
          </a:xfrm>
          <a:prstGeom prst="ellipse">
            <a:avLst/>
          </a:prstGeom>
          <a:solidFill>
            <a:srgbClr val="6D2E46"/>
          </a:solidFill>
          <a:ln/>
        </p:spPr>
      </p:sp>
      <p:sp>
        <p:nvSpPr>
          <p:cNvPr id="7" name="Text 5"/>
          <p:cNvSpPr/>
          <p:nvPr/>
        </p:nvSpPr>
        <p:spPr>
          <a:xfrm>
            <a:off x="640080" y="2057400"/>
            <a:ext cx="411480" cy="4114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S</a:t>
            </a:r>
            <a:endParaRPr lang="en-US" sz="2000" dirty="0"/>
          </a:p>
        </p:txBody>
      </p:sp>
      <p:sp>
        <p:nvSpPr>
          <p:cNvPr id="8" name="Text 6"/>
          <p:cNvSpPr/>
          <p:nvPr/>
        </p:nvSpPr>
        <p:spPr>
          <a:xfrm>
            <a:off x="1188720" y="2084832"/>
            <a:ext cx="320040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Specific: </a:t>
            </a:r>
            <a:pPr indent="0" marL="0">
              <a:buNone/>
            </a:pPr>
            <a:r>
              <a:rPr lang="en-US" sz="1100" dirty="0">
                <a:solidFill>
                  <a:srgbClr val="2D3436"/>
                </a:solidFill>
                <a:latin typeface="Calibri" pitchFamily="34" charset="0"/>
                <a:ea typeface="Calibri" pitchFamily="34" charset="-122"/>
                <a:cs typeface="Calibri" pitchFamily="34" charset="-120"/>
              </a:rPr>
              <a:t>Clearly defined—who, what, where, why</a:t>
            </a:r>
            <a:endParaRPr lang="en-US" sz="1100" dirty="0"/>
          </a:p>
        </p:txBody>
      </p:sp>
      <p:sp>
        <p:nvSpPr>
          <p:cNvPr id="9" name="Text 7"/>
          <p:cNvSpPr/>
          <p:nvPr/>
        </p:nvSpPr>
        <p:spPr>
          <a:xfrm>
            <a:off x="4572000" y="2084832"/>
            <a:ext cx="3931920" cy="365760"/>
          </a:xfrm>
          <a:prstGeom prst="rect">
            <a:avLst/>
          </a:prstGeom>
          <a:noFill/>
          <a:ln/>
        </p:spPr>
        <p:txBody>
          <a:bodyPr wrap="square" rtlCol="0" anchor="ctr"/>
          <a:lstStyle/>
          <a:p>
            <a:pPr indent="0" marL="0">
              <a:buNone/>
            </a:pPr>
            <a:r>
              <a:rPr lang="en-US" sz="1000" b="1" dirty="0">
                <a:solidFill>
                  <a:srgbClr val="A26769"/>
                </a:solidFill>
                <a:latin typeface="Calibri" pitchFamily="34" charset="0"/>
                <a:ea typeface="Calibri" pitchFamily="34" charset="-122"/>
                <a:cs typeface="Calibri" pitchFamily="34" charset="-120"/>
              </a:rPr>
              <a:t>Example: </a:t>
            </a:r>
            <a:pPr indent="0" marL="0">
              <a:buNone/>
            </a:pPr>
            <a:r>
              <a:rPr lang="en-US" sz="1000" i="1" dirty="0">
                <a:solidFill>
                  <a:srgbClr val="2D3436"/>
                </a:solidFill>
                <a:latin typeface="Calibri" pitchFamily="34" charset="0"/>
                <a:ea typeface="Calibri" pitchFamily="34" charset="-122"/>
                <a:cs typeface="Calibri" pitchFamily="34" charset="-120"/>
              </a:rPr>
              <a:t>Train 500 young women in advocacy skills (not just 'empower youth')</a:t>
            </a:r>
            <a:endParaRPr lang="en-US" sz="1000" dirty="0"/>
          </a:p>
        </p:txBody>
      </p:sp>
      <p:sp>
        <p:nvSpPr>
          <p:cNvPr id="10" name="Shape 8"/>
          <p:cNvSpPr/>
          <p:nvPr/>
        </p:nvSpPr>
        <p:spPr>
          <a:xfrm>
            <a:off x="457200" y="2587752"/>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9"/>
          <p:cNvSpPr/>
          <p:nvPr/>
        </p:nvSpPr>
        <p:spPr>
          <a:xfrm>
            <a:off x="640080" y="2633472"/>
            <a:ext cx="411480" cy="411480"/>
          </a:xfrm>
          <a:prstGeom prst="ellipse">
            <a:avLst/>
          </a:prstGeom>
          <a:solidFill>
            <a:srgbClr val="6D2E46"/>
          </a:solidFill>
          <a:ln/>
        </p:spPr>
      </p:sp>
      <p:sp>
        <p:nvSpPr>
          <p:cNvPr id="12" name="Text 10"/>
          <p:cNvSpPr/>
          <p:nvPr/>
        </p:nvSpPr>
        <p:spPr>
          <a:xfrm>
            <a:off x="640080" y="2633472"/>
            <a:ext cx="411480" cy="4114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M</a:t>
            </a:r>
            <a:endParaRPr lang="en-US" sz="2000" dirty="0"/>
          </a:p>
        </p:txBody>
      </p:sp>
      <p:sp>
        <p:nvSpPr>
          <p:cNvPr id="13" name="Text 11"/>
          <p:cNvSpPr/>
          <p:nvPr/>
        </p:nvSpPr>
        <p:spPr>
          <a:xfrm>
            <a:off x="1188720" y="2660904"/>
            <a:ext cx="320040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Measurable: </a:t>
            </a:r>
            <a:pPr indent="0" marL="0">
              <a:buNone/>
            </a:pPr>
            <a:r>
              <a:rPr lang="en-US" sz="1100" dirty="0">
                <a:solidFill>
                  <a:srgbClr val="2D3436"/>
                </a:solidFill>
                <a:latin typeface="Calibri" pitchFamily="34" charset="0"/>
                <a:ea typeface="Calibri" pitchFamily="34" charset="-122"/>
                <a:cs typeface="Calibri" pitchFamily="34" charset="-120"/>
              </a:rPr>
              <a:t>Quantifiable with indicators to track progress</a:t>
            </a:r>
            <a:endParaRPr lang="en-US" sz="1100" dirty="0"/>
          </a:p>
        </p:txBody>
      </p:sp>
      <p:sp>
        <p:nvSpPr>
          <p:cNvPr id="14" name="Text 12"/>
          <p:cNvSpPr/>
          <p:nvPr/>
        </p:nvSpPr>
        <p:spPr>
          <a:xfrm>
            <a:off x="4572000" y="2660904"/>
            <a:ext cx="3931920" cy="365760"/>
          </a:xfrm>
          <a:prstGeom prst="rect">
            <a:avLst/>
          </a:prstGeom>
          <a:noFill/>
          <a:ln/>
        </p:spPr>
        <p:txBody>
          <a:bodyPr wrap="square" rtlCol="0" anchor="ctr"/>
          <a:lstStyle/>
          <a:p>
            <a:pPr indent="0" marL="0">
              <a:buNone/>
            </a:pPr>
            <a:r>
              <a:rPr lang="en-US" sz="1000" b="1" dirty="0">
                <a:solidFill>
                  <a:srgbClr val="A26769"/>
                </a:solidFill>
                <a:latin typeface="Calibri" pitchFamily="34" charset="0"/>
                <a:ea typeface="Calibri" pitchFamily="34" charset="-122"/>
                <a:cs typeface="Calibri" pitchFamily="34" charset="-120"/>
              </a:rPr>
              <a:t>Example: </a:t>
            </a:r>
            <a:pPr indent="0" marL="0">
              <a:buNone/>
            </a:pPr>
            <a:r>
              <a:rPr lang="en-US" sz="1000" i="1" dirty="0">
                <a:solidFill>
                  <a:srgbClr val="2D3436"/>
                </a:solidFill>
                <a:latin typeface="Calibri" pitchFamily="34" charset="0"/>
                <a:ea typeface="Calibri" pitchFamily="34" charset="-122"/>
                <a:cs typeface="Calibri" pitchFamily="34" charset="-120"/>
              </a:rPr>
              <a:t>Increase girls' enrollment in STEM by 30%</a:t>
            </a:r>
            <a:endParaRPr lang="en-US" sz="1000" dirty="0"/>
          </a:p>
        </p:txBody>
      </p:sp>
      <p:sp>
        <p:nvSpPr>
          <p:cNvPr id="15" name="Shape 13"/>
          <p:cNvSpPr/>
          <p:nvPr/>
        </p:nvSpPr>
        <p:spPr>
          <a:xfrm>
            <a:off x="457200" y="3163824"/>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Shape 14"/>
          <p:cNvSpPr/>
          <p:nvPr/>
        </p:nvSpPr>
        <p:spPr>
          <a:xfrm>
            <a:off x="640080" y="3209544"/>
            <a:ext cx="411480" cy="411480"/>
          </a:xfrm>
          <a:prstGeom prst="ellipse">
            <a:avLst/>
          </a:prstGeom>
          <a:solidFill>
            <a:srgbClr val="6D2E46"/>
          </a:solidFill>
          <a:ln/>
        </p:spPr>
      </p:sp>
      <p:sp>
        <p:nvSpPr>
          <p:cNvPr id="17" name="Text 15"/>
          <p:cNvSpPr/>
          <p:nvPr/>
        </p:nvSpPr>
        <p:spPr>
          <a:xfrm>
            <a:off x="640080" y="3209544"/>
            <a:ext cx="411480" cy="4114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A</a:t>
            </a:r>
            <a:endParaRPr lang="en-US" sz="2000" dirty="0"/>
          </a:p>
        </p:txBody>
      </p:sp>
      <p:sp>
        <p:nvSpPr>
          <p:cNvPr id="18" name="Text 16"/>
          <p:cNvSpPr/>
          <p:nvPr/>
        </p:nvSpPr>
        <p:spPr>
          <a:xfrm>
            <a:off x="1188720" y="3236976"/>
            <a:ext cx="320040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Achievable: </a:t>
            </a:r>
            <a:pPr indent="0" marL="0">
              <a:buNone/>
            </a:pPr>
            <a:r>
              <a:rPr lang="en-US" sz="1100" dirty="0">
                <a:solidFill>
                  <a:srgbClr val="2D3436"/>
                </a:solidFill>
                <a:latin typeface="Calibri" pitchFamily="34" charset="0"/>
                <a:ea typeface="Calibri" pitchFamily="34" charset="-122"/>
                <a:cs typeface="Calibri" pitchFamily="34" charset="-120"/>
              </a:rPr>
              <a:t>Realistic given your resources and context</a:t>
            </a:r>
            <a:endParaRPr lang="en-US" sz="1100" dirty="0"/>
          </a:p>
        </p:txBody>
      </p:sp>
      <p:sp>
        <p:nvSpPr>
          <p:cNvPr id="19" name="Text 17"/>
          <p:cNvSpPr/>
          <p:nvPr/>
        </p:nvSpPr>
        <p:spPr>
          <a:xfrm>
            <a:off x="4572000" y="3236976"/>
            <a:ext cx="3931920" cy="365760"/>
          </a:xfrm>
          <a:prstGeom prst="rect">
            <a:avLst/>
          </a:prstGeom>
          <a:noFill/>
          <a:ln/>
        </p:spPr>
        <p:txBody>
          <a:bodyPr wrap="square" rtlCol="0" anchor="ctr"/>
          <a:lstStyle/>
          <a:p>
            <a:pPr indent="0" marL="0">
              <a:buNone/>
            </a:pPr>
            <a:r>
              <a:rPr lang="en-US" sz="1000" b="1" dirty="0">
                <a:solidFill>
                  <a:srgbClr val="A26769"/>
                </a:solidFill>
                <a:latin typeface="Calibri" pitchFamily="34" charset="0"/>
                <a:ea typeface="Calibri" pitchFamily="34" charset="-122"/>
                <a:cs typeface="Calibri" pitchFamily="34" charset="-120"/>
              </a:rPr>
              <a:t>Example: </a:t>
            </a:r>
            <a:pPr indent="0" marL="0">
              <a:buNone/>
            </a:pPr>
            <a:r>
              <a:rPr lang="en-US" sz="1000" i="1" dirty="0">
                <a:solidFill>
                  <a:srgbClr val="2D3436"/>
                </a:solidFill>
                <a:latin typeface="Calibri" pitchFamily="34" charset="0"/>
                <a:ea typeface="Calibri" pitchFamily="34" charset="-122"/>
                <a:cs typeface="Calibri" pitchFamily="34" charset="-120"/>
              </a:rPr>
              <a:t>Launch 10 youth-led projects (not 1,000 with limited capacity)</a:t>
            </a:r>
            <a:endParaRPr lang="en-US" sz="1000" dirty="0"/>
          </a:p>
        </p:txBody>
      </p:sp>
      <p:sp>
        <p:nvSpPr>
          <p:cNvPr id="20" name="Shape 18"/>
          <p:cNvSpPr/>
          <p:nvPr/>
        </p:nvSpPr>
        <p:spPr>
          <a:xfrm>
            <a:off x="457200" y="3739896"/>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1" name="Shape 19"/>
          <p:cNvSpPr/>
          <p:nvPr/>
        </p:nvSpPr>
        <p:spPr>
          <a:xfrm>
            <a:off x="640080" y="3785616"/>
            <a:ext cx="411480" cy="411480"/>
          </a:xfrm>
          <a:prstGeom prst="ellipse">
            <a:avLst/>
          </a:prstGeom>
          <a:solidFill>
            <a:srgbClr val="6D2E46"/>
          </a:solidFill>
          <a:ln/>
        </p:spPr>
      </p:sp>
      <p:sp>
        <p:nvSpPr>
          <p:cNvPr id="22" name="Text 20"/>
          <p:cNvSpPr/>
          <p:nvPr/>
        </p:nvSpPr>
        <p:spPr>
          <a:xfrm>
            <a:off x="640080" y="3785616"/>
            <a:ext cx="411480" cy="4114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R</a:t>
            </a:r>
            <a:endParaRPr lang="en-US" sz="2000" dirty="0"/>
          </a:p>
        </p:txBody>
      </p:sp>
      <p:sp>
        <p:nvSpPr>
          <p:cNvPr id="23" name="Text 21"/>
          <p:cNvSpPr/>
          <p:nvPr/>
        </p:nvSpPr>
        <p:spPr>
          <a:xfrm>
            <a:off x="1188720" y="3813048"/>
            <a:ext cx="320040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Relevant: </a:t>
            </a:r>
            <a:pPr indent="0" marL="0">
              <a:buNone/>
            </a:pPr>
            <a:r>
              <a:rPr lang="en-US" sz="1100" dirty="0">
                <a:solidFill>
                  <a:srgbClr val="2D3436"/>
                </a:solidFill>
                <a:latin typeface="Calibri" pitchFamily="34" charset="0"/>
                <a:ea typeface="Calibri" pitchFamily="34" charset="-122"/>
                <a:cs typeface="Calibri" pitchFamily="34" charset="-120"/>
              </a:rPr>
              <a:t>Aligned with your mission and stakeholder needs</a:t>
            </a:r>
            <a:endParaRPr lang="en-US" sz="1100" dirty="0"/>
          </a:p>
        </p:txBody>
      </p:sp>
      <p:sp>
        <p:nvSpPr>
          <p:cNvPr id="24" name="Text 22"/>
          <p:cNvSpPr/>
          <p:nvPr/>
        </p:nvSpPr>
        <p:spPr>
          <a:xfrm>
            <a:off x="4572000" y="3813048"/>
            <a:ext cx="3931920" cy="365760"/>
          </a:xfrm>
          <a:prstGeom prst="rect">
            <a:avLst/>
          </a:prstGeom>
          <a:noFill/>
          <a:ln/>
        </p:spPr>
        <p:txBody>
          <a:bodyPr wrap="square" rtlCol="0" anchor="ctr"/>
          <a:lstStyle/>
          <a:p>
            <a:pPr indent="0" marL="0">
              <a:buNone/>
            </a:pPr>
            <a:r>
              <a:rPr lang="en-US" sz="1000" b="1" dirty="0">
                <a:solidFill>
                  <a:srgbClr val="A26769"/>
                </a:solidFill>
                <a:latin typeface="Calibri" pitchFamily="34" charset="0"/>
                <a:ea typeface="Calibri" pitchFamily="34" charset="-122"/>
                <a:cs typeface="Calibri" pitchFamily="34" charset="-120"/>
              </a:rPr>
              <a:t>Example: </a:t>
            </a:r>
            <a:pPr indent="0" marL="0">
              <a:buNone/>
            </a:pPr>
            <a:r>
              <a:rPr lang="en-US" sz="1000" i="1" dirty="0">
                <a:solidFill>
                  <a:srgbClr val="2D3436"/>
                </a:solidFill>
                <a:latin typeface="Calibri" pitchFamily="34" charset="0"/>
                <a:ea typeface="Calibri" pitchFamily="34" charset="-122"/>
                <a:cs typeface="Calibri" pitchFamily="34" charset="-120"/>
              </a:rPr>
              <a:t>Address barriers youth actually face, not assumed problems</a:t>
            </a:r>
            <a:endParaRPr lang="en-US" sz="1000" dirty="0"/>
          </a:p>
        </p:txBody>
      </p:sp>
      <p:sp>
        <p:nvSpPr>
          <p:cNvPr id="25" name="Shape 23"/>
          <p:cNvSpPr/>
          <p:nvPr/>
        </p:nvSpPr>
        <p:spPr>
          <a:xfrm>
            <a:off x="457200" y="4315968"/>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Shape 24"/>
          <p:cNvSpPr/>
          <p:nvPr/>
        </p:nvSpPr>
        <p:spPr>
          <a:xfrm>
            <a:off x="640080" y="4361688"/>
            <a:ext cx="411480" cy="411480"/>
          </a:xfrm>
          <a:prstGeom prst="ellipse">
            <a:avLst/>
          </a:prstGeom>
          <a:solidFill>
            <a:srgbClr val="6D2E46"/>
          </a:solidFill>
          <a:ln/>
        </p:spPr>
      </p:sp>
      <p:sp>
        <p:nvSpPr>
          <p:cNvPr id="27" name="Text 25"/>
          <p:cNvSpPr/>
          <p:nvPr/>
        </p:nvSpPr>
        <p:spPr>
          <a:xfrm>
            <a:off x="640080" y="4361688"/>
            <a:ext cx="411480" cy="4114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T</a:t>
            </a:r>
            <a:endParaRPr lang="en-US" sz="2000" dirty="0"/>
          </a:p>
        </p:txBody>
      </p:sp>
      <p:sp>
        <p:nvSpPr>
          <p:cNvPr id="28" name="Text 26"/>
          <p:cNvSpPr/>
          <p:nvPr/>
        </p:nvSpPr>
        <p:spPr>
          <a:xfrm>
            <a:off x="1188720" y="4389120"/>
            <a:ext cx="3200400" cy="365760"/>
          </a:xfrm>
          <a:prstGeom prst="rect">
            <a:avLst/>
          </a:prstGeom>
          <a:noFill/>
          <a:ln/>
        </p:spPr>
        <p:txBody>
          <a:bodyPr wrap="square"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Time-bound: </a:t>
            </a:r>
            <a:pPr indent="0" marL="0">
              <a:buNone/>
            </a:pPr>
            <a:r>
              <a:rPr lang="en-US" sz="1100" dirty="0">
                <a:solidFill>
                  <a:srgbClr val="2D3436"/>
                </a:solidFill>
                <a:latin typeface="Calibri" pitchFamily="34" charset="0"/>
                <a:ea typeface="Calibri" pitchFamily="34" charset="-122"/>
                <a:cs typeface="Calibri" pitchFamily="34" charset="-120"/>
              </a:rPr>
              <a:t>Has a clear deadline or timeframe</a:t>
            </a:r>
            <a:endParaRPr lang="en-US" sz="1100" dirty="0"/>
          </a:p>
        </p:txBody>
      </p:sp>
      <p:sp>
        <p:nvSpPr>
          <p:cNvPr id="29" name="Text 27"/>
          <p:cNvSpPr/>
          <p:nvPr/>
        </p:nvSpPr>
        <p:spPr>
          <a:xfrm>
            <a:off x="4572000" y="4389120"/>
            <a:ext cx="3931920" cy="365760"/>
          </a:xfrm>
          <a:prstGeom prst="rect">
            <a:avLst/>
          </a:prstGeom>
          <a:noFill/>
          <a:ln/>
        </p:spPr>
        <p:txBody>
          <a:bodyPr wrap="square" rtlCol="0" anchor="ctr"/>
          <a:lstStyle/>
          <a:p>
            <a:pPr indent="0" marL="0">
              <a:buNone/>
            </a:pPr>
            <a:r>
              <a:rPr lang="en-US" sz="1000" b="1" dirty="0">
                <a:solidFill>
                  <a:srgbClr val="A26769"/>
                </a:solidFill>
                <a:latin typeface="Calibri" pitchFamily="34" charset="0"/>
                <a:ea typeface="Calibri" pitchFamily="34" charset="-122"/>
                <a:cs typeface="Calibri" pitchFamily="34" charset="-120"/>
              </a:rPr>
              <a:t>Example: </a:t>
            </a:r>
            <a:pPr indent="0" marL="0">
              <a:buNone/>
            </a:pPr>
            <a:r>
              <a:rPr lang="en-US" sz="1000" i="1" dirty="0">
                <a:solidFill>
                  <a:srgbClr val="2D3436"/>
                </a:solidFill>
                <a:latin typeface="Calibri" pitchFamily="34" charset="0"/>
                <a:ea typeface="Calibri" pitchFamily="34" charset="-122"/>
                <a:cs typeface="Calibri" pitchFamily="34" charset="-120"/>
              </a:rPr>
              <a:t>By December 2028, establish youth councils in 15 districts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INSTITUTIONAL GOVERNANCE</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Governance is the system by which your organization is directed and controlled. Good governance ensures accountability, transparency, and effective decision-making. It's the foundation for sustainability and stakeholder trust.</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KEY GOVERNANCE STRUCTURES</a:t>
            </a:r>
            <a:endParaRPr lang="en-US" sz="1600" dirty="0"/>
          </a:p>
        </p:txBody>
      </p:sp>
      <p:sp>
        <p:nvSpPr>
          <p:cNvPr id="6" name="Shape 3"/>
          <p:cNvSpPr/>
          <p:nvPr/>
        </p:nvSpPr>
        <p:spPr>
          <a:xfrm>
            <a:off x="457200" y="2377440"/>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4"/>
          <p:cNvSpPr/>
          <p:nvPr/>
        </p:nvSpPr>
        <p:spPr>
          <a:xfrm>
            <a:off x="457200" y="2377440"/>
            <a:ext cx="2011680" cy="594360"/>
          </a:xfrm>
          <a:prstGeom prst="rect">
            <a:avLst/>
          </a:prstGeom>
          <a:solidFill>
            <a:srgbClr val="6D2E46"/>
          </a:solidFill>
          <a:ln/>
        </p:spPr>
      </p:sp>
      <p:sp>
        <p:nvSpPr>
          <p:cNvPr id="8" name="Text 5"/>
          <p:cNvSpPr/>
          <p:nvPr/>
        </p:nvSpPr>
        <p:spPr>
          <a:xfrm>
            <a:off x="548640" y="246888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Board of Directors</a:t>
            </a:r>
            <a:endParaRPr lang="en-US" sz="1200" dirty="0"/>
          </a:p>
        </p:txBody>
      </p:sp>
      <p:sp>
        <p:nvSpPr>
          <p:cNvPr id="9" name="Text 6"/>
          <p:cNvSpPr/>
          <p:nvPr/>
        </p:nvSpPr>
        <p:spPr>
          <a:xfrm>
            <a:off x="2651760" y="2450592"/>
            <a:ext cx="2743200" cy="228600"/>
          </a:xfrm>
          <a:prstGeom prst="rect">
            <a:avLst/>
          </a:prstGeom>
          <a:noFill/>
          <a:ln/>
        </p:spPr>
        <p:txBody>
          <a:bodyPr wrap="square" rtlCol="0" anchor="t"/>
          <a:lstStyle/>
          <a:p>
            <a:pPr indent="0" marL="0">
              <a:buNone/>
            </a:pPr>
            <a:r>
              <a:rPr lang="en-US" sz="1000" b="1" dirty="0">
                <a:solidFill>
                  <a:srgbClr val="6D2E46"/>
                </a:solidFill>
                <a:latin typeface="Calibri" pitchFamily="34" charset="0"/>
                <a:ea typeface="Calibri" pitchFamily="34" charset="-122"/>
                <a:cs typeface="Calibri" pitchFamily="34" charset="-120"/>
              </a:rPr>
              <a:t>Role: </a:t>
            </a:r>
            <a:pPr indent="0" marL="0">
              <a:buNone/>
            </a:pPr>
            <a:r>
              <a:rPr lang="en-US" sz="1000" dirty="0">
                <a:solidFill>
                  <a:srgbClr val="2D3436"/>
                </a:solidFill>
                <a:latin typeface="Calibri" pitchFamily="34" charset="0"/>
                <a:ea typeface="Calibri" pitchFamily="34" charset="-122"/>
                <a:cs typeface="Calibri" pitchFamily="34" charset="-120"/>
              </a:rPr>
              <a:t>Sets strategic direction, oversees management, ensures legal compliance, safeguards mission</a:t>
            </a:r>
            <a:endParaRPr lang="en-US" sz="1000" dirty="0"/>
          </a:p>
        </p:txBody>
      </p:sp>
      <p:sp>
        <p:nvSpPr>
          <p:cNvPr id="10" name="Text 7"/>
          <p:cNvSpPr/>
          <p:nvPr/>
        </p:nvSpPr>
        <p:spPr>
          <a:xfrm>
            <a:off x="2651760" y="2697480"/>
            <a:ext cx="5852160" cy="228600"/>
          </a:xfrm>
          <a:prstGeom prst="rect">
            <a:avLst/>
          </a:prstGeom>
          <a:noFill/>
          <a:ln/>
        </p:spPr>
        <p:txBody>
          <a:bodyPr wrap="square" rtlCol="0" anchor="t"/>
          <a:lstStyle/>
          <a:p>
            <a:pPr indent="0" marL="0">
              <a:buNone/>
            </a:pPr>
            <a:r>
              <a:rPr lang="en-US" sz="1000" b="1" dirty="0">
                <a:solidFill>
                  <a:srgbClr val="A26769"/>
                </a:solidFill>
                <a:latin typeface="Calibri" pitchFamily="34" charset="0"/>
                <a:ea typeface="Calibri" pitchFamily="34" charset="-122"/>
                <a:cs typeface="Calibri" pitchFamily="34" charset="-120"/>
              </a:rPr>
              <a:t>Best Practice: </a:t>
            </a:r>
            <a:pPr indent="0" marL="0">
              <a:buNone/>
            </a:pPr>
            <a:r>
              <a:rPr lang="en-US" sz="1000" dirty="0">
                <a:solidFill>
                  <a:srgbClr val="2D3436"/>
                </a:solidFill>
                <a:latin typeface="Calibri" pitchFamily="34" charset="0"/>
                <a:ea typeface="Calibri" pitchFamily="34" charset="-122"/>
                <a:cs typeface="Calibri" pitchFamily="34" charset="-120"/>
              </a:rPr>
              <a:t>5-9 members with diverse skills (finance, law, sector expertise). Meet quarterly. Term limits (e.g., 3 years, renewable once).</a:t>
            </a:r>
            <a:endParaRPr lang="en-US" sz="1000" dirty="0"/>
          </a:p>
        </p:txBody>
      </p:sp>
      <p:sp>
        <p:nvSpPr>
          <p:cNvPr id="11" name="Shape 8"/>
          <p:cNvSpPr/>
          <p:nvPr/>
        </p:nvSpPr>
        <p:spPr>
          <a:xfrm>
            <a:off x="457200" y="3044952"/>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9"/>
          <p:cNvSpPr/>
          <p:nvPr/>
        </p:nvSpPr>
        <p:spPr>
          <a:xfrm>
            <a:off x="457200" y="3044952"/>
            <a:ext cx="2011680" cy="594360"/>
          </a:xfrm>
          <a:prstGeom prst="rect">
            <a:avLst/>
          </a:prstGeom>
          <a:solidFill>
            <a:srgbClr val="6D2E46"/>
          </a:solidFill>
          <a:ln/>
        </p:spPr>
      </p:sp>
      <p:sp>
        <p:nvSpPr>
          <p:cNvPr id="13" name="Text 10"/>
          <p:cNvSpPr/>
          <p:nvPr/>
        </p:nvSpPr>
        <p:spPr>
          <a:xfrm>
            <a:off x="548640" y="3136392"/>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Executive Leadership</a:t>
            </a:r>
            <a:endParaRPr lang="en-US" sz="1200" dirty="0"/>
          </a:p>
        </p:txBody>
      </p:sp>
      <p:sp>
        <p:nvSpPr>
          <p:cNvPr id="14" name="Text 11"/>
          <p:cNvSpPr/>
          <p:nvPr/>
        </p:nvSpPr>
        <p:spPr>
          <a:xfrm>
            <a:off x="2651760" y="3118104"/>
            <a:ext cx="2743200" cy="228600"/>
          </a:xfrm>
          <a:prstGeom prst="rect">
            <a:avLst/>
          </a:prstGeom>
          <a:noFill/>
          <a:ln/>
        </p:spPr>
        <p:txBody>
          <a:bodyPr wrap="square" rtlCol="0" anchor="t"/>
          <a:lstStyle/>
          <a:p>
            <a:pPr indent="0" marL="0">
              <a:buNone/>
            </a:pPr>
            <a:r>
              <a:rPr lang="en-US" sz="1000" b="1" dirty="0">
                <a:solidFill>
                  <a:srgbClr val="6D2E46"/>
                </a:solidFill>
                <a:latin typeface="Calibri" pitchFamily="34" charset="0"/>
                <a:ea typeface="Calibri" pitchFamily="34" charset="-122"/>
                <a:cs typeface="Calibri" pitchFamily="34" charset="-120"/>
              </a:rPr>
              <a:t>Role: </a:t>
            </a:r>
            <a:pPr indent="0" marL="0">
              <a:buNone/>
            </a:pPr>
            <a:r>
              <a:rPr lang="en-US" sz="1000" dirty="0">
                <a:solidFill>
                  <a:srgbClr val="2D3436"/>
                </a:solidFill>
                <a:latin typeface="Calibri" pitchFamily="34" charset="0"/>
                <a:ea typeface="Calibri" pitchFamily="34" charset="-122"/>
                <a:cs typeface="Calibri" pitchFamily="34" charset="-120"/>
              </a:rPr>
              <a:t>Implements strategy, manages day-to-day operations, reports to board, leads staff</a:t>
            </a:r>
            <a:endParaRPr lang="en-US" sz="1000" dirty="0"/>
          </a:p>
        </p:txBody>
      </p:sp>
      <p:sp>
        <p:nvSpPr>
          <p:cNvPr id="15" name="Text 12"/>
          <p:cNvSpPr/>
          <p:nvPr/>
        </p:nvSpPr>
        <p:spPr>
          <a:xfrm>
            <a:off x="2651760" y="3364992"/>
            <a:ext cx="5852160" cy="228600"/>
          </a:xfrm>
          <a:prstGeom prst="rect">
            <a:avLst/>
          </a:prstGeom>
          <a:noFill/>
          <a:ln/>
        </p:spPr>
        <p:txBody>
          <a:bodyPr wrap="square" rtlCol="0" anchor="t"/>
          <a:lstStyle/>
          <a:p>
            <a:pPr indent="0" marL="0">
              <a:buNone/>
            </a:pPr>
            <a:r>
              <a:rPr lang="en-US" sz="1000" b="1" dirty="0">
                <a:solidFill>
                  <a:srgbClr val="A26769"/>
                </a:solidFill>
                <a:latin typeface="Calibri" pitchFamily="34" charset="0"/>
                <a:ea typeface="Calibri" pitchFamily="34" charset="-122"/>
                <a:cs typeface="Calibri" pitchFamily="34" charset="-120"/>
              </a:rPr>
              <a:t>Best Practice: </a:t>
            </a:r>
            <a:pPr indent="0" marL="0">
              <a:buNone/>
            </a:pPr>
            <a:r>
              <a:rPr lang="en-US" sz="1000" dirty="0">
                <a:solidFill>
                  <a:srgbClr val="2D3436"/>
                </a:solidFill>
                <a:latin typeface="Calibri" pitchFamily="34" charset="0"/>
                <a:ea typeface="Calibri" pitchFamily="34" charset="-122"/>
                <a:cs typeface="Calibri" pitchFamily="34" charset="-120"/>
              </a:rPr>
              <a:t>Clear job descriptions. Performance reviews. Separation of board and management roles to avoid conflicts.</a:t>
            </a:r>
            <a:endParaRPr lang="en-US" sz="1000" dirty="0"/>
          </a:p>
        </p:txBody>
      </p:sp>
      <p:sp>
        <p:nvSpPr>
          <p:cNvPr id="16" name="Shape 13"/>
          <p:cNvSpPr/>
          <p:nvPr/>
        </p:nvSpPr>
        <p:spPr>
          <a:xfrm>
            <a:off x="457200" y="3712464"/>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4"/>
          <p:cNvSpPr/>
          <p:nvPr/>
        </p:nvSpPr>
        <p:spPr>
          <a:xfrm>
            <a:off x="457200" y="3712464"/>
            <a:ext cx="2011680" cy="594360"/>
          </a:xfrm>
          <a:prstGeom prst="rect">
            <a:avLst/>
          </a:prstGeom>
          <a:solidFill>
            <a:srgbClr val="6D2E46"/>
          </a:solidFill>
          <a:ln/>
        </p:spPr>
      </p:sp>
      <p:sp>
        <p:nvSpPr>
          <p:cNvPr id="18" name="Text 15"/>
          <p:cNvSpPr/>
          <p:nvPr/>
        </p:nvSpPr>
        <p:spPr>
          <a:xfrm>
            <a:off x="548640" y="3803904"/>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General Assembly / Members</a:t>
            </a:r>
            <a:endParaRPr lang="en-US" sz="1200" dirty="0"/>
          </a:p>
        </p:txBody>
      </p:sp>
      <p:sp>
        <p:nvSpPr>
          <p:cNvPr id="19" name="Text 16"/>
          <p:cNvSpPr/>
          <p:nvPr/>
        </p:nvSpPr>
        <p:spPr>
          <a:xfrm>
            <a:off x="2651760" y="3785616"/>
            <a:ext cx="2743200" cy="228600"/>
          </a:xfrm>
          <a:prstGeom prst="rect">
            <a:avLst/>
          </a:prstGeom>
          <a:noFill/>
          <a:ln/>
        </p:spPr>
        <p:txBody>
          <a:bodyPr wrap="square" rtlCol="0" anchor="t"/>
          <a:lstStyle/>
          <a:p>
            <a:pPr indent="0" marL="0">
              <a:buNone/>
            </a:pPr>
            <a:r>
              <a:rPr lang="en-US" sz="1000" b="1" dirty="0">
                <a:solidFill>
                  <a:srgbClr val="6D2E46"/>
                </a:solidFill>
                <a:latin typeface="Calibri" pitchFamily="34" charset="0"/>
                <a:ea typeface="Calibri" pitchFamily="34" charset="-122"/>
                <a:cs typeface="Calibri" pitchFamily="34" charset="-120"/>
              </a:rPr>
              <a:t>Role: </a:t>
            </a:r>
            <a:pPr indent="0" marL="0">
              <a:buNone/>
            </a:pPr>
            <a:r>
              <a:rPr lang="en-US" sz="1000" dirty="0">
                <a:solidFill>
                  <a:srgbClr val="2D3436"/>
                </a:solidFill>
                <a:latin typeface="Calibri" pitchFamily="34" charset="0"/>
                <a:ea typeface="Calibri" pitchFamily="34" charset="-122"/>
                <a:cs typeface="Calibri" pitchFamily="34" charset="-120"/>
              </a:rPr>
              <a:t>Ultimate authority in member-based organizations. Elects board, approves major decisions</a:t>
            </a:r>
            <a:endParaRPr lang="en-US" sz="1000" dirty="0"/>
          </a:p>
        </p:txBody>
      </p:sp>
      <p:sp>
        <p:nvSpPr>
          <p:cNvPr id="20" name="Text 17"/>
          <p:cNvSpPr/>
          <p:nvPr/>
        </p:nvSpPr>
        <p:spPr>
          <a:xfrm>
            <a:off x="2651760" y="4032504"/>
            <a:ext cx="5852160" cy="228600"/>
          </a:xfrm>
          <a:prstGeom prst="rect">
            <a:avLst/>
          </a:prstGeom>
          <a:noFill/>
          <a:ln/>
        </p:spPr>
        <p:txBody>
          <a:bodyPr wrap="square" rtlCol="0" anchor="t"/>
          <a:lstStyle/>
          <a:p>
            <a:pPr indent="0" marL="0">
              <a:buNone/>
            </a:pPr>
            <a:r>
              <a:rPr lang="en-US" sz="1000" b="1" dirty="0">
                <a:solidFill>
                  <a:srgbClr val="A26769"/>
                </a:solidFill>
                <a:latin typeface="Calibri" pitchFamily="34" charset="0"/>
                <a:ea typeface="Calibri" pitchFamily="34" charset="-122"/>
                <a:cs typeface="Calibri" pitchFamily="34" charset="-120"/>
              </a:rPr>
              <a:t>Best Practice: </a:t>
            </a:r>
            <a:pPr indent="0" marL="0">
              <a:buNone/>
            </a:pPr>
            <a:r>
              <a:rPr lang="en-US" sz="1000" dirty="0">
                <a:solidFill>
                  <a:srgbClr val="2D3436"/>
                </a:solidFill>
                <a:latin typeface="Calibri" pitchFamily="34" charset="0"/>
                <a:ea typeface="Calibri" pitchFamily="34" charset="-122"/>
                <a:cs typeface="Calibri" pitchFamily="34" charset="-120"/>
              </a:rPr>
              <a:t>Hold annual meetings. Ensure diverse, active membership. Transparent voting processes.</a:t>
            </a:r>
            <a:endParaRPr lang="en-US" sz="1000" dirty="0"/>
          </a:p>
        </p:txBody>
      </p:sp>
      <p:sp>
        <p:nvSpPr>
          <p:cNvPr id="21" name="Shape 18"/>
          <p:cNvSpPr/>
          <p:nvPr/>
        </p:nvSpPr>
        <p:spPr>
          <a:xfrm>
            <a:off x="457200" y="4379976"/>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Shape 19"/>
          <p:cNvSpPr/>
          <p:nvPr/>
        </p:nvSpPr>
        <p:spPr>
          <a:xfrm>
            <a:off x="457200" y="4379976"/>
            <a:ext cx="2011680" cy="594360"/>
          </a:xfrm>
          <a:prstGeom prst="rect">
            <a:avLst/>
          </a:prstGeom>
          <a:solidFill>
            <a:srgbClr val="6D2E46"/>
          </a:solidFill>
          <a:ln/>
        </p:spPr>
      </p:sp>
      <p:sp>
        <p:nvSpPr>
          <p:cNvPr id="23" name="Text 20"/>
          <p:cNvSpPr/>
          <p:nvPr/>
        </p:nvSpPr>
        <p:spPr>
          <a:xfrm>
            <a:off x="548640" y="4471416"/>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Advisory Committees</a:t>
            </a:r>
            <a:endParaRPr lang="en-US" sz="1200" dirty="0"/>
          </a:p>
        </p:txBody>
      </p:sp>
      <p:sp>
        <p:nvSpPr>
          <p:cNvPr id="24" name="Text 21"/>
          <p:cNvSpPr/>
          <p:nvPr/>
        </p:nvSpPr>
        <p:spPr>
          <a:xfrm>
            <a:off x="2651760" y="4453128"/>
            <a:ext cx="2743200" cy="228600"/>
          </a:xfrm>
          <a:prstGeom prst="rect">
            <a:avLst/>
          </a:prstGeom>
          <a:noFill/>
          <a:ln/>
        </p:spPr>
        <p:txBody>
          <a:bodyPr wrap="square" rtlCol="0" anchor="t"/>
          <a:lstStyle/>
          <a:p>
            <a:pPr indent="0" marL="0">
              <a:buNone/>
            </a:pPr>
            <a:r>
              <a:rPr lang="en-US" sz="1000" b="1" dirty="0">
                <a:solidFill>
                  <a:srgbClr val="6D2E46"/>
                </a:solidFill>
                <a:latin typeface="Calibri" pitchFamily="34" charset="0"/>
                <a:ea typeface="Calibri" pitchFamily="34" charset="-122"/>
                <a:cs typeface="Calibri" pitchFamily="34" charset="-120"/>
              </a:rPr>
              <a:t>Role: </a:t>
            </a:r>
            <a:pPr indent="0" marL="0">
              <a:buNone/>
            </a:pPr>
            <a:r>
              <a:rPr lang="en-US" sz="1000" dirty="0">
                <a:solidFill>
                  <a:srgbClr val="2D3436"/>
                </a:solidFill>
                <a:latin typeface="Calibri" pitchFamily="34" charset="0"/>
                <a:ea typeface="Calibri" pitchFamily="34" charset="-122"/>
                <a:cs typeface="Calibri" pitchFamily="34" charset="-120"/>
              </a:rPr>
              <a:t>Provide technical expertise on specific issues (e.g., youth advisory committee, disability inclusion taskforce)</a:t>
            </a:r>
            <a:endParaRPr lang="en-US" sz="1000" dirty="0"/>
          </a:p>
        </p:txBody>
      </p:sp>
      <p:sp>
        <p:nvSpPr>
          <p:cNvPr id="25" name="Text 22"/>
          <p:cNvSpPr/>
          <p:nvPr/>
        </p:nvSpPr>
        <p:spPr>
          <a:xfrm>
            <a:off x="2651760" y="4700016"/>
            <a:ext cx="5852160" cy="228600"/>
          </a:xfrm>
          <a:prstGeom prst="rect">
            <a:avLst/>
          </a:prstGeom>
          <a:noFill/>
          <a:ln/>
        </p:spPr>
        <p:txBody>
          <a:bodyPr wrap="square" rtlCol="0" anchor="t"/>
          <a:lstStyle/>
          <a:p>
            <a:pPr indent="0" marL="0">
              <a:buNone/>
            </a:pPr>
            <a:r>
              <a:rPr lang="en-US" sz="1000" b="1" dirty="0">
                <a:solidFill>
                  <a:srgbClr val="A26769"/>
                </a:solidFill>
                <a:latin typeface="Calibri" pitchFamily="34" charset="0"/>
                <a:ea typeface="Calibri" pitchFamily="34" charset="-122"/>
                <a:cs typeface="Calibri" pitchFamily="34" charset="-120"/>
              </a:rPr>
              <a:t>Best Practice: </a:t>
            </a:r>
            <a:pPr indent="0" marL="0">
              <a:buNone/>
            </a:pPr>
            <a:r>
              <a:rPr lang="en-US" sz="1000" dirty="0">
                <a:solidFill>
                  <a:srgbClr val="2D3436"/>
                </a:solidFill>
                <a:latin typeface="Calibri" pitchFamily="34" charset="0"/>
                <a:ea typeface="Calibri" pitchFamily="34" charset="-122"/>
                <a:cs typeface="Calibri" pitchFamily="34" charset="-120"/>
              </a:rPr>
              <a:t>Include representatives from communities you serve. Compensate for their time and expertise.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SUCCESSION PLANNING</a:t>
            </a:r>
            <a:endParaRPr lang="en-US" sz="3600" dirty="0"/>
          </a:p>
        </p:txBody>
      </p:sp>
      <p:sp>
        <p:nvSpPr>
          <p:cNvPr id="3" name="Text 1"/>
          <p:cNvSpPr/>
          <p:nvPr/>
        </p:nvSpPr>
        <p:spPr>
          <a:xfrm>
            <a:off x="731520" y="1097280"/>
            <a:ext cx="7680960" cy="54864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Succession planning ensures your organization can continue its work when leaders leave. Many youth-led organizations struggle when founders move on. Planning ahead prevents organizational collapse and builds sustainability.</a:t>
            </a:r>
            <a:endParaRPr lang="en-US" sz="1400" dirty="0"/>
          </a:p>
        </p:txBody>
      </p:sp>
      <p:sp>
        <p:nvSpPr>
          <p:cNvPr id="4" name="Text 2"/>
          <p:cNvSpPr/>
          <p:nvPr/>
        </p:nvSpPr>
        <p:spPr>
          <a:xfrm>
            <a:off x="731520" y="178308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WHY SUCCESSION PLANNING MATTERS</a:t>
            </a:r>
            <a:endParaRPr lang="en-US" sz="1600" dirty="0"/>
          </a:p>
        </p:txBody>
      </p:sp>
      <p:pic>
        <p:nvPicPr>
          <p:cNvPr id="5" name="Image 0" descr="preencoded.png">    </p:cNvPr>
          <p:cNvPicPr>
            <a:picLocks noChangeAspect="1"/>
          </p:cNvPicPr>
          <p:nvPr/>
        </p:nvPicPr>
        <p:blipFill>
          <a:blip r:embed="rId1"/>
          <a:stretch>
            <a:fillRect/>
          </a:stretch>
        </p:blipFill>
        <p:spPr>
          <a:xfrm>
            <a:off x="731520" y="2212848"/>
            <a:ext cx="274320" cy="274320"/>
          </a:xfrm>
          <a:prstGeom prst="rect">
            <a:avLst/>
          </a:prstGeom>
        </p:spPr>
      </p:pic>
      <p:sp>
        <p:nvSpPr>
          <p:cNvPr id="6" name="Text 3"/>
          <p:cNvSpPr/>
          <p:nvPr/>
        </p:nvSpPr>
        <p:spPr>
          <a:xfrm>
            <a:off x="1097280" y="219456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Preserves institutional knowledge when people leave</a:t>
            </a:r>
            <a:endParaRPr lang="en-US" sz="1300" dirty="0"/>
          </a:p>
        </p:txBody>
      </p:sp>
      <p:pic>
        <p:nvPicPr>
          <p:cNvPr id="7" name="Image 1" descr="preencoded.png">    </p:cNvPr>
          <p:cNvPicPr>
            <a:picLocks noChangeAspect="1"/>
          </p:cNvPicPr>
          <p:nvPr/>
        </p:nvPicPr>
        <p:blipFill>
          <a:blip r:embed="rId2"/>
          <a:stretch>
            <a:fillRect/>
          </a:stretch>
        </p:blipFill>
        <p:spPr>
          <a:xfrm>
            <a:off x="731520" y="2578608"/>
            <a:ext cx="274320" cy="274320"/>
          </a:xfrm>
          <a:prstGeom prst="rect">
            <a:avLst/>
          </a:prstGeom>
        </p:spPr>
      </p:pic>
      <p:sp>
        <p:nvSpPr>
          <p:cNvPr id="8" name="Text 4"/>
          <p:cNvSpPr/>
          <p:nvPr/>
        </p:nvSpPr>
        <p:spPr>
          <a:xfrm>
            <a:off x="1097280" y="256032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Prevents leadership crises and organizational paralysis</a:t>
            </a:r>
            <a:endParaRPr lang="en-US" sz="1300" dirty="0"/>
          </a:p>
        </p:txBody>
      </p:sp>
      <p:pic>
        <p:nvPicPr>
          <p:cNvPr id="9" name="Image 2" descr="preencoded.png">    </p:cNvPr>
          <p:cNvPicPr>
            <a:picLocks noChangeAspect="1"/>
          </p:cNvPicPr>
          <p:nvPr/>
        </p:nvPicPr>
        <p:blipFill>
          <a:blip r:embed="rId3"/>
          <a:stretch>
            <a:fillRect/>
          </a:stretch>
        </p:blipFill>
        <p:spPr>
          <a:xfrm>
            <a:off x="731520" y="2944368"/>
            <a:ext cx="274320" cy="274320"/>
          </a:xfrm>
          <a:prstGeom prst="rect">
            <a:avLst/>
          </a:prstGeom>
        </p:spPr>
      </p:pic>
      <p:sp>
        <p:nvSpPr>
          <p:cNvPr id="10" name="Text 5"/>
          <p:cNvSpPr/>
          <p:nvPr/>
        </p:nvSpPr>
        <p:spPr>
          <a:xfrm>
            <a:off x="1097280" y="292608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Creates development opportunities for emerging leaders</a:t>
            </a:r>
            <a:endParaRPr lang="en-US" sz="1300" dirty="0"/>
          </a:p>
        </p:txBody>
      </p:sp>
      <p:pic>
        <p:nvPicPr>
          <p:cNvPr id="11" name="Image 3" descr="preencoded.png">    </p:cNvPr>
          <p:cNvPicPr>
            <a:picLocks noChangeAspect="1"/>
          </p:cNvPicPr>
          <p:nvPr/>
        </p:nvPicPr>
        <p:blipFill>
          <a:blip r:embed="rId4"/>
          <a:stretch>
            <a:fillRect/>
          </a:stretch>
        </p:blipFill>
        <p:spPr>
          <a:xfrm>
            <a:off x="731520" y="3310128"/>
            <a:ext cx="274320" cy="274320"/>
          </a:xfrm>
          <a:prstGeom prst="rect">
            <a:avLst/>
          </a:prstGeom>
        </p:spPr>
      </p:pic>
      <p:sp>
        <p:nvSpPr>
          <p:cNvPr id="12" name="Text 6"/>
          <p:cNvSpPr/>
          <p:nvPr/>
        </p:nvSpPr>
        <p:spPr>
          <a:xfrm>
            <a:off x="1097280" y="329184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Signals organizational maturity to donors and partners</a:t>
            </a:r>
            <a:endParaRPr lang="en-US" sz="1300" dirty="0"/>
          </a:p>
        </p:txBody>
      </p:sp>
      <p:pic>
        <p:nvPicPr>
          <p:cNvPr id="13" name="Image 4" descr="preencoded.png">    </p:cNvPr>
          <p:cNvPicPr>
            <a:picLocks noChangeAspect="1"/>
          </p:cNvPicPr>
          <p:nvPr/>
        </p:nvPicPr>
        <p:blipFill>
          <a:blip r:embed="rId5"/>
          <a:stretch>
            <a:fillRect/>
          </a:stretch>
        </p:blipFill>
        <p:spPr>
          <a:xfrm>
            <a:off x="731520" y="3675888"/>
            <a:ext cx="274320" cy="274320"/>
          </a:xfrm>
          <a:prstGeom prst="rect">
            <a:avLst/>
          </a:prstGeom>
        </p:spPr>
      </p:pic>
      <p:sp>
        <p:nvSpPr>
          <p:cNvPr id="14" name="Text 7"/>
          <p:cNvSpPr/>
          <p:nvPr/>
        </p:nvSpPr>
        <p:spPr>
          <a:xfrm>
            <a:off x="1097280" y="365760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Ensures continuity of programs and relationships</a:t>
            </a:r>
            <a:endParaRPr lang="en-US" sz="1300" dirty="0"/>
          </a:p>
        </p:txBody>
      </p:sp>
      <p:sp>
        <p:nvSpPr>
          <p:cNvPr id="15" name="Text 8"/>
          <p:cNvSpPr/>
          <p:nvPr/>
        </p:nvSpPr>
        <p:spPr>
          <a:xfrm>
            <a:off x="731520" y="411480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SUCCESSION PLANNING STEPS</a:t>
            </a:r>
            <a:endParaRPr lang="en-US" sz="1600" dirty="0"/>
          </a:p>
        </p:txBody>
      </p:sp>
      <p:sp>
        <p:nvSpPr>
          <p:cNvPr id="16" name="Shape 9"/>
          <p:cNvSpPr/>
          <p:nvPr/>
        </p:nvSpPr>
        <p:spPr>
          <a:xfrm>
            <a:off x="457200" y="4526280"/>
            <a:ext cx="420624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0"/>
          <p:cNvSpPr/>
          <p:nvPr/>
        </p:nvSpPr>
        <p:spPr>
          <a:xfrm>
            <a:off x="457200" y="4526280"/>
            <a:ext cx="73152" cy="502920"/>
          </a:xfrm>
          <a:prstGeom prst="rect">
            <a:avLst/>
          </a:prstGeom>
          <a:solidFill>
            <a:srgbClr val="A26769"/>
          </a:solidFill>
          <a:ln/>
        </p:spPr>
      </p:sp>
      <p:sp>
        <p:nvSpPr>
          <p:cNvPr id="18" name="Text 11"/>
          <p:cNvSpPr/>
          <p:nvPr/>
        </p:nvSpPr>
        <p:spPr>
          <a:xfrm>
            <a:off x="640080" y="4617720"/>
            <a:ext cx="3840480" cy="320040"/>
          </a:xfrm>
          <a:prstGeom prst="rect">
            <a:avLst/>
          </a:prstGeom>
          <a:noFill/>
          <a:ln/>
        </p:spPr>
        <p:txBody>
          <a:bodyPr wrap="square"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Identify Critical Roles: </a:t>
            </a:r>
            <a:pPr indent="0" marL="0">
              <a:buNone/>
            </a:pPr>
            <a:r>
              <a:rPr lang="en-US" sz="1000" dirty="0">
                <a:solidFill>
                  <a:srgbClr val="2D3436"/>
                </a:solidFill>
                <a:latin typeface="Calibri" pitchFamily="34" charset="0"/>
                <a:ea typeface="Calibri" pitchFamily="34" charset="-122"/>
                <a:cs typeface="Calibri" pitchFamily="34" charset="-120"/>
              </a:rPr>
              <a:t>Map key positions that would disrupt operations if vacant (ED, finance manager, program leads)</a:t>
            </a:r>
            <a:endParaRPr lang="en-US" sz="1000" dirty="0"/>
          </a:p>
        </p:txBody>
      </p:sp>
      <p:sp>
        <p:nvSpPr>
          <p:cNvPr id="19" name="Shape 12"/>
          <p:cNvSpPr/>
          <p:nvPr/>
        </p:nvSpPr>
        <p:spPr>
          <a:xfrm>
            <a:off x="4937760" y="4526280"/>
            <a:ext cx="420624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3"/>
          <p:cNvSpPr/>
          <p:nvPr/>
        </p:nvSpPr>
        <p:spPr>
          <a:xfrm>
            <a:off x="4937760" y="4526280"/>
            <a:ext cx="73152" cy="502920"/>
          </a:xfrm>
          <a:prstGeom prst="rect">
            <a:avLst/>
          </a:prstGeom>
          <a:solidFill>
            <a:srgbClr val="A26769"/>
          </a:solidFill>
          <a:ln/>
        </p:spPr>
      </p:sp>
      <p:sp>
        <p:nvSpPr>
          <p:cNvPr id="21" name="Text 14"/>
          <p:cNvSpPr/>
          <p:nvPr/>
        </p:nvSpPr>
        <p:spPr>
          <a:xfrm>
            <a:off x="5120640" y="4617720"/>
            <a:ext cx="3840480" cy="320040"/>
          </a:xfrm>
          <a:prstGeom prst="rect">
            <a:avLst/>
          </a:prstGeom>
          <a:noFill/>
          <a:ln/>
        </p:spPr>
        <p:txBody>
          <a:bodyPr wrap="square"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Develop Internal Talent: </a:t>
            </a:r>
            <a:pPr indent="0" marL="0">
              <a:buNone/>
            </a:pPr>
            <a:r>
              <a:rPr lang="en-US" sz="1000" dirty="0">
                <a:solidFill>
                  <a:srgbClr val="2D3436"/>
                </a:solidFill>
                <a:latin typeface="Calibri" pitchFamily="34" charset="0"/>
                <a:ea typeface="Calibri" pitchFamily="34" charset="-122"/>
                <a:cs typeface="Calibri" pitchFamily="34" charset="-120"/>
              </a:rPr>
              <a:t>Create mentorship programs. Cross-train staff. Delegate leadership responsibilities gradually.</a:t>
            </a:r>
            <a:endParaRPr lang="en-US" sz="1000" dirty="0"/>
          </a:p>
        </p:txBody>
      </p:sp>
      <p:sp>
        <p:nvSpPr>
          <p:cNvPr id="22" name="Shape 15"/>
          <p:cNvSpPr/>
          <p:nvPr/>
        </p:nvSpPr>
        <p:spPr>
          <a:xfrm>
            <a:off x="457200" y="5102352"/>
            <a:ext cx="420624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3" name="Shape 16"/>
          <p:cNvSpPr/>
          <p:nvPr/>
        </p:nvSpPr>
        <p:spPr>
          <a:xfrm>
            <a:off x="457200" y="5102352"/>
            <a:ext cx="73152" cy="502920"/>
          </a:xfrm>
          <a:prstGeom prst="rect">
            <a:avLst/>
          </a:prstGeom>
          <a:solidFill>
            <a:srgbClr val="A26769"/>
          </a:solidFill>
          <a:ln/>
        </p:spPr>
      </p:sp>
      <p:sp>
        <p:nvSpPr>
          <p:cNvPr id="24" name="Text 17"/>
          <p:cNvSpPr/>
          <p:nvPr/>
        </p:nvSpPr>
        <p:spPr>
          <a:xfrm>
            <a:off x="640080" y="5193792"/>
            <a:ext cx="3840480" cy="320040"/>
          </a:xfrm>
          <a:prstGeom prst="rect">
            <a:avLst/>
          </a:prstGeom>
          <a:noFill/>
          <a:ln/>
        </p:spPr>
        <p:txBody>
          <a:bodyPr wrap="square"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Document Institutional Knowledge: </a:t>
            </a:r>
            <a:pPr indent="0" marL="0">
              <a:buNone/>
            </a:pPr>
            <a:r>
              <a:rPr lang="en-US" sz="1000" dirty="0">
                <a:solidFill>
                  <a:srgbClr val="2D3436"/>
                </a:solidFill>
                <a:latin typeface="Calibri" pitchFamily="34" charset="0"/>
                <a:ea typeface="Calibri" pitchFamily="34" charset="-122"/>
                <a:cs typeface="Calibri" pitchFamily="34" charset="-120"/>
              </a:rPr>
              <a:t>Write down processes, relationships, tacit knowledge. Create handover documents for each role.</a:t>
            </a:r>
            <a:endParaRPr lang="en-US" sz="1000" dirty="0"/>
          </a:p>
        </p:txBody>
      </p:sp>
      <p:sp>
        <p:nvSpPr>
          <p:cNvPr id="25" name="Shape 18"/>
          <p:cNvSpPr/>
          <p:nvPr/>
        </p:nvSpPr>
        <p:spPr>
          <a:xfrm>
            <a:off x="4937760" y="5102352"/>
            <a:ext cx="420624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Shape 19"/>
          <p:cNvSpPr/>
          <p:nvPr/>
        </p:nvSpPr>
        <p:spPr>
          <a:xfrm>
            <a:off x="4937760" y="5102352"/>
            <a:ext cx="73152" cy="502920"/>
          </a:xfrm>
          <a:prstGeom prst="rect">
            <a:avLst/>
          </a:prstGeom>
          <a:solidFill>
            <a:srgbClr val="A26769"/>
          </a:solidFill>
          <a:ln/>
        </p:spPr>
      </p:sp>
      <p:sp>
        <p:nvSpPr>
          <p:cNvPr id="27" name="Text 20"/>
          <p:cNvSpPr/>
          <p:nvPr/>
        </p:nvSpPr>
        <p:spPr>
          <a:xfrm>
            <a:off x="5120640" y="5193792"/>
            <a:ext cx="3840480" cy="320040"/>
          </a:xfrm>
          <a:prstGeom prst="rect">
            <a:avLst/>
          </a:prstGeom>
          <a:noFill/>
          <a:ln/>
        </p:spPr>
        <p:txBody>
          <a:bodyPr wrap="square"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Create Emergency Plans: </a:t>
            </a:r>
            <a:pPr indent="0" marL="0">
              <a:buNone/>
            </a:pPr>
            <a:r>
              <a:rPr lang="en-US" sz="1000" dirty="0">
                <a:solidFill>
                  <a:srgbClr val="2D3436"/>
                </a:solidFill>
                <a:latin typeface="Calibri" pitchFamily="34" charset="0"/>
                <a:ea typeface="Calibri" pitchFamily="34" charset="-122"/>
                <a:cs typeface="Calibri" pitchFamily="34" charset="-120"/>
              </a:rPr>
              <a:t>Have interim leadership protocols if someone leaves suddenly. Designate acting roles.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RISK MANAGEMENT</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Risk management means identifying potential threats to your organization and taking steps to minimize their impact. All organizations face risks—the question is whether you're prepared.</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COMMON RISKS FOR YOUTH-LED NGOS</a:t>
            </a:r>
            <a:endParaRPr lang="en-US" sz="1600" dirty="0"/>
          </a:p>
        </p:txBody>
      </p:sp>
      <p:sp>
        <p:nvSpPr>
          <p:cNvPr id="6" name="Shape 3"/>
          <p:cNvSpPr/>
          <p:nvPr/>
        </p:nvSpPr>
        <p:spPr>
          <a:xfrm>
            <a:off x="457200" y="2377440"/>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4"/>
          <p:cNvSpPr/>
          <p:nvPr/>
        </p:nvSpPr>
        <p:spPr>
          <a:xfrm>
            <a:off x="457200" y="2377440"/>
            <a:ext cx="1828800" cy="502920"/>
          </a:xfrm>
          <a:prstGeom prst="rect">
            <a:avLst/>
          </a:prstGeom>
          <a:solidFill>
            <a:srgbClr val="E07A5F"/>
          </a:solidFill>
          <a:ln/>
        </p:spPr>
      </p:sp>
      <p:sp>
        <p:nvSpPr>
          <p:cNvPr id="8" name="Text 5"/>
          <p:cNvSpPr/>
          <p:nvPr/>
        </p:nvSpPr>
        <p:spPr>
          <a:xfrm>
            <a:off x="548640" y="2468880"/>
            <a:ext cx="164592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Financial Risks</a:t>
            </a:r>
            <a:endParaRPr lang="en-US" sz="1100" dirty="0"/>
          </a:p>
        </p:txBody>
      </p:sp>
      <p:sp>
        <p:nvSpPr>
          <p:cNvPr id="9" name="Text 6"/>
          <p:cNvSpPr/>
          <p:nvPr/>
        </p:nvSpPr>
        <p:spPr>
          <a:xfrm>
            <a:off x="2468880" y="2450592"/>
            <a:ext cx="2743200" cy="182880"/>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Examples: </a:t>
            </a:r>
            <a:pPr indent="0" marL="0">
              <a:buNone/>
            </a:pPr>
            <a:r>
              <a:rPr lang="en-US" sz="900" dirty="0">
                <a:solidFill>
                  <a:srgbClr val="2D3436"/>
                </a:solidFill>
                <a:latin typeface="Calibri" pitchFamily="34" charset="0"/>
                <a:ea typeface="Calibri" pitchFamily="34" charset="-122"/>
                <a:cs typeface="Calibri" pitchFamily="34" charset="-120"/>
              </a:rPr>
              <a:t>Donor funding cuts, fraud/theft, budget shortfalls</a:t>
            </a:r>
            <a:endParaRPr lang="en-US" sz="900" dirty="0"/>
          </a:p>
        </p:txBody>
      </p:sp>
      <p:sp>
        <p:nvSpPr>
          <p:cNvPr id="10" name="Text 7"/>
          <p:cNvSpPr/>
          <p:nvPr/>
        </p:nvSpPr>
        <p:spPr>
          <a:xfrm>
            <a:off x="2468880" y="2651760"/>
            <a:ext cx="6035040" cy="182880"/>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Mitigation: </a:t>
            </a:r>
            <a:pPr indent="0" marL="0">
              <a:buNone/>
            </a:pPr>
            <a:r>
              <a:rPr lang="en-US" sz="900" dirty="0">
                <a:solidFill>
                  <a:srgbClr val="2D3436"/>
                </a:solidFill>
                <a:latin typeface="Calibri" pitchFamily="34" charset="0"/>
                <a:ea typeface="Calibri" pitchFamily="34" charset="-122"/>
                <a:cs typeface="Calibri" pitchFamily="34" charset="-120"/>
              </a:rPr>
              <a:t>Diversify funding sources. Strong financial controls (dual signatures, audits). Build reserves.</a:t>
            </a:r>
            <a:endParaRPr lang="en-US" sz="900" dirty="0"/>
          </a:p>
        </p:txBody>
      </p:sp>
      <p:sp>
        <p:nvSpPr>
          <p:cNvPr id="11" name="Shape 8"/>
          <p:cNvSpPr/>
          <p:nvPr/>
        </p:nvSpPr>
        <p:spPr>
          <a:xfrm>
            <a:off x="457200" y="2953512"/>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9"/>
          <p:cNvSpPr/>
          <p:nvPr/>
        </p:nvSpPr>
        <p:spPr>
          <a:xfrm>
            <a:off x="457200" y="2953512"/>
            <a:ext cx="1828800" cy="502920"/>
          </a:xfrm>
          <a:prstGeom prst="rect">
            <a:avLst/>
          </a:prstGeom>
          <a:solidFill>
            <a:srgbClr val="E07A5F"/>
          </a:solidFill>
          <a:ln/>
        </p:spPr>
      </p:sp>
      <p:sp>
        <p:nvSpPr>
          <p:cNvPr id="13" name="Text 10"/>
          <p:cNvSpPr/>
          <p:nvPr/>
        </p:nvSpPr>
        <p:spPr>
          <a:xfrm>
            <a:off x="548640" y="3044952"/>
            <a:ext cx="164592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Operational Risks</a:t>
            </a:r>
            <a:endParaRPr lang="en-US" sz="1100" dirty="0"/>
          </a:p>
        </p:txBody>
      </p:sp>
      <p:sp>
        <p:nvSpPr>
          <p:cNvPr id="14" name="Text 11"/>
          <p:cNvSpPr/>
          <p:nvPr/>
        </p:nvSpPr>
        <p:spPr>
          <a:xfrm>
            <a:off x="2468880" y="3026664"/>
            <a:ext cx="2743200" cy="182880"/>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Examples: </a:t>
            </a:r>
            <a:pPr indent="0" marL="0">
              <a:buNone/>
            </a:pPr>
            <a:r>
              <a:rPr lang="en-US" sz="900" dirty="0">
                <a:solidFill>
                  <a:srgbClr val="2D3436"/>
                </a:solidFill>
                <a:latin typeface="Calibri" pitchFamily="34" charset="0"/>
                <a:ea typeface="Calibri" pitchFamily="34" charset="-122"/>
                <a:cs typeface="Calibri" pitchFamily="34" charset="-120"/>
              </a:rPr>
              <a:t>Key staff leaving, project delays, equipment failures</a:t>
            </a:r>
            <a:endParaRPr lang="en-US" sz="900" dirty="0"/>
          </a:p>
        </p:txBody>
      </p:sp>
      <p:sp>
        <p:nvSpPr>
          <p:cNvPr id="15" name="Text 12"/>
          <p:cNvSpPr/>
          <p:nvPr/>
        </p:nvSpPr>
        <p:spPr>
          <a:xfrm>
            <a:off x="2468880" y="3227832"/>
            <a:ext cx="6035040" cy="182880"/>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Mitigation: </a:t>
            </a:r>
            <a:pPr indent="0" marL="0">
              <a:buNone/>
            </a:pPr>
            <a:r>
              <a:rPr lang="en-US" sz="900" dirty="0">
                <a:solidFill>
                  <a:srgbClr val="2D3436"/>
                </a:solidFill>
                <a:latin typeface="Calibri" pitchFamily="34" charset="0"/>
                <a:ea typeface="Calibri" pitchFamily="34" charset="-122"/>
                <a:cs typeface="Calibri" pitchFamily="34" charset="-120"/>
              </a:rPr>
              <a:t>Succession planning. Backup systems. Insurance coverage. Contingency plans.</a:t>
            </a:r>
            <a:endParaRPr lang="en-US" sz="900" dirty="0"/>
          </a:p>
        </p:txBody>
      </p:sp>
      <p:sp>
        <p:nvSpPr>
          <p:cNvPr id="16" name="Shape 13"/>
          <p:cNvSpPr/>
          <p:nvPr/>
        </p:nvSpPr>
        <p:spPr>
          <a:xfrm>
            <a:off x="457200" y="3529584"/>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4"/>
          <p:cNvSpPr/>
          <p:nvPr/>
        </p:nvSpPr>
        <p:spPr>
          <a:xfrm>
            <a:off x="457200" y="3529584"/>
            <a:ext cx="1828800" cy="502920"/>
          </a:xfrm>
          <a:prstGeom prst="rect">
            <a:avLst/>
          </a:prstGeom>
          <a:solidFill>
            <a:srgbClr val="E07A5F"/>
          </a:solidFill>
          <a:ln/>
        </p:spPr>
      </p:sp>
      <p:sp>
        <p:nvSpPr>
          <p:cNvPr id="18" name="Text 15"/>
          <p:cNvSpPr/>
          <p:nvPr/>
        </p:nvSpPr>
        <p:spPr>
          <a:xfrm>
            <a:off x="548640" y="3621024"/>
            <a:ext cx="164592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Reputational Risks</a:t>
            </a:r>
            <a:endParaRPr lang="en-US" sz="1100" dirty="0"/>
          </a:p>
        </p:txBody>
      </p:sp>
      <p:sp>
        <p:nvSpPr>
          <p:cNvPr id="19" name="Text 16"/>
          <p:cNvSpPr/>
          <p:nvPr/>
        </p:nvSpPr>
        <p:spPr>
          <a:xfrm>
            <a:off x="2468880" y="3602736"/>
            <a:ext cx="2743200" cy="182880"/>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Examples: </a:t>
            </a:r>
            <a:pPr indent="0" marL="0">
              <a:buNone/>
            </a:pPr>
            <a:r>
              <a:rPr lang="en-US" sz="900" dirty="0">
                <a:solidFill>
                  <a:srgbClr val="2D3436"/>
                </a:solidFill>
                <a:latin typeface="Calibri" pitchFamily="34" charset="0"/>
                <a:ea typeface="Calibri" pitchFamily="34" charset="-122"/>
                <a:cs typeface="Calibri" pitchFamily="34" charset="-120"/>
              </a:rPr>
              <a:t>Scandals, program failures, negative media coverage</a:t>
            </a:r>
            <a:endParaRPr lang="en-US" sz="900" dirty="0"/>
          </a:p>
        </p:txBody>
      </p:sp>
      <p:sp>
        <p:nvSpPr>
          <p:cNvPr id="20" name="Text 17"/>
          <p:cNvSpPr/>
          <p:nvPr/>
        </p:nvSpPr>
        <p:spPr>
          <a:xfrm>
            <a:off x="2468880" y="3803904"/>
            <a:ext cx="6035040" cy="182880"/>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Mitigation: </a:t>
            </a:r>
            <a:pPr indent="0" marL="0">
              <a:buNone/>
            </a:pPr>
            <a:r>
              <a:rPr lang="en-US" sz="900" dirty="0">
                <a:solidFill>
                  <a:srgbClr val="2D3436"/>
                </a:solidFill>
                <a:latin typeface="Calibri" pitchFamily="34" charset="0"/>
                <a:ea typeface="Calibri" pitchFamily="34" charset="-122"/>
                <a:cs typeface="Calibri" pitchFamily="34" charset="-120"/>
              </a:rPr>
              <a:t>Safeguarding policies. Transparent communication. Crisis communication plan.</a:t>
            </a:r>
            <a:endParaRPr lang="en-US" sz="900" dirty="0"/>
          </a:p>
        </p:txBody>
      </p:sp>
      <p:sp>
        <p:nvSpPr>
          <p:cNvPr id="21" name="Shape 18"/>
          <p:cNvSpPr/>
          <p:nvPr/>
        </p:nvSpPr>
        <p:spPr>
          <a:xfrm>
            <a:off x="457200" y="4105656"/>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Shape 19"/>
          <p:cNvSpPr/>
          <p:nvPr/>
        </p:nvSpPr>
        <p:spPr>
          <a:xfrm>
            <a:off x="457200" y="4105656"/>
            <a:ext cx="1828800" cy="502920"/>
          </a:xfrm>
          <a:prstGeom prst="rect">
            <a:avLst/>
          </a:prstGeom>
          <a:solidFill>
            <a:srgbClr val="E07A5F"/>
          </a:solidFill>
          <a:ln/>
        </p:spPr>
      </p:sp>
      <p:sp>
        <p:nvSpPr>
          <p:cNvPr id="23" name="Text 20"/>
          <p:cNvSpPr/>
          <p:nvPr/>
        </p:nvSpPr>
        <p:spPr>
          <a:xfrm>
            <a:off x="548640" y="4197096"/>
            <a:ext cx="164592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Legal/Regulatory Risks</a:t>
            </a:r>
            <a:endParaRPr lang="en-US" sz="1100" dirty="0"/>
          </a:p>
        </p:txBody>
      </p:sp>
      <p:sp>
        <p:nvSpPr>
          <p:cNvPr id="24" name="Text 21"/>
          <p:cNvSpPr/>
          <p:nvPr/>
        </p:nvSpPr>
        <p:spPr>
          <a:xfrm>
            <a:off x="2468880" y="4178808"/>
            <a:ext cx="2743200" cy="182880"/>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Examples: </a:t>
            </a:r>
            <a:pPr indent="0" marL="0">
              <a:buNone/>
            </a:pPr>
            <a:r>
              <a:rPr lang="en-US" sz="900" dirty="0">
                <a:solidFill>
                  <a:srgbClr val="2D3436"/>
                </a:solidFill>
                <a:latin typeface="Calibri" pitchFamily="34" charset="0"/>
                <a:ea typeface="Calibri" pitchFamily="34" charset="-122"/>
                <a:cs typeface="Calibri" pitchFamily="34" charset="-120"/>
              </a:rPr>
              <a:t>Non-compliance with laws, contract disputes, liability claims</a:t>
            </a:r>
            <a:endParaRPr lang="en-US" sz="900" dirty="0"/>
          </a:p>
        </p:txBody>
      </p:sp>
      <p:sp>
        <p:nvSpPr>
          <p:cNvPr id="25" name="Text 22"/>
          <p:cNvSpPr/>
          <p:nvPr/>
        </p:nvSpPr>
        <p:spPr>
          <a:xfrm>
            <a:off x="2468880" y="4379976"/>
            <a:ext cx="6035040" cy="182880"/>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Mitigation: </a:t>
            </a:r>
            <a:pPr indent="0" marL="0">
              <a:buNone/>
            </a:pPr>
            <a:r>
              <a:rPr lang="en-US" sz="900" dirty="0">
                <a:solidFill>
                  <a:srgbClr val="2D3436"/>
                </a:solidFill>
                <a:latin typeface="Calibri" pitchFamily="34" charset="0"/>
                <a:ea typeface="Calibri" pitchFamily="34" charset="-122"/>
                <a:cs typeface="Calibri" pitchFamily="34" charset="-120"/>
              </a:rPr>
              <a:t>Stay informed on legal requirements. Consult lawyers. Maintain proper documentation.</a:t>
            </a:r>
            <a:endParaRPr lang="en-US" sz="900" dirty="0"/>
          </a:p>
        </p:txBody>
      </p:sp>
      <p:sp>
        <p:nvSpPr>
          <p:cNvPr id="26" name="Shape 23"/>
          <p:cNvSpPr/>
          <p:nvPr/>
        </p:nvSpPr>
        <p:spPr>
          <a:xfrm>
            <a:off x="457200" y="4681728"/>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7" name="Shape 24"/>
          <p:cNvSpPr/>
          <p:nvPr/>
        </p:nvSpPr>
        <p:spPr>
          <a:xfrm>
            <a:off x="457200" y="4681728"/>
            <a:ext cx="1828800" cy="502920"/>
          </a:xfrm>
          <a:prstGeom prst="rect">
            <a:avLst/>
          </a:prstGeom>
          <a:solidFill>
            <a:srgbClr val="E07A5F"/>
          </a:solidFill>
          <a:ln/>
        </p:spPr>
      </p:sp>
      <p:sp>
        <p:nvSpPr>
          <p:cNvPr id="28" name="Text 25"/>
          <p:cNvSpPr/>
          <p:nvPr/>
        </p:nvSpPr>
        <p:spPr>
          <a:xfrm>
            <a:off x="548640" y="4773168"/>
            <a:ext cx="164592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Safety &amp; Security Risks</a:t>
            </a:r>
            <a:endParaRPr lang="en-US" sz="1100" dirty="0"/>
          </a:p>
        </p:txBody>
      </p:sp>
      <p:sp>
        <p:nvSpPr>
          <p:cNvPr id="29" name="Text 26"/>
          <p:cNvSpPr/>
          <p:nvPr/>
        </p:nvSpPr>
        <p:spPr>
          <a:xfrm>
            <a:off x="2468880" y="4754880"/>
            <a:ext cx="2743200" cy="182880"/>
          </a:xfrm>
          <a:prstGeom prst="rect">
            <a:avLst/>
          </a:prstGeom>
          <a:noFill/>
          <a:ln/>
        </p:spPr>
        <p:txBody>
          <a:bodyPr wrap="square" rtlCol="0" anchor="t"/>
          <a:lstStyle/>
          <a:p>
            <a:pPr indent="0" marL="0">
              <a:buNone/>
            </a:pPr>
            <a:r>
              <a:rPr lang="en-US" sz="900" b="1" dirty="0">
                <a:solidFill>
                  <a:srgbClr val="6D2E46"/>
                </a:solidFill>
                <a:latin typeface="Calibri" pitchFamily="34" charset="0"/>
                <a:ea typeface="Calibri" pitchFamily="34" charset="-122"/>
                <a:cs typeface="Calibri" pitchFamily="34" charset="-120"/>
              </a:rPr>
              <a:t>Examples: </a:t>
            </a:r>
            <a:pPr indent="0" marL="0">
              <a:buNone/>
            </a:pPr>
            <a:r>
              <a:rPr lang="en-US" sz="900" dirty="0">
                <a:solidFill>
                  <a:srgbClr val="2D3436"/>
                </a:solidFill>
                <a:latin typeface="Calibri" pitchFamily="34" charset="0"/>
                <a:ea typeface="Calibri" pitchFamily="34" charset="-122"/>
                <a:cs typeface="Calibri" pitchFamily="34" charset="-120"/>
              </a:rPr>
              <a:t>Staff/beneficiary harm, data breaches, political instability</a:t>
            </a:r>
            <a:endParaRPr lang="en-US" sz="900" dirty="0"/>
          </a:p>
        </p:txBody>
      </p:sp>
      <p:sp>
        <p:nvSpPr>
          <p:cNvPr id="30" name="Text 27"/>
          <p:cNvSpPr/>
          <p:nvPr/>
        </p:nvSpPr>
        <p:spPr>
          <a:xfrm>
            <a:off x="2468880" y="4956048"/>
            <a:ext cx="6035040" cy="182880"/>
          </a:xfrm>
          <a:prstGeom prst="rect">
            <a:avLst/>
          </a:prstGeom>
          <a:noFill/>
          <a:ln/>
        </p:spPr>
        <p:txBody>
          <a:bodyPr wrap="square" rtlCol="0" anchor="t"/>
          <a:lstStyle/>
          <a:p>
            <a:pPr indent="0" marL="0">
              <a:buNone/>
            </a:pPr>
            <a:r>
              <a:rPr lang="en-US" sz="900" b="1" dirty="0">
                <a:solidFill>
                  <a:srgbClr val="A26769"/>
                </a:solidFill>
                <a:latin typeface="Calibri" pitchFamily="34" charset="0"/>
                <a:ea typeface="Calibri" pitchFamily="34" charset="-122"/>
                <a:cs typeface="Calibri" pitchFamily="34" charset="-120"/>
              </a:rPr>
              <a:t>Mitigation: </a:t>
            </a:r>
            <a:pPr indent="0" marL="0">
              <a:buNone/>
            </a:pPr>
            <a:r>
              <a:rPr lang="en-US" sz="900" dirty="0">
                <a:solidFill>
                  <a:srgbClr val="2D3436"/>
                </a:solidFill>
                <a:latin typeface="Calibri" pitchFamily="34" charset="0"/>
                <a:ea typeface="Calibri" pitchFamily="34" charset="-122"/>
                <a:cs typeface="Calibri" pitchFamily="34" charset="-120"/>
              </a:rPr>
              <a:t>Safety protocols. Data protection measures. Conflict sensitivity training.</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SAFEGUARDING POLICY</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A safeguarding policy protects vulnerable people (especially children and youth) from abuse, exploitation, and harm caused by your organization, staff, or partners. It's not optional—it's a legal and ethical requirement for organizations working with vulnerable groups.</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ESSENTIAL SAFEGUARDING POLICY ELEMENTS</a:t>
            </a:r>
            <a:endParaRPr lang="en-US" sz="1600" dirty="0"/>
          </a:p>
        </p:txBody>
      </p:sp>
      <p:sp>
        <p:nvSpPr>
          <p:cNvPr id="6" name="Shape 3"/>
          <p:cNvSpPr/>
          <p:nvPr/>
        </p:nvSpPr>
        <p:spPr>
          <a:xfrm>
            <a:off x="457200" y="2377440"/>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4"/>
          <p:cNvSpPr/>
          <p:nvPr/>
        </p:nvSpPr>
        <p:spPr>
          <a:xfrm>
            <a:off x="457200" y="2377440"/>
            <a:ext cx="4206240" cy="274320"/>
          </a:xfrm>
          <a:prstGeom prst="rect">
            <a:avLst/>
          </a:prstGeom>
          <a:solidFill>
            <a:srgbClr val="6D2E46"/>
          </a:solidFill>
          <a:ln/>
        </p:spPr>
      </p:sp>
      <p:sp>
        <p:nvSpPr>
          <p:cNvPr id="8" name="Text 5"/>
          <p:cNvSpPr/>
          <p:nvPr/>
        </p:nvSpPr>
        <p:spPr>
          <a:xfrm>
            <a:off x="640080" y="242316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Code of Conduct</a:t>
            </a:r>
            <a:endParaRPr lang="en-US" sz="1200" dirty="0"/>
          </a:p>
        </p:txBody>
      </p:sp>
      <p:sp>
        <p:nvSpPr>
          <p:cNvPr id="9" name="Text 6"/>
          <p:cNvSpPr/>
          <p:nvPr/>
        </p:nvSpPr>
        <p:spPr>
          <a:xfrm>
            <a:off x="640080" y="2724912"/>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Clear behavioral expectations for all staff, volunteers, board members. Prohibits abuse, exploitation, harassment, discrimination.</a:t>
            </a:r>
            <a:endParaRPr lang="en-US" sz="1000" dirty="0"/>
          </a:p>
        </p:txBody>
      </p:sp>
      <p:sp>
        <p:nvSpPr>
          <p:cNvPr id="10" name="Shape 7"/>
          <p:cNvSpPr/>
          <p:nvPr/>
        </p:nvSpPr>
        <p:spPr>
          <a:xfrm>
            <a:off x="4937760" y="2377440"/>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8"/>
          <p:cNvSpPr/>
          <p:nvPr/>
        </p:nvSpPr>
        <p:spPr>
          <a:xfrm>
            <a:off x="4937760" y="2377440"/>
            <a:ext cx="4206240" cy="274320"/>
          </a:xfrm>
          <a:prstGeom prst="rect">
            <a:avLst/>
          </a:prstGeom>
          <a:solidFill>
            <a:srgbClr val="6D2E46"/>
          </a:solidFill>
          <a:ln/>
        </p:spPr>
      </p:sp>
      <p:sp>
        <p:nvSpPr>
          <p:cNvPr id="12" name="Text 9"/>
          <p:cNvSpPr/>
          <p:nvPr/>
        </p:nvSpPr>
        <p:spPr>
          <a:xfrm>
            <a:off x="5120640" y="242316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Safe Recruitment</a:t>
            </a:r>
            <a:endParaRPr lang="en-US" sz="1200" dirty="0"/>
          </a:p>
        </p:txBody>
      </p:sp>
      <p:sp>
        <p:nvSpPr>
          <p:cNvPr id="13" name="Text 10"/>
          <p:cNvSpPr/>
          <p:nvPr/>
        </p:nvSpPr>
        <p:spPr>
          <a:xfrm>
            <a:off x="5120640" y="2724912"/>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Background checks, reference verification, interview questions on safeguarding, probation periods.</a:t>
            </a:r>
            <a:endParaRPr lang="en-US" sz="1000" dirty="0"/>
          </a:p>
        </p:txBody>
      </p:sp>
      <p:sp>
        <p:nvSpPr>
          <p:cNvPr id="14" name="Shape 11"/>
          <p:cNvSpPr/>
          <p:nvPr/>
        </p:nvSpPr>
        <p:spPr>
          <a:xfrm>
            <a:off x="457200" y="3200400"/>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2"/>
          <p:cNvSpPr/>
          <p:nvPr/>
        </p:nvSpPr>
        <p:spPr>
          <a:xfrm>
            <a:off x="457200" y="3200400"/>
            <a:ext cx="4206240" cy="274320"/>
          </a:xfrm>
          <a:prstGeom prst="rect">
            <a:avLst/>
          </a:prstGeom>
          <a:solidFill>
            <a:srgbClr val="6D2E46"/>
          </a:solidFill>
          <a:ln/>
        </p:spPr>
      </p:sp>
      <p:sp>
        <p:nvSpPr>
          <p:cNvPr id="16" name="Text 13"/>
          <p:cNvSpPr/>
          <p:nvPr/>
        </p:nvSpPr>
        <p:spPr>
          <a:xfrm>
            <a:off x="640080" y="324612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Reporting Mechanisms</a:t>
            </a:r>
            <a:endParaRPr lang="en-US" sz="1200" dirty="0"/>
          </a:p>
        </p:txBody>
      </p:sp>
      <p:sp>
        <p:nvSpPr>
          <p:cNvPr id="17" name="Text 14"/>
          <p:cNvSpPr/>
          <p:nvPr/>
        </p:nvSpPr>
        <p:spPr>
          <a:xfrm>
            <a:off x="640080" y="3547872"/>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Clear procedures for reporting concerns. Multiple channels (hotline, email, in-person). Confidentiality protections. Whistleblower protection.</a:t>
            </a:r>
            <a:endParaRPr lang="en-US" sz="1000" dirty="0"/>
          </a:p>
        </p:txBody>
      </p:sp>
      <p:sp>
        <p:nvSpPr>
          <p:cNvPr id="18" name="Shape 15"/>
          <p:cNvSpPr/>
          <p:nvPr/>
        </p:nvSpPr>
        <p:spPr>
          <a:xfrm>
            <a:off x="4937760" y="3200400"/>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6"/>
          <p:cNvSpPr/>
          <p:nvPr/>
        </p:nvSpPr>
        <p:spPr>
          <a:xfrm>
            <a:off x="4937760" y="3200400"/>
            <a:ext cx="4206240" cy="274320"/>
          </a:xfrm>
          <a:prstGeom prst="rect">
            <a:avLst/>
          </a:prstGeom>
          <a:solidFill>
            <a:srgbClr val="6D2E46"/>
          </a:solidFill>
          <a:ln/>
        </p:spPr>
      </p:sp>
      <p:sp>
        <p:nvSpPr>
          <p:cNvPr id="20" name="Text 17"/>
          <p:cNvSpPr/>
          <p:nvPr/>
        </p:nvSpPr>
        <p:spPr>
          <a:xfrm>
            <a:off x="5120640" y="324612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Response Protocols</a:t>
            </a:r>
            <a:endParaRPr lang="en-US" sz="1200" dirty="0"/>
          </a:p>
        </p:txBody>
      </p:sp>
      <p:sp>
        <p:nvSpPr>
          <p:cNvPr id="21" name="Text 18"/>
          <p:cNvSpPr/>
          <p:nvPr/>
        </p:nvSpPr>
        <p:spPr>
          <a:xfrm>
            <a:off x="5120640" y="3547872"/>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Immediate action steps when abuse is reported. Investigation procedures. Referral pathways to police/social services. Support for survivors.</a:t>
            </a:r>
            <a:endParaRPr lang="en-US" sz="1000" dirty="0"/>
          </a:p>
        </p:txBody>
      </p:sp>
      <p:sp>
        <p:nvSpPr>
          <p:cNvPr id="22" name="Shape 19"/>
          <p:cNvSpPr/>
          <p:nvPr/>
        </p:nvSpPr>
        <p:spPr>
          <a:xfrm>
            <a:off x="457200" y="4023360"/>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3" name="Shape 20"/>
          <p:cNvSpPr/>
          <p:nvPr/>
        </p:nvSpPr>
        <p:spPr>
          <a:xfrm>
            <a:off x="457200" y="4023360"/>
            <a:ext cx="4206240" cy="274320"/>
          </a:xfrm>
          <a:prstGeom prst="rect">
            <a:avLst/>
          </a:prstGeom>
          <a:solidFill>
            <a:srgbClr val="6D2E46"/>
          </a:solidFill>
          <a:ln/>
        </p:spPr>
      </p:sp>
      <p:sp>
        <p:nvSpPr>
          <p:cNvPr id="24" name="Text 21"/>
          <p:cNvSpPr/>
          <p:nvPr/>
        </p:nvSpPr>
        <p:spPr>
          <a:xfrm>
            <a:off x="640080" y="406908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Training</a:t>
            </a:r>
            <a:endParaRPr lang="en-US" sz="1200" dirty="0"/>
          </a:p>
        </p:txBody>
      </p:sp>
      <p:sp>
        <p:nvSpPr>
          <p:cNvPr id="25" name="Text 22"/>
          <p:cNvSpPr/>
          <p:nvPr/>
        </p:nvSpPr>
        <p:spPr>
          <a:xfrm>
            <a:off x="640080" y="4370832"/>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Mandatory safeguarding training for all staff and volunteers. Regular refreshers. Child-friendly education for beneficiaries on their rights.</a:t>
            </a:r>
            <a:endParaRPr lang="en-US" sz="1000" dirty="0"/>
          </a:p>
        </p:txBody>
      </p:sp>
      <p:sp>
        <p:nvSpPr>
          <p:cNvPr id="26" name="Shape 23"/>
          <p:cNvSpPr/>
          <p:nvPr/>
        </p:nvSpPr>
        <p:spPr>
          <a:xfrm>
            <a:off x="4937760" y="4023360"/>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7" name="Shape 24"/>
          <p:cNvSpPr/>
          <p:nvPr/>
        </p:nvSpPr>
        <p:spPr>
          <a:xfrm>
            <a:off x="4937760" y="4023360"/>
            <a:ext cx="4206240" cy="274320"/>
          </a:xfrm>
          <a:prstGeom prst="rect">
            <a:avLst/>
          </a:prstGeom>
          <a:solidFill>
            <a:srgbClr val="6D2E46"/>
          </a:solidFill>
          <a:ln/>
        </p:spPr>
      </p:sp>
      <p:sp>
        <p:nvSpPr>
          <p:cNvPr id="28" name="Text 25"/>
          <p:cNvSpPr/>
          <p:nvPr/>
        </p:nvSpPr>
        <p:spPr>
          <a:xfrm>
            <a:off x="5120640" y="4069080"/>
            <a:ext cx="3840480" cy="1828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Monitoring &amp; Review</a:t>
            </a:r>
            <a:endParaRPr lang="en-US" sz="1200" dirty="0"/>
          </a:p>
        </p:txBody>
      </p:sp>
      <p:sp>
        <p:nvSpPr>
          <p:cNvPr id="29" name="Text 26"/>
          <p:cNvSpPr/>
          <p:nvPr/>
        </p:nvSpPr>
        <p:spPr>
          <a:xfrm>
            <a:off x="5120640" y="4370832"/>
            <a:ext cx="3840480" cy="32004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Regular policy reviews. Incident tracking and analysis. External audits. Continuous improvement based on lessons learned.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INCLUSION POLICY</a:t>
            </a:r>
            <a:endParaRPr lang="en-US" sz="3600" dirty="0"/>
          </a:p>
        </p:txBody>
      </p:sp>
      <p:sp>
        <p:nvSpPr>
          <p:cNvPr id="3" name="Text 1"/>
          <p:cNvSpPr/>
          <p:nvPr/>
        </p:nvSpPr>
        <p:spPr>
          <a:xfrm>
            <a:off x="731520" y="1097280"/>
            <a:ext cx="7680960" cy="45720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An inclusion policy formalizes your organization's commitment to diversity, equity, and accessibility. It sets standards for how you recruit, treat, and support people of all backgrounds.</a:t>
            </a:r>
            <a:endParaRPr lang="en-US" sz="1400" dirty="0"/>
          </a:p>
        </p:txBody>
      </p:sp>
      <p:sp>
        <p:nvSpPr>
          <p:cNvPr id="4" name="Text 2"/>
          <p:cNvSpPr/>
          <p:nvPr/>
        </p:nvSpPr>
        <p:spPr>
          <a:xfrm>
            <a:off x="731520" y="169164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WHAT TO INCLUDE IN YOUR INCLUSION POLICY</a:t>
            </a:r>
            <a:endParaRPr lang="en-US" sz="1600" dirty="0"/>
          </a:p>
        </p:txBody>
      </p:sp>
      <p:sp>
        <p:nvSpPr>
          <p:cNvPr id="5" name="Shape 3"/>
          <p:cNvSpPr/>
          <p:nvPr/>
        </p:nvSpPr>
        <p:spPr>
          <a:xfrm>
            <a:off x="457200" y="2103120"/>
            <a:ext cx="8229600" cy="411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457200" y="2103120"/>
            <a:ext cx="2286000" cy="411480"/>
          </a:xfrm>
          <a:prstGeom prst="rect">
            <a:avLst/>
          </a:prstGeom>
          <a:solidFill>
            <a:srgbClr val="A26769"/>
          </a:solidFill>
          <a:ln/>
        </p:spPr>
      </p:sp>
      <p:sp>
        <p:nvSpPr>
          <p:cNvPr id="7" name="Text 5"/>
          <p:cNvSpPr/>
          <p:nvPr/>
        </p:nvSpPr>
        <p:spPr>
          <a:xfrm>
            <a:off x="548640" y="2176272"/>
            <a:ext cx="21031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Non-Discrimination Statement</a:t>
            </a:r>
            <a:endParaRPr lang="en-US" sz="1100" dirty="0"/>
          </a:p>
        </p:txBody>
      </p:sp>
      <p:sp>
        <p:nvSpPr>
          <p:cNvPr id="8" name="Text 6"/>
          <p:cNvSpPr/>
          <p:nvPr/>
        </p:nvSpPr>
        <p:spPr>
          <a:xfrm>
            <a:off x="2926080" y="2176272"/>
            <a:ext cx="557784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Commit to equal opportunity regardless of gender, disability, ethnicity, religion, age, sexual orientation, etc.</a:t>
            </a:r>
            <a:endParaRPr lang="en-US" sz="1100" dirty="0"/>
          </a:p>
        </p:txBody>
      </p:sp>
      <p:sp>
        <p:nvSpPr>
          <p:cNvPr id="9" name="Shape 7"/>
          <p:cNvSpPr/>
          <p:nvPr/>
        </p:nvSpPr>
        <p:spPr>
          <a:xfrm>
            <a:off x="457200" y="2587752"/>
            <a:ext cx="8229600" cy="411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57200" y="2587752"/>
            <a:ext cx="2286000" cy="411480"/>
          </a:xfrm>
          <a:prstGeom prst="rect">
            <a:avLst/>
          </a:prstGeom>
          <a:solidFill>
            <a:srgbClr val="A26769"/>
          </a:solidFill>
          <a:ln/>
        </p:spPr>
      </p:sp>
      <p:sp>
        <p:nvSpPr>
          <p:cNvPr id="11" name="Text 9"/>
          <p:cNvSpPr/>
          <p:nvPr/>
        </p:nvSpPr>
        <p:spPr>
          <a:xfrm>
            <a:off x="548640" y="2660904"/>
            <a:ext cx="21031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Accessibility Standards</a:t>
            </a:r>
            <a:endParaRPr lang="en-US" sz="1100" dirty="0"/>
          </a:p>
        </p:txBody>
      </p:sp>
      <p:sp>
        <p:nvSpPr>
          <p:cNvPr id="12" name="Text 10"/>
          <p:cNvSpPr/>
          <p:nvPr/>
        </p:nvSpPr>
        <p:spPr>
          <a:xfrm>
            <a:off x="2926080" y="2660904"/>
            <a:ext cx="557784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Require physical accessibility (ramps, accessible toilets). Provide materials in multiple formats. Offer reasonable accommodations.</a:t>
            </a:r>
            <a:endParaRPr lang="en-US" sz="1100" dirty="0"/>
          </a:p>
        </p:txBody>
      </p:sp>
      <p:sp>
        <p:nvSpPr>
          <p:cNvPr id="13" name="Shape 11"/>
          <p:cNvSpPr/>
          <p:nvPr/>
        </p:nvSpPr>
        <p:spPr>
          <a:xfrm>
            <a:off x="457200" y="3072384"/>
            <a:ext cx="8229600" cy="411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57200" y="3072384"/>
            <a:ext cx="2286000" cy="411480"/>
          </a:xfrm>
          <a:prstGeom prst="rect">
            <a:avLst/>
          </a:prstGeom>
          <a:solidFill>
            <a:srgbClr val="A26769"/>
          </a:solidFill>
          <a:ln/>
        </p:spPr>
      </p:sp>
      <p:sp>
        <p:nvSpPr>
          <p:cNvPr id="15" name="Text 13"/>
          <p:cNvSpPr/>
          <p:nvPr/>
        </p:nvSpPr>
        <p:spPr>
          <a:xfrm>
            <a:off x="548640" y="3145536"/>
            <a:ext cx="21031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Inclusive Recruitment</a:t>
            </a:r>
            <a:endParaRPr lang="en-US" sz="1100" dirty="0"/>
          </a:p>
        </p:txBody>
      </p:sp>
      <p:sp>
        <p:nvSpPr>
          <p:cNvPr id="16" name="Text 14"/>
          <p:cNvSpPr/>
          <p:nvPr/>
        </p:nvSpPr>
        <p:spPr>
          <a:xfrm>
            <a:off x="2926080" y="3145536"/>
            <a:ext cx="557784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Proactively recruit from underrepresented groups. Use inclusive job descriptions. Ensure diverse interview panels.</a:t>
            </a:r>
            <a:endParaRPr lang="en-US" sz="1100" dirty="0"/>
          </a:p>
        </p:txBody>
      </p:sp>
      <p:sp>
        <p:nvSpPr>
          <p:cNvPr id="17" name="Shape 15"/>
          <p:cNvSpPr/>
          <p:nvPr/>
        </p:nvSpPr>
        <p:spPr>
          <a:xfrm>
            <a:off x="457200" y="3557016"/>
            <a:ext cx="8229600" cy="411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Shape 16"/>
          <p:cNvSpPr/>
          <p:nvPr/>
        </p:nvSpPr>
        <p:spPr>
          <a:xfrm>
            <a:off x="457200" y="3557016"/>
            <a:ext cx="2286000" cy="411480"/>
          </a:xfrm>
          <a:prstGeom prst="rect">
            <a:avLst/>
          </a:prstGeom>
          <a:solidFill>
            <a:srgbClr val="A26769"/>
          </a:solidFill>
          <a:ln/>
        </p:spPr>
      </p:sp>
      <p:sp>
        <p:nvSpPr>
          <p:cNvPr id="19" name="Text 17"/>
          <p:cNvSpPr/>
          <p:nvPr/>
        </p:nvSpPr>
        <p:spPr>
          <a:xfrm>
            <a:off x="548640" y="3630168"/>
            <a:ext cx="21031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Workplace Accommodations</a:t>
            </a:r>
            <a:endParaRPr lang="en-US" sz="1100" dirty="0"/>
          </a:p>
        </p:txBody>
      </p:sp>
      <p:sp>
        <p:nvSpPr>
          <p:cNvPr id="20" name="Text 18"/>
          <p:cNvSpPr/>
          <p:nvPr/>
        </p:nvSpPr>
        <p:spPr>
          <a:xfrm>
            <a:off x="2926080" y="3630168"/>
            <a:ext cx="557784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Flexible schedules for caregivers. Assistive technology for persons with disabilities. Lactation rooms for nursing mothers.</a:t>
            </a:r>
            <a:endParaRPr lang="en-US" sz="1100" dirty="0"/>
          </a:p>
        </p:txBody>
      </p:sp>
      <p:sp>
        <p:nvSpPr>
          <p:cNvPr id="21" name="Shape 19"/>
          <p:cNvSpPr/>
          <p:nvPr/>
        </p:nvSpPr>
        <p:spPr>
          <a:xfrm>
            <a:off x="457200" y="4041648"/>
            <a:ext cx="8229600" cy="411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Shape 20"/>
          <p:cNvSpPr/>
          <p:nvPr/>
        </p:nvSpPr>
        <p:spPr>
          <a:xfrm>
            <a:off x="457200" y="4041648"/>
            <a:ext cx="2286000" cy="411480"/>
          </a:xfrm>
          <a:prstGeom prst="rect">
            <a:avLst/>
          </a:prstGeom>
          <a:solidFill>
            <a:srgbClr val="A26769"/>
          </a:solidFill>
          <a:ln/>
        </p:spPr>
      </p:sp>
      <p:sp>
        <p:nvSpPr>
          <p:cNvPr id="23" name="Text 21"/>
          <p:cNvSpPr/>
          <p:nvPr/>
        </p:nvSpPr>
        <p:spPr>
          <a:xfrm>
            <a:off x="548640" y="4114800"/>
            <a:ext cx="21031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Anti-Harassment Provisions</a:t>
            </a:r>
            <a:endParaRPr lang="en-US" sz="1100" dirty="0"/>
          </a:p>
        </p:txBody>
      </p:sp>
      <p:sp>
        <p:nvSpPr>
          <p:cNvPr id="24" name="Text 22"/>
          <p:cNvSpPr/>
          <p:nvPr/>
        </p:nvSpPr>
        <p:spPr>
          <a:xfrm>
            <a:off x="2926080" y="4114800"/>
            <a:ext cx="557784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Zero tolerance for harassment, bullying, or discrimination. Clear complaint procedures. Protection from retaliation.</a:t>
            </a:r>
            <a:endParaRPr lang="en-US" sz="1100" dirty="0"/>
          </a:p>
        </p:txBody>
      </p:sp>
      <p:sp>
        <p:nvSpPr>
          <p:cNvPr id="25" name="Shape 23"/>
          <p:cNvSpPr/>
          <p:nvPr/>
        </p:nvSpPr>
        <p:spPr>
          <a:xfrm>
            <a:off x="457200" y="4526280"/>
            <a:ext cx="8229600" cy="411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Shape 24"/>
          <p:cNvSpPr/>
          <p:nvPr/>
        </p:nvSpPr>
        <p:spPr>
          <a:xfrm>
            <a:off x="457200" y="4526280"/>
            <a:ext cx="2286000" cy="411480"/>
          </a:xfrm>
          <a:prstGeom prst="rect">
            <a:avLst/>
          </a:prstGeom>
          <a:solidFill>
            <a:srgbClr val="A26769"/>
          </a:solidFill>
          <a:ln/>
        </p:spPr>
      </p:sp>
      <p:sp>
        <p:nvSpPr>
          <p:cNvPr id="27" name="Text 25"/>
          <p:cNvSpPr/>
          <p:nvPr/>
        </p:nvSpPr>
        <p:spPr>
          <a:xfrm>
            <a:off x="548640" y="4599432"/>
            <a:ext cx="21031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Inclusive Language &amp; Imagery</a:t>
            </a:r>
            <a:endParaRPr lang="en-US" sz="1100" dirty="0"/>
          </a:p>
        </p:txBody>
      </p:sp>
      <p:sp>
        <p:nvSpPr>
          <p:cNvPr id="28" name="Text 26"/>
          <p:cNvSpPr/>
          <p:nvPr/>
        </p:nvSpPr>
        <p:spPr>
          <a:xfrm>
            <a:off x="2926080" y="4599432"/>
            <a:ext cx="557784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Use gender-inclusive language. Represent diversity in communications. Avoid stereotypes.</a:t>
            </a:r>
            <a:endParaRPr lang="en-US" sz="1100" dirty="0"/>
          </a:p>
        </p:txBody>
      </p:sp>
      <p:sp>
        <p:nvSpPr>
          <p:cNvPr id="29" name="Shape 27"/>
          <p:cNvSpPr/>
          <p:nvPr/>
        </p:nvSpPr>
        <p:spPr>
          <a:xfrm>
            <a:off x="457200" y="5010912"/>
            <a:ext cx="8229600" cy="411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Shape 28"/>
          <p:cNvSpPr/>
          <p:nvPr/>
        </p:nvSpPr>
        <p:spPr>
          <a:xfrm>
            <a:off x="457200" y="5010912"/>
            <a:ext cx="2286000" cy="411480"/>
          </a:xfrm>
          <a:prstGeom prst="rect">
            <a:avLst/>
          </a:prstGeom>
          <a:solidFill>
            <a:srgbClr val="A26769"/>
          </a:solidFill>
          <a:ln/>
        </p:spPr>
      </p:sp>
      <p:sp>
        <p:nvSpPr>
          <p:cNvPr id="31" name="Text 29"/>
          <p:cNvSpPr/>
          <p:nvPr/>
        </p:nvSpPr>
        <p:spPr>
          <a:xfrm>
            <a:off x="548640" y="5084064"/>
            <a:ext cx="21031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Monitoring &amp; Accountability</a:t>
            </a:r>
            <a:endParaRPr lang="en-US" sz="1100" dirty="0"/>
          </a:p>
        </p:txBody>
      </p:sp>
      <p:sp>
        <p:nvSpPr>
          <p:cNvPr id="32" name="Text 30"/>
          <p:cNvSpPr/>
          <p:nvPr/>
        </p:nvSpPr>
        <p:spPr>
          <a:xfrm>
            <a:off x="2926080" y="5084064"/>
            <a:ext cx="557784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Track diversity metrics (staff, board, beneficiaries). Set inclusion targets. Regular policy reviews with diverse stakeholders.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GOVERNANCE POLICY</a:t>
            </a:r>
            <a:endParaRPr lang="en-US" sz="3600" dirty="0"/>
          </a:p>
        </p:txBody>
      </p:sp>
      <p:sp>
        <p:nvSpPr>
          <p:cNvPr id="3" name="Text 1"/>
          <p:cNvSpPr/>
          <p:nvPr/>
        </p:nvSpPr>
        <p:spPr>
          <a:xfrm>
            <a:off x="731520" y="1097280"/>
            <a:ext cx="7680960" cy="45720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A governance policy defines how your organization makes decisions, allocates authority, and ensures accountability. It prevents conflicts of interest, abuse of power, and mismanagement.</a:t>
            </a:r>
            <a:endParaRPr lang="en-US" sz="1400" dirty="0"/>
          </a:p>
        </p:txBody>
      </p:sp>
      <p:sp>
        <p:nvSpPr>
          <p:cNvPr id="4" name="Text 2"/>
          <p:cNvSpPr/>
          <p:nvPr/>
        </p:nvSpPr>
        <p:spPr>
          <a:xfrm>
            <a:off x="731520" y="1691640"/>
            <a:ext cx="7680960" cy="320040"/>
          </a:xfrm>
          <a:prstGeom prst="rect">
            <a:avLst/>
          </a:prstGeom>
          <a:noFill/>
          <a:ln/>
        </p:spPr>
        <p:txBody>
          <a:bodyPr wrap="square" rtlCol="0" anchor="ctr"/>
          <a:lstStyle/>
          <a:p>
            <a:pPr indent="0" marL="0">
              <a:buNone/>
            </a:pPr>
            <a:r>
              <a:rPr lang="en-US" sz="1600" b="1" dirty="0">
                <a:solidFill>
                  <a:srgbClr val="6D2E46"/>
                </a:solidFill>
                <a:latin typeface="Arial" pitchFamily="34" charset="0"/>
                <a:ea typeface="Arial" pitchFamily="34" charset="-122"/>
                <a:cs typeface="Arial" pitchFamily="34" charset="-120"/>
              </a:rPr>
              <a:t>KEY GOVERNANCE POLICY AREAS</a:t>
            </a:r>
            <a:endParaRPr lang="en-US" sz="1600" dirty="0"/>
          </a:p>
        </p:txBody>
      </p:sp>
      <p:sp>
        <p:nvSpPr>
          <p:cNvPr id="5" name="Shape 3"/>
          <p:cNvSpPr/>
          <p:nvPr/>
        </p:nvSpPr>
        <p:spPr>
          <a:xfrm>
            <a:off x="457200" y="2103120"/>
            <a:ext cx="8229600" cy="640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457200" y="2103120"/>
            <a:ext cx="2286000" cy="640080"/>
          </a:xfrm>
          <a:prstGeom prst="rect">
            <a:avLst/>
          </a:prstGeom>
          <a:solidFill>
            <a:srgbClr val="D4A574"/>
          </a:solidFill>
          <a:ln/>
        </p:spPr>
      </p:sp>
      <p:sp>
        <p:nvSpPr>
          <p:cNvPr id="7" name="Text 5"/>
          <p:cNvSpPr/>
          <p:nvPr/>
        </p:nvSpPr>
        <p:spPr>
          <a:xfrm>
            <a:off x="548640" y="2240280"/>
            <a:ext cx="210312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Board Roles &amp; Responsibilities</a:t>
            </a:r>
            <a:endParaRPr lang="en-US" sz="1200" dirty="0"/>
          </a:p>
        </p:txBody>
      </p:sp>
      <p:sp>
        <p:nvSpPr>
          <p:cNvPr id="8" name="Text 6"/>
          <p:cNvSpPr/>
          <p:nvPr/>
        </p:nvSpPr>
        <p:spPr>
          <a:xfrm>
            <a:off x="2926080" y="2194560"/>
            <a:ext cx="557784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Board composition and diversity requirements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Term limits and election procedures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Minimum meeting frequency (e.g., quarterly)</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Board member duties: fiduciary, strategic oversight, fundraising</a:t>
            </a:r>
            <a:endParaRPr lang="en-US" sz="1000" dirty="0"/>
          </a:p>
        </p:txBody>
      </p:sp>
      <p:sp>
        <p:nvSpPr>
          <p:cNvPr id="9" name="Shape 7"/>
          <p:cNvSpPr/>
          <p:nvPr/>
        </p:nvSpPr>
        <p:spPr>
          <a:xfrm>
            <a:off x="457200" y="2816352"/>
            <a:ext cx="8229600" cy="640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57200" y="2816352"/>
            <a:ext cx="2286000" cy="640080"/>
          </a:xfrm>
          <a:prstGeom prst="rect">
            <a:avLst/>
          </a:prstGeom>
          <a:solidFill>
            <a:srgbClr val="D4A574"/>
          </a:solidFill>
          <a:ln/>
        </p:spPr>
      </p:sp>
      <p:sp>
        <p:nvSpPr>
          <p:cNvPr id="11" name="Text 9"/>
          <p:cNvSpPr/>
          <p:nvPr/>
        </p:nvSpPr>
        <p:spPr>
          <a:xfrm>
            <a:off x="548640" y="2953512"/>
            <a:ext cx="210312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Decision-Making Authority</a:t>
            </a:r>
            <a:endParaRPr lang="en-US" sz="1200" dirty="0"/>
          </a:p>
        </p:txBody>
      </p:sp>
      <p:sp>
        <p:nvSpPr>
          <p:cNvPr id="12" name="Text 10"/>
          <p:cNvSpPr/>
          <p:nvPr/>
        </p:nvSpPr>
        <p:spPr>
          <a:xfrm>
            <a:off x="2926080" y="2907792"/>
            <a:ext cx="557784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What requires board approval vs. staff decisions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Spending authority limits (e.g., ED can approve up to $5,000)</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Quorum requirements for valid decisions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Voting procedures and conflict resolution</a:t>
            </a:r>
            <a:endParaRPr lang="en-US" sz="1000" dirty="0"/>
          </a:p>
        </p:txBody>
      </p:sp>
      <p:sp>
        <p:nvSpPr>
          <p:cNvPr id="13" name="Shape 11"/>
          <p:cNvSpPr/>
          <p:nvPr/>
        </p:nvSpPr>
        <p:spPr>
          <a:xfrm>
            <a:off x="457200" y="3529584"/>
            <a:ext cx="8229600" cy="640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57200" y="3529584"/>
            <a:ext cx="2286000" cy="640080"/>
          </a:xfrm>
          <a:prstGeom prst="rect">
            <a:avLst/>
          </a:prstGeom>
          <a:solidFill>
            <a:srgbClr val="D4A574"/>
          </a:solidFill>
          <a:ln/>
        </p:spPr>
      </p:sp>
      <p:sp>
        <p:nvSpPr>
          <p:cNvPr id="15" name="Text 13"/>
          <p:cNvSpPr/>
          <p:nvPr/>
        </p:nvSpPr>
        <p:spPr>
          <a:xfrm>
            <a:off x="548640" y="3666744"/>
            <a:ext cx="210312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Conflict of Interest</a:t>
            </a:r>
            <a:endParaRPr lang="en-US" sz="1200" dirty="0"/>
          </a:p>
        </p:txBody>
      </p:sp>
      <p:sp>
        <p:nvSpPr>
          <p:cNvPr id="16" name="Text 14"/>
          <p:cNvSpPr/>
          <p:nvPr/>
        </p:nvSpPr>
        <p:spPr>
          <a:xfrm>
            <a:off x="2926080" y="3621024"/>
            <a:ext cx="557784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Annual disclosure forms for board and senior staff</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Recusal from decisions where conflicts exist</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Prohibition on self-dealing or personal benefit</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Transparent procurement processes</a:t>
            </a:r>
            <a:endParaRPr lang="en-US" sz="1000" dirty="0"/>
          </a:p>
        </p:txBody>
      </p:sp>
      <p:sp>
        <p:nvSpPr>
          <p:cNvPr id="17" name="Shape 15"/>
          <p:cNvSpPr/>
          <p:nvPr/>
        </p:nvSpPr>
        <p:spPr>
          <a:xfrm>
            <a:off x="457200" y="4242816"/>
            <a:ext cx="8229600" cy="640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Shape 16"/>
          <p:cNvSpPr/>
          <p:nvPr/>
        </p:nvSpPr>
        <p:spPr>
          <a:xfrm>
            <a:off x="457200" y="4242816"/>
            <a:ext cx="2286000" cy="640080"/>
          </a:xfrm>
          <a:prstGeom prst="rect">
            <a:avLst/>
          </a:prstGeom>
          <a:solidFill>
            <a:srgbClr val="D4A574"/>
          </a:solidFill>
          <a:ln/>
        </p:spPr>
      </p:sp>
      <p:sp>
        <p:nvSpPr>
          <p:cNvPr id="19" name="Text 17"/>
          <p:cNvSpPr/>
          <p:nvPr/>
        </p:nvSpPr>
        <p:spPr>
          <a:xfrm>
            <a:off x="548640" y="4379976"/>
            <a:ext cx="210312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Financial Management</a:t>
            </a:r>
            <a:endParaRPr lang="en-US" sz="1200" dirty="0"/>
          </a:p>
        </p:txBody>
      </p:sp>
      <p:sp>
        <p:nvSpPr>
          <p:cNvPr id="20" name="Text 18"/>
          <p:cNvSpPr/>
          <p:nvPr/>
        </p:nvSpPr>
        <p:spPr>
          <a:xfrm>
            <a:off x="2926080" y="4334256"/>
            <a:ext cx="557784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Budget approval process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Financial reporting requirements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Annual external audits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Dual signature requirements for large transactions</a:t>
            </a:r>
            <a:endParaRPr lang="en-US" sz="1000" dirty="0"/>
          </a:p>
        </p:txBody>
      </p:sp>
      <p:sp>
        <p:nvSpPr>
          <p:cNvPr id="21" name="Shape 19"/>
          <p:cNvSpPr/>
          <p:nvPr/>
        </p:nvSpPr>
        <p:spPr>
          <a:xfrm>
            <a:off x="457200" y="4956048"/>
            <a:ext cx="8229600" cy="6400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Shape 20"/>
          <p:cNvSpPr/>
          <p:nvPr/>
        </p:nvSpPr>
        <p:spPr>
          <a:xfrm>
            <a:off x="457200" y="4956048"/>
            <a:ext cx="2286000" cy="640080"/>
          </a:xfrm>
          <a:prstGeom prst="rect">
            <a:avLst/>
          </a:prstGeom>
          <a:solidFill>
            <a:srgbClr val="D4A574"/>
          </a:solidFill>
          <a:ln/>
        </p:spPr>
      </p:sp>
      <p:sp>
        <p:nvSpPr>
          <p:cNvPr id="23" name="Text 21"/>
          <p:cNvSpPr/>
          <p:nvPr/>
        </p:nvSpPr>
        <p:spPr>
          <a:xfrm>
            <a:off x="548640" y="5093208"/>
            <a:ext cx="210312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Transparency &amp; Accountability</a:t>
            </a:r>
            <a:endParaRPr lang="en-US" sz="1200" dirty="0"/>
          </a:p>
        </p:txBody>
      </p:sp>
      <p:sp>
        <p:nvSpPr>
          <p:cNvPr id="24" name="Text 22"/>
          <p:cNvSpPr/>
          <p:nvPr/>
        </p:nvSpPr>
        <p:spPr>
          <a:xfrm>
            <a:off x="2926080" y="5047488"/>
            <a:ext cx="557784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Public access to annual reports and financials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Stakeholder feedback mechanisms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Regular performance evaluations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Complaint and grievance procedures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4A1F30"/>
                </a:solidFill>
                <a:latin typeface="Arial Black" pitchFamily="34" charset="0"/>
                <a:ea typeface="Arial Black" pitchFamily="34" charset="-122"/>
                <a:cs typeface="Arial Black" pitchFamily="34" charset="-120"/>
              </a:rPr>
              <a:t>KEY TAKEAWAYS</a:t>
            </a:r>
            <a:endParaRPr lang="en-US" sz="3600" dirty="0"/>
          </a:p>
        </p:txBody>
      </p:sp>
      <p:sp>
        <p:nvSpPr>
          <p:cNvPr id="3" name="Shape 1"/>
          <p:cNvSpPr/>
          <p:nvPr/>
        </p:nvSpPr>
        <p:spPr>
          <a:xfrm>
            <a:off x="731520" y="1234440"/>
            <a:ext cx="365760" cy="365760"/>
          </a:xfrm>
          <a:prstGeom prst="ellipse">
            <a:avLst/>
          </a:prstGeom>
          <a:solidFill>
            <a:srgbClr val="A26769"/>
          </a:solidFill>
          <a:ln/>
        </p:spPr>
      </p:sp>
      <p:sp>
        <p:nvSpPr>
          <p:cNvPr id="4" name="Text 2"/>
          <p:cNvSpPr/>
          <p:nvPr/>
        </p:nvSpPr>
        <p:spPr>
          <a:xfrm>
            <a:off x="731520" y="12344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1234440" y="12344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Inclusive leadership requires intentional action—equity, representation, accessibility, and power-sharing</a:t>
            </a:r>
            <a:endParaRPr lang="en-US" sz="1300" dirty="0"/>
          </a:p>
        </p:txBody>
      </p:sp>
      <p:sp>
        <p:nvSpPr>
          <p:cNvPr id="6" name="Shape 4"/>
          <p:cNvSpPr/>
          <p:nvPr/>
        </p:nvSpPr>
        <p:spPr>
          <a:xfrm>
            <a:off x="731520" y="1691640"/>
            <a:ext cx="365760" cy="365760"/>
          </a:xfrm>
          <a:prstGeom prst="ellipse">
            <a:avLst/>
          </a:prstGeom>
          <a:solidFill>
            <a:srgbClr val="A26769"/>
          </a:solidFill>
          <a:ln/>
        </p:spPr>
      </p:sp>
      <p:sp>
        <p:nvSpPr>
          <p:cNvPr id="7" name="Text 5"/>
          <p:cNvSpPr/>
          <p:nvPr/>
        </p:nvSpPr>
        <p:spPr>
          <a:xfrm>
            <a:off x="731520" y="16916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Text 6"/>
          <p:cNvSpPr/>
          <p:nvPr/>
        </p:nvSpPr>
        <p:spPr>
          <a:xfrm>
            <a:off x="1234440" y="16916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Understand the difference between equality (same treatment) and equity (fair treatment based on needs)</a:t>
            </a:r>
            <a:endParaRPr lang="en-US" sz="1300" dirty="0"/>
          </a:p>
        </p:txBody>
      </p:sp>
      <p:sp>
        <p:nvSpPr>
          <p:cNvPr id="9" name="Shape 7"/>
          <p:cNvSpPr/>
          <p:nvPr/>
        </p:nvSpPr>
        <p:spPr>
          <a:xfrm>
            <a:off x="731520" y="2148840"/>
            <a:ext cx="365760" cy="365760"/>
          </a:xfrm>
          <a:prstGeom prst="ellipse">
            <a:avLst/>
          </a:prstGeom>
          <a:solidFill>
            <a:srgbClr val="A26769"/>
          </a:solidFill>
          <a:ln/>
        </p:spPr>
      </p:sp>
      <p:sp>
        <p:nvSpPr>
          <p:cNvPr id="10" name="Text 8"/>
          <p:cNvSpPr/>
          <p:nvPr/>
        </p:nvSpPr>
        <p:spPr>
          <a:xfrm>
            <a:off x="731520" y="21488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234440" y="21488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Build awareness of gender, disability, child rights, and mental health to create truly inclusive programs</a:t>
            </a:r>
            <a:endParaRPr lang="en-US" sz="1300" dirty="0"/>
          </a:p>
        </p:txBody>
      </p:sp>
      <p:sp>
        <p:nvSpPr>
          <p:cNvPr id="12" name="Shape 10"/>
          <p:cNvSpPr/>
          <p:nvPr/>
        </p:nvSpPr>
        <p:spPr>
          <a:xfrm>
            <a:off x="731520" y="2606040"/>
            <a:ext cx="365760" cy="365760"/>
          </a:xfrm>
          <a:prstGeom prst="ellipse">
            <a:avLst/>
          </a:prstGeom>
          <a:solidFill>
            <a:srgbClr val="A26769"/>
          </a:solidFill>
          <a:ln/>
        </p:spPr>
      </p:sp>
      <p:sp>
        <p:nvSpPr>
          <p:cNvPr id="13" name="Text 11"/>
          <p:cNvSpPr/>
          <p:nvPr/>
        </p:nvSpPr>
        <p:spPr>
          <a:xfrm>
            <a:off x="731520" y="26060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4" name="Text 12"/>
          <p:cNvSpPr/>
          <p:nvPr/>
        </p:nvSpPr>
        <p:spPr>
          <a:xfrm>
            <a:off x="1234440" y="26060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Social justice means addressing root causes and systemic barriers, not just providing charity</a:t>
            </a:r>
            <a:endParaRPr lang="en-US" sz="1300" dirty="0"/>
          </a:p>
        </p:txBody>
      </p:sp>
      <p:sp>
        <p:nvSpPr>
          <p:cNvPr id="15" name="Shape 13"/>
          <p:cNvSpPr/>
          <p:nvPr/>
        </p:nvSpPr>
        <p:spPr>
          <a:xfrm>
            <a:off x="731520" y="3063240"/>
            <a:ext cx="365760" cy="365760"/>
          </a:xfrm>
          <a:prstGeom prst="ellipse">
            <a:avLst/>
          </a:prstGeom>
          <a:solidFill>
            <a:srgbClr val="A26769"/>
          </a:solidFill>
          <a:ln/>
        </p:spPr>
      </p:sp>
      <p:sp>
        <p:nvSpPr>
          <p:cNvPr id="16" name="Text 14"/>
          <p:cNvSpPr/>
          <p:nvPr/>
        </p:nvSpPr>
        <p:spPr>
          <a:xfrm>
            <a:off x="731520" y="30632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7" name="Text 15"/>
          <p:cNvSpPr/>
          <p:nvPr/>
        </p:nvSpPr>
        <p:spPr>
          <a:xfrm>
            <a:off x="1234440" y="30632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Design programs with marginalized communities, not for them—center their voices and expertise</a:t>
            </a:r>
            <a:endParaRPr lang="en-US" sz="1300" dirty="0"/>
          </a:p>
        </p:txBody>
      </p:sp>
      <p:sp>
        <p:nvSpPr>
          <p:cNvPr id="18" name="Shape 16"/>
          <p:cNvSpPr/>
          <p:nvPr/>
        </p:nvSpPr>
        <p:spPr>
          <a:xfrm>
            <a:off x="731520" y="3520440"/>
            <a:ext cx="365760" cy="365760"/>
          </a:xfrm>
          <a:prstGeom prst="ellipse">
            <a:avLst/>
          </a:prstGeom>
          <a:solidFill>
            <a:srgbClr val="A26769"/>
          </a:solidFill>
          <a:ln/>
        </p:spPr>
      </p:sp>
      <p:sp>
        <p:nvSpPr>
          <p:cNvPr id="19" name="Text 17"/>
          <p:cNvSpPr/>
          <p:nvPr/>
        </p:nvSpPr>
        <p:spPr>
          <a:xfrm>
            <a:off x="731520" y="35204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0" name="Text 18"/>
          <p:cNvSpPr/>
          <p:nvPr/>
        </p:nvSpPr>
        <p:spPr>
          <a:xfrm>
            <a:off x="1234440" y="35204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Strategic planning (vision, mission, goals) provides direction; governance ensures accountability and sustainability</a:t>
            </a:r>
            <a:endParaRPr lang="en-US" sz="1300" dirty="0"/>
          </a:p>
        </p:txBody>
      </p:sp>
      <p:sp>
        <p:nvSpPr>
          <p:cNvPr id="21" name="Shape 19"/>
          <p:cNvSpPr/>
          <p:nvPr/>
        </p:nvSpPr>
        <p:spPr>
          <a:xfrm>
            <a:off x="731520" y="3977640"/>
            <a:ext cx="365760" cy="365760"/>
          </a:xfrm>
          <a:prstGeom prst="ellipse">
            <a:avLst/>
          </a:prstGeom>
          <a:solidFill>
            <a:srgbClr val="A26769"/>
          </a:solidFill>
          <a:ln/>
        </p:spPr>
      </p:sp>
      <p:sp>
        <p:nvSpPr>
          <p:cNvPr id="22" name="Text 20"/>
          <p:cNvSpPr/>
          <p:nvPr/>
        </p:nvSpPr>
        <p:spPr>
          <a:xfrm>
            <a:off x="731520" y="39776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23" name="Text 21"/>
          <p:cNvSpPr/>
          <p:nvPr/>
        </p:nvSpPr>
        <p:spPr>
          <a:xfrm>
            <a:off x="1234440" y="39776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Succession planning and risk management protect your organization's future—don't wait for a crisis</a:t>
            </a:r>
            <a:endParaRPr lang="en-US" sz="1300" dirty="0"/>
          </a:p>
        </p:txBody>
      </p:sp>
      <p:sp>
        <p:nvSpPr>
          <p:cNvPr id="24" name="Shape 22"/>
          <p:cNvSpPr/>
          <p:nvPr/>
        </p:nvSpPr>
        <p:spPr>
          <a:xfrm>
            <a:off x="731520" y="4434840"/>
            <a:ext cx="365760" cy="365760"/>
          </a:xfrm>
          <a:prstGeom prst="ellipse">
            <a:avLst/>
          </a:prstGeom>
          <a:solidFill>
            <a:srgbClr val="A26769"/>
          </a:solidFill>
          <a:ln/>
        </p:spPr>
      </p:sp>
      <p:sp>
        <p:nvSpPr>
          <p:cNvPr id="25" name="Text 23"/>
          <p:cNvSpPr/>
          <p:nvPr/>
        </p:nvSpPr>
        <p:spPr>
          <a:xfrm>
            <a:off x="731520" y="44348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26" name="Text 24"/>
          <p:cNvSpPr/>
          <p:nvPr/>
        </p:nvSpPr>
        <p:spPr>
          <a:xfrm>
            <a:off x="1234440" y="44348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Safeguarding, inclusion, and governance policies aren't bureaucracy—they're ethical foundations that build trust and prevent harm</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A1F3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097280"/>
            <a:ext cx="1097280" cy="1097280"/>
          </a:xfrm>
          <a:prstGeom prst="rect">
            <a:avLst/>
          </a:prstGeom>
        </p:spPr>
      </p:pic>
      <p:sp>
        <p:nvSpPr>
          <p:cNvPr id="3" name="Text 0"/>
          <p:cNvSpPr/>
          <p:nvPr/>
        </p:nvSpPr>
        <p:spPr>
          <a:xfrm>
            <a:off x="457200" y="2377440"/>
            <a:ext cx="8229600" cy="548640"/>
          </a:xfrm>
          <a:prstGeom prst="rect">
            <a:avLst/>
          </a:prstGeom>
          <a:noFill/>
          <a:ln/>
        </p:spPr>
        <p:txBody>
          <a:bodyPr wrap="square" rtlCol="0" anchor="ctr"/>
          <a:lstStyle/>
          <a:p>
            <a:pPr algn="ctr" indent="0" marL="0">
              <a:buNone/>
            </a:pPr>
            <a:r>
              <a:rPr lang="en-US" sz="4400" b="1" dirty="0">
                <a:solidFill>
                  <a:srgbClr val="A26769"/>
                </a:solidFill>
                <a:latin typeface="Arial Black" pitchFamily="34" charset="0"/>
                <a:ea typeface="Arial Black" pitchFamily="34" charset="-122"/>
                <a:cs typeface="Arial Black" pitchFamily="34" charset="-120"/>
              </a:rPr>
              <a:t>LEAD WITH INCLUSION</a:t>
            </a:r>
            <a:endParaRPr lang="en-US" sz="4400" dirty="0"/>
          </a:p>
        </p:txBody>
      </p:sp>
      <p:sp>
        <p:nvSpPr>
          <p:cNvPr id="4" name="Text 1"/>
          <p:cNvSpPr/>
          <p:nvPr/>
        </p:nvSpPr>
        <p:spPr>
          <a:xfrm>
            <a:off x="457200" y="3017520"/>
            <a:ext cx="8229600" cy="365760"/>
          </a:xfrm>
          <a:prstGeom prst="rect">
            <a:avLst/>
          </a:prstGeom>
          <a:noFill/>
          <a:ln/>
        </p:spPr>
        <p:txBody>
          <a:bodyPr wrap="square" rtlCol="0" anchor="ctr"/>
          <a:lstStyle/>
          <a:p>
            <a:pPr algn="ctr" indent="0" marL="0">
              <a:buNone/>
            </a:pPr>
            <a:r>
              <a:rPr lang="en-US" sz="1800" i="1" dirty="0">
                <a:solidFill>
                  <a:srgbClr val="F5F5F5"/>
                </a:solidFill>
                <a:latin typeface="Georgia" pitchFamily="34" charset="0"/>
                <a:ea typeface="Georgia" pitchFamily="34" charset="-122"/>
                <a:cs typeface="Georgia" pitchFamily="34" charset="-120"/>
              </a:rPr>
              <a:t>Building equitable, sustainable organizations requires intention, strategy, and accountability.</a:t>
            </a:r>
            <a:endParaRPr lang="en-US" sz="1800" dirty="0"/>
          </a:p>
        </p:txBody>
      </p:sp>
      <p:sp>
        <p:nvSpPr>
          <p:cNvPr id="5" name="Text 2"/>
          <p:cNvSpPr/>
          <p:nvPr/>
        </p:nvSpPr>
        <p:spPr>
          <a:xfrm>
            <a:off x="457200" y="3520440"/>
            <a:ext cx="8229600" cy="274320"/>
          </a:xfrm>
          <a:prstGeom prst="rect">
            <a:avLst/>
          </a:prstGeom>
          <a:noFill/>
          <a:ln/>
        </p:spPr>
        <p:txBody>
          <a:bodyPr wrap="square" rtlCol="0" anchor="ctr"/>
          <a:lstStyle/>
          <a:p>
            <a:pPr algn="ctr" indent="0" marL="0">
              <a:buNone/>
            </a:pPr>
            <a:r>
              <a:rPr lang="en-US" sz="1500" dirty="0">
                <a:solidFill>
                  <a:srgbClr val="F5F5F5"/>
                </a:solidFill>
                <a:latin typeface="Calibri" pitchFamily="34" charset="0"/>
                <a:ea typeface="Calibri" pitchFamily="34" charset="-122"/>
                <a:cs typeface="Calibri" pitchFamily="34" charset="-120"/>
              </a:rPr>
              <a:t>Your leadership can create spaces where everyone belongs,</a:t>
            </a:r>
            <a:endParaRPr lang="en-US" sz="1500" dirty="0"/>
          </a:p>
        </p:txBody>
      </p:sp>
      <p:sp>
        <p:nvSpPr>
          <p:cNvPr id="6" name="Text 3"/>
          <p:cNvSpPr/>
          <p:nvPr/>
        </p:nvSpPr>
        <p:spPr>
          <a:xfrm>
            <a:off x="457200" y="3794760"/>
            <a:ext cx="8229600" cy="274320"/>
          </a:xfrm>
          <a:prstGeom prst="rect">
            <a:avLst/>
          </a:prstGeom>
          <a:noFill/>
          <a:ln/>
        </p:spPr>
        <p:txBody>
          <a:bodyPr wrap="square" rtlCol="0" anchor="ctr"/>
          <a:lstStyle/>
          <a:p>
            <a:pPr algn="ctr" indent="0" marL="0">
              <a:buNone/>
            </a:pPr>
            <a:r>
              <a:rPr lang="en-US" sz="1500" b="1" dirty="0">
                <a:solidFill>
                  <a:srgbClr val="D4A574"/>
                </a:solidFill>
                <a:latin typeface="Calibri" pitchFamily="34" charset="0"/>
                <a:ea typeface="Calibri" pitchFamily="34" charset="-122"/>
                <a:cs typeface="Calibri" pitchFamily="34" charset="-120"/>
              </a:rPr>
              <a:t>contributes, and thrives.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Inclusive Leadership, Social Justice &amp; Long-Term Strategy</dc:title>
  <dc:subject>PptxGenJS Presentation</dc:subject>
  <dc:creator>Youth Advocate Network Rwanda</dc:creator>
  <cp:lastModifiedBy>Youth Advocate Network Rwanda</cp:lastModifiedBy>
  <cp:revision>1</cp:revision>
  <dcterms:created xsi:type="dcterms:W3CDTF">2026-02-13T14:06:24Z</dcterms:created>
  <dcterms:modified xsi:type="dcterms:W3CDTF">2026-02-13T14:06:24Z</dcterms:modified>
</cp:coreProperties>
</file>