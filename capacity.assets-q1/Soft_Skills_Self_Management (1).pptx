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1B"/>
        </a:solidFill>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algn="ctr" indent="0" marL="0">
              <a:buNone/>
            </a:pPr>
            <a:r>
              <a:rPr lang="en-US" sz="5200" b="1" dirty="0">
                <a:solidFill>
                  <a:srgbClr val="F5F5F5"/>
                </a:solidFill>
                <a:latin typeface="Arial Black" pitchFamily="34" charset="0"/>
                <a:ea typeface="Arial Black" pitchFamily="34" charset="-122"/>
                <a:cs typeface="Arial Black" pitchFamily="34" charset="-120"/>
              </a:rPr>
              <a:t>SOFT SKILLS &amp;</a:t>
            </a:r>
            <a:endParaRPr lang="en-US" sz="52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5200" b="1" dirty="0">
                <a:solidFill>
                  <a:srgbClr val="97BC62"/>
                </a:solidFill>
                <a:latin typeface="Arial Black" pitchFamily="34" charset="0"/>
                <a:ea typeface="Arial Black" pitchFamily="34" charset="-122"/>
                <a:cs typeface="Arial Black" pitchFamily="34" charset="-120"/>
              </a:rPr>
              <a:t>SELF-MANAGEMENT</a:t>
            </a:r>
            <a:endParaRPr lang="en-US" sz="5200" dirty="0"/>
          </a:p>
        </p:txBody>
      </p:sp>
      <p:sp>
        <p:nvSpPr>
          <p:cNvPr id="4" name="Text 2"/>
          <p:cNvSpPr/>
          <p:nvPr/>
        </p:nvSpPr>
        <p:spPr>
          <a:xfrm>
            <a:off x="457200" y="3291840"/>
            <a:ext cx="8229600" cy="365760"/>
          </a:xfrm>
          <a:prstGeom prst="rect">
            <a:avLst/>
          </a:prstGeom>
          <a:noFill/>
          <a:ln/>
        </p:spPr>
        <p:txBody>
          <a:bodyPr wrap="square" rtlCol="0" anchor="ctr"/>
          <a:lstStyle/>
          <a:p>
            <a:pPr algn="ctr" indent="0" marL="0">
              <a:buNone/>
            </a:pPr>
            <a:r>
              <a:rPr lang="en-US" sz="1800" i="1" dirty="0">
                <a:solidFill>
                  <a:srgbClr val="F5F5F5"/>
                </a:solidFill>
                <a:latin typeface="Georgia" pitchFamily="34" charset="0"/>
                <a:ea typeface="Georgia" pitchFamily="34" charset="-122"/>
                <a:cs typeface="Georgia" pitchFamily="34" charset="-120"/>
              </a:rPr>
              <a:t>A Comprehensive Guide for Youth Advocates</a:t>
            </a:r>
            <a:endParaRPr lang="en-US" sz="1800" dirty="0"/>
          </a:p>
        </p:txBody>
      </p:sp>
      <p:sp>
        <p:nvSpPr>
          <p:cNvPr id="5" name="Text 3"/>
          <p:cNvSpPr/>
          <p:nvPr/>
        </p:nvSpPr>
        <p:spPr>
          <a:xfrm>
            <a:off x="457200" y="4389120"/>
            <a:ext cx="8229600" cy="274320"/>
          </a:xfrm>
          <a:prstGeom prst="rect">
            <a:avLst/>
          </a:prstGeom>
          <a:noFill/>
          <a:ln/>
        </p:spPr>
        <p:txBody>
          <a:bodyPr wrap="square" rtlCol="0" anchor="ctr"/>
          <a:lstStyle/>
          <a:p>
            <a:pPr algn="ctr" indent="0" marL="0">
              <a:buNone/>
            </a:pPr>
            <a:r>
              <a:rPr lang="en-US" sz="1400" dirty="0">
                <a:solidFill>
                  <a:srgbClr val="636E72"/>
                </a:solidFill>
                <a:latin typeface="Calibri" pitchFamily="34" charset="0"/>
                <a:ea typeface="Calibri" pitchFamily="34" charset="-122"/>
                <a:cs typeface="Calibri" pitchFamily="34" charset="-120"/>
              </a:rPr>
              <a:t>Youth Advocate Networks | Rwanda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LEARNING OBJECTIVES</a:t>
            </a:r>
            <a:endParaRPr lang="en-US" sz="3600" dirty="0"/>
          </a:p>
        </p:txBody>
      </p:sp>
      <p:pic>
        <p:nvPicPr>
          <p:cNvPr id="3" name="Image 0" descr="preencoded.png">    </p:cNvPr>
          <p:cNvPicPr>
            <a:picLocks noChangeAspect="1"/>
          </p:cNvPicPr>
          <p:nvPr/>
        </p:nvPicPr>
        <p:blipFill>
          <a:blip r:embed="rId1"/>
          <a:stretch>
            <a:fillRect/>
          </a:stretch>
        </p:blipFill>
        <p:spPr>
          <a:xfrm>
            <a:off x="640080" y="1298448"/>
            <a:ext cx="320040" cy="320040"/>
          </a:xfrm>
          <a:prstGeom prst="rect">
            <a:avLst/>
          </a:prstGeom>
        </p:spPr>
      </p:pic>
      <p:sp>
        <p:nvSpPr>
          <p:cNvPr id="4" name="Text 1"/>
          <p:cNvSpPr/>
          <p:nvPr/>
        </p:nvSpPr>
        <p:spPr>
          <a:xfrm>
            <a:off x="1097280" y="128016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Understand and apply emotional intelligence in advocacy work</a:t>
            </a:r>
            <a:endParaRPr lang="en-US" sz="1600" dirty="0"/>
          </a:p>
        </p:txBody>
      </p:sp>
      <p:pic>
        <p:nvPicPr>
          <p:cNvPr id="5" name="Image 1" descr="preencoded.png">    </p:cNvPr>
          <p:cNvPicPr>
            <a:picLocks noChangeAspect="1"/>
          </p:cNvPicPr>
          <p:nvPr/>
        </p:nvPicPr>
        <p:blipFill>
          <a:blip r:embed="rId2"/>
          <a:stretch>
            <a:fillRect/>
          </a:stretch>
        </p:blipFill>
        <p:spPr>
          <a:xfrm>
            <a:off x="640080" y="1892808"/>
            <a:ext cx="320040" cy="320040"/>
          </a:xfrm>
          <a:prstGeom prst="rect">
            <a:avLst/>
          </a:prstGeom>
        </p:spPr>
      </p:pic>
      <p:sp>
        <p:nvSpPr>
          <p:cNvPr id="6" name="Text 2"/>
          <p:cNvSpPr/>
          <p:nvPr/>
        </p:nvSpPr>
        <p:spPr>
          <a:xfrm>
            <a:off x="1097280" y="187452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Develop active listening and empathy skills for community engagement</a:t>
            </a:r>
            <a:endParaRPr lang="en-US" sz="1600" dirty="0"/>
          </a:p>
        </p:txBody>
      </p:sp>
      <p:pic>
        <p:nvPicPr>
          <p:cNvPr id="7" name="Image 2" descr="preencoded.png">    </p:cNvPr>
          <p:cNvPicPr>
            <a:picLocks noChangeAspect="1"/>
          </p:cNvPicPr>
          <p:nvPr/>
        </p:nvPicPr>
        <p:blipFill>
          <a:blip r:embed="rId3"/>
          <a:stretch>
            <a:fillRect/>
          </a:stretch>
        </p:blipFill>
        <p:spPr>
          <a:xfrm>
            <a:off x="640080" y="2487168"/>
            <a:ext cx="320040" cy="320040"/>
          </a:xfrm>
          <a:prstGeom prst="rect">
            <a:avLst/>
          </a:prstGeom>
        </p:spPr>
      </p:pic>
      <p:sp>
        <p:nvSpPr>
          <p:cNvPr id="8" name="Text 3"/>
          <p:cNvSpPr/>
          <p:nvPr/>
        </p:nvSpPr>
        <p:spPr>
          <a:xfrm>
            <a:off x="1097280" y="246888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Master teamwork and collaborative leadership techniques</a:t>
            </a:r>
            <a:endParaRPr lang="en-US" sz="1600" dirty="0"/>
          </a:p>
        </p:txBody>
      </p:sp>
      <p:pic>
        <p:nvPicPr>
          <p:cNvPr id="9" name="Image 3" descr="preencoded.png">    </p:cNvPr>
          <p:cNvPicPr>
            <a:picLocks noChangeAspect="1"/>
          </p:cNvPicPr>
          <p:nvPr/>
        </p:nvPicPr>
        <p:blipFill>
          <a:blip r:embed="rId4"/>
          <a:stretch>
            <a:fillRect/>
          </a:stretch>
        </p:blipFill>
        <p:spPr>
          <a:xfrm>
            <a:off x="640080" y="3081528"/>
            <a:ext cx="320040" cy="320040"/>
          </a:xfrm>
          <a:prstGeom prst="rect">
            <a:avLst/>
          </a:prstGeom>
        </p:spPr>
      </p:pic>
      <p:sp>
        <p:nvSpPr>
          <p:cNvPr id="10" name="Text 4"/>
          <p:cNvSpPr/>
          <p:nvPr/>
        </p:nvSpPr>
        <p:spPr>
          <a:xfrm>
            <a:off x="1097280" y="306324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Build personal resilience and effective stress management strategies</a:t>
            </a:r>
            <a:endParaRPr lang="en-US" sz="1600" dirty="0"/>
          </a:p>
        </p:txBody>
      </p:sp>
      <p:pic>
        <p:nvPicPr>
          <p:cNvPr id="11" name="Image 4" descr="preencoded.png">    </p:cNvPr>
          <p:cNvPicPr>
            <a:picLocks noChangeAspect="1"/>
          </p:cNvPicPr>
          <p:nvPr/>
        </p:nvPicPr>
        <p:blipFill>
          <a:blip r:embed="rId5"/>
          <a:stretch>
            <a:fillRect/>
          </a:stretch>
        </p:blipFill>
        <p:spPr>
          <a:xfrm>
            <a:off x="640080" y="3675888"/>
            <a:ext cx="320040" cy="320040"/>
          </a:xfrm>
          <a:prstGeom prst="rect">
            <a:avLst/>
          </a:prstGeom>
        </p:spPr>
      </p:pic>
      <p:sp>
        <p:nvSpPr>
          <p:cNvPr id="12" name="Text 5"/>
          <p:cNvSpPr/>
          <p:nvPr/>
        </p:nvSpPr>
        <p:spPr>
          <a:xfrm>
            <a:off x="1097280" y="3657600"/>
            <a:ext cx="7589520" cy="365760"/>
          </a:xfrm>
          <a:prstGeom prst="rect">
            <a:avLst/>
          </a:prstGeom>
          <a:noFill/>
          <a:ln/>
        </p:spPr>
        <p:txBody>
          <a:bodyPr wrap="square" rtlCol="0" anchor="ctr"/>
          <a:lstStyle/>
          <a:p>
            <a:pPr indent="0" marL="0">
              <a:buNone/>
            </a:pPr>
            <a:r>
              <a:rPr lang="en-US" sz="1600" dirty="0">
                <a:solidFill>
                  <a:srgbClr val="2D3436"/>
                </a:solidFill>
                <a:latin typeface="Calibri" pitchFamily="34" charset="0"/>
                <a:ea typeface="Calibri" pitchFamily="34" charset="-122"/>
                <a:cs typeface="Calibri" pitchFamily="34" charset="-120"/>
              </a:rPr>
              <a:t>Cultivate self-awareness and maintain a growth mindset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WHAT ARE SOFT SKILLS?</a:t>
            </a:r>
            <a:endParaRPr lang="en-US" sz="3600" dirty="0"/>
          </a:p>
        </p:txBody>
      </p:sp>
      <p:sp>
        <p:nvSpPr>
          <p:cNvPr id="3" name="Shape 1"/>
          <p:cNvSpPr/>
          <p:nvPr/>
        </p:nvSpPr>
        <p:spPr>
          <a:xfrm>
            <a:off x="457200" y="1188720"/>
            <a:ext cx="384048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188720"/>
            <a:ext cx="73152" cy="3200400"/>
          </a:xfrm>
          <a:prstGeom prst="rect">
            <a:avLst/>
          </a:prstGeom>
          <a:solidFill>
            <a:srgbClr val="2C5F2D"/>
          </a:solidFill>
          <a:ln/>
        </p:spPr>
      </p:sp>
      <p:sp>
        <p:nvSpPr>
          <p:cNvPr id="5" name="Text 3"/>
          <p:cNvSpPr/>
          <p:nvPr/>
        </p:nvSpPr>
        <p:spPr>
          <a:xfrm>
            <a:off x="731520" y="1371600"/>
            <a:ext cx="3200400" cy="365760"/>
          </a:xfrm>
          <a:prstGeom prst="rect">
            <a:avLst/>
          </a:prstGeom>
          <a:noFill/>
          <a:ln/>
        </p:spPr>
        <p:txBody>
          <a:bodyPr wrap="square" rtlCol="0" anchor="ctr"/>
          <a:lstStyle/>
          <a:p>
            <a:pPr indent="0" marL="0">
              <a:buNone/>
            </a:pPr>
            <a:r>
              <a:rPr lang="en-US" sz="1800" b="1" dirty="0">
                <a:solidFill>
                  <a:srgbClr val="2C5F2D"/>
                </a:solidFill>
                <a:latin typeface="Arial" pitchFamily="34" charset="0"/>
                <a:ea typeface="Arial" pitchFamily="34" charset="-122"/>
                <a:cs typeface="Arial" pitchFamily="34" charset="-120"/>
              </a:rPr>
              <a:t>DEFINITION</a:t>
            </a:r>
            <a:endParaRPr lang="en-US" sz="1800" dirty="0"/>
          </a:p>
        </p:txBody>
      </p:sp>
      <p:sp>
        <p:nvSpPr>
          <p:cNvPr id="6" name="Text 4"/>
          <p:cNvSpPr/>
          <p:nvPr/>
        </p:nvSpPr>
        <p:spPr>
          <a:xfrm>
            <a:off x="731520" y="1828800"/>
            <a:ext cx="3200400" cy="2103120"/>
          </a:xfrm>
          <a:prstGeom prst="rect">
            <a:avLst/>
          </a:prstGeom>
          <a:noFill/>
          <a:ln/>
        </p:spPr>
        <p:txBody>
          <a:bodyPr wrap="square" rtlCol="0" anchor="t"/>
          <a:lstStyle/>
          <a:p>
            <a:pPr indent="0" marL="0">
              <a:buNone/>
            </a:pPr>
            <a:r>
              <a:rPr lang="en-US" sz="1400" dirty="0">
                <a:solidFill>
                  <a:srgbClr val="2D3436"/>
                </a:solidFill>
                <a:latin typeface="Calibri" pitchFamily="34" charset="0"/>
                <a:ea typeface="Calibri" pitchFamily="34" charset="-122"/>
                <a:cs typeface="Calibri" pitchFamily="34" charset="-120"/>
              </a:rPr>
              <a:t>Soft skills are </a:t>
            </a:r>
            <a:pPr indent="0" marL="0">
              <a:buNone/>
            </a:pPr>
            <a:r>
              <a:rPr lang="en-US" sz="1400" b="1" dirty="0">
                <a:solidFill>
                  <a:srgbClr val="2D3436"/>
                </a:solidFill>
                <a:latin typeface="Calibri" pitchFamily="34" charset="0"/>
                <a:ea typeface="Calibri" pitchFamily="34" charset="-122"/>
                <a:cs typeface="Calibri" pitchFamily="34" charset="-120"/>
              </a:rPr>
              <a:t>interpersonal abilities</a:t>
            </a:r>
            <a:pPr indent="0" marL="0">
              <a:buNone/>
            </a:pPr>
            <a:r>
              <a:rPr lang="en-US" sz="1400" dirty="0">
                <a:solidFill>
                  <a:srgbClr val="2D3436"/>
                </a:solidFill>
                <a:latin typeface="Calibri" pitchFamily="34" charset="0"/>
                <a:ea typeface="Calibri" pitchFamily="34" charset="-122"/>
                <a:cs typeface="Calibri" pitchFamily="34" charset="-120"/>
              </a:rPr>
              <a:t> that enable you to interact effectively with others. Unlike technical skills (hard skills), soft skills relate to how you work, communicate, and solve problems.</a:t>
            </a:r>
            <a:endParaRPr lang="en-US" sz="1400" dirty="0"/>
          </a:p>
        </p:txBody>
      </p:sp>
      <p:sp>
        <p:nvSpPr>
          <p:cNvPr id="7" name="Shape 5"/>
          <p:cNvSpPr/>
          <p:nvPr/>
        </p:nvSpPr>
        <p:spPr>
          <a:xfrm>
            <a:off x="4846320" y="1188720"/>
            <a:ext cx="3840480" cy="32004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8" name="Shape 6"/>
          <p:cNvSpPr/>
          <p:nvPr/>
        </p:nvSpPr>
        <p:spPr>
          <a:xfrm>
            <a:off x="4846320" y="1188720"/>
            <a:ext cx="73152" cy="3200400"/>
          </a:xfrm>
          <a:prstGeom prst="rect">
            <a:avLst/>
          </a:prstGeom>
          <a:solidFill>
            <a:srgbClr val="97BC62"/>
          </a:solidFill>
          <a:ln/>
        </p:spPr>
      </p:sp>
      <p:sp>
        <p:nvSpPr>
          <p:cNvPr id="9" name="Text 7"/>
          <p:cNvSpPr/>
          <p:nvPr/>
        </p:nvSpPr>
        <p:spPr>
          <a:xfrm>
            <a:off x="5120640" y="1371600"/>
            <a:ext cx="3200400" cy="365760"/>
          </a:xfrm>
          <a:prstGeom prst="rect">
            <a:avLst/>
          </a:prstGeom>
          <a:noFill/>
          <a:ln/>
        </p:spPr>
        <p:txBody>
          <a:bodyPr wrap="square" rtlCol="0" anchor="ctr"/>
          <a:lstStyle/>
          <a:p>
            <a:pPr indent="0" marL="0">
              <a:buNone/>
            </a:pPr>
            <a:r>
              <a:rPr lang="en-US" sz="1800" b="1" dirty="0">
                <a:solidFill>
                  <a:srgbClr val="97BC62"/>
                </a:solidFill>
                <a:latin typeface="Arial" pitchFamily="34" charset="0"/>
                <a:ea typeface="Arial" pitchFamily="34" charset="-122"/>
                <a:cs typeface="Arial" pitchFamily="34" charset="-120"/>
              </a:rPr>
              <a:t>WHY THEY MATTER</a:t>
            </a:r>
            <a:endParaRPr lang="en-US" sz="1800" dirty="0"/>
          </a:p>
        </p:txBody>
      </p:sp>
      <p:sp>
        <p:nvSpPr>
          <p:cNvPr id="10" name="Text 8"/>
          <p:cNvSpPr/>
          <p:nvPr/>
        </p:nvSpPr>
        <p:spPr>
          <a:xfrm>
            <a:off x="5120640" y="1828800"/>
            <a:ext cx="3200400" cy="2103120"/>
          </a:xfrm>
          <a:prstGeom prst="rect">
            <a:avLst/>
          </a:prstGeom>
          <a:noFill/>
          <a:ln/>
        </p:spPr>
        <p:txBody>
          <a:bodyPr wrap="square" rtlCol="0" anchor="ctr"/>
          <a:lstStyle/>
          <a:p>
            <a:pPr marL="342900" indent="-342900">
              <a:buSzPct val="100000"/>
              <a:buChar char="•"/>
            </a:pPr>
            <a:r>
              <a:rPr lang="en-US" sz="1400" dirty="0">
                <a:solidFill>
                  <a:srgbClr val="2D3436"/>
                </a:solidFill>
                <a:latin typeface="Calibri" pitchFamily="34" charset="0"/>
                <a:ea typeface="Calibri" pitchFamily="34" charset="-122"/>
                <a:cs typeface="Calibri" pitchFamily="34" charset="-120"/>
              </a:rPr>
              <a:t>• Build strong relationships</a:t>
            </a:r>
            <a:endParaRPr lang="en-US" sz="1400" dirty="0"/>
          </a:p>
          <a:p>
            <a:pPr marL="342900" indent="-342900">
              <a:buSzPct val="100000"/>
              <a:buChar char="•"/>
            </a:pPr>
            <a:r>
              <a:rPr lang="en-US" sz="1400" dirty="0">
                <a:solidFill>
                  <a:srgbClr val="2D3436"/>
                </a:solidFill>
                <a:latin typeface="Calibri" pitchFamily="34" charset="0"/>
                <a:ea typeface="Calibri" pitchFamily="34" charset="-122"/>
                <a:cs typeface="Calibri" pitchFamily="34" charset="-120"/>
              </a:rPr>
              <a:t>• Enhance team collaboration</a:t>
            </a:r>
            <a:endParaRPr lang="en-US" sz="1400" dirty="0"/>
          </a:p>
          <a:p>
            <a:pPr marL="342900" indent="-342900">
              <a:buSzPct val="100000"/>
              <a:buChar char="•"/>
            </a:pPr>
            <a:r>
              <a:rPr lang="en-US" sz="1400" dirty="0">
                <a:solidFill>
                  <a:srgbClr val="2D3436"/>
                </a:solidFill>
                <a:latin typeface="Calibri" pitchFamily="34" charset="0"/>
                <a:ea typeface="Calibri" pitchFamily="34" charset="-122"/>
                <a:cs typeface="Calibri" pitchFamily="34" charset="-120"/>
              </a:rPr>
              <a:t>• Navigate conflicts peacefully</a:t>
            </a:r>
            <a:endParaRPr lang="en-US" sz="1400" dirty="0"/>
          </a:p>
          <a:p>
            <a:pPr marL="342900" indent="-342900">
              <a:buSzPct val="100000"/>
              <a:buChar char="•"/>
            </a:pPr>
            <a:r>
              <a:rPr lang="en-US" sz="1400" dirty="0">
                <a:solidFill>
                  <a:srgbClr val="2D3436"/>
                </a:solidFill>
                <a:latin typeface="Calibri" pitchFamily="34" charset="0"/>
                <a:ea typeface="Calibri" pitchFamily="34" charset="-122"/>
                <a:cs typeface="Calibri" pitchFamily="34" charset="-120"/>
              </a:rPr>
              <a:t>• Lead with authenticity</a:t>
            </a:r>
            <a:endParaRPr lang="en-US" sz="1400" dirty="0"/>
          </a:p>
          <a:p>
            <a:pPr marL="342900" indent="-342900">
              <a:buSzPct val="100000"/>
              <a:buChar char="•"/>
            </a:pPr>
            <a:r>
              <a:rPr lang="en-US" sz="1400" dirty="0">
                <a:solidFill>
                  <a:srgbClr val="2D3436"/>
                </a:solidFill>
                <a:latin typeface="Calibri" pitchFamily="34" charset="0"/>
                <a:ea typeface="Calibri" pitchFamily="34" charset="-122"/>
                <a:cs typeface="Calibri" pitchFamily="34" charset="-120"/>
              </a:rPr>
              <a:t>• Adapt to changing situations</a:t>
            </a:r>
            <a:endParaRPr lang="en-US" sz="1400" dirty="0"/>
          </a:p>
          <a:p>
            <a:pPr marL="342900" indent="-342900">
              <a:buSzPct val="100000"/>
              <a:buChar char="•"/>
            </a:pPr>
            <a:r>
              <a:rPr lang="en-US" sz="1400" dirty="0">
                <a:solidFill>
                  <a:srgbClr val="2D3436"/>
                </a:solidFill>
                <a:latin typeface="Calibri" pitchFamily="34" charset="0"/>
                <a:ea typeface="Calibri" pitchFamily="34" charset="-122"/>
                <a:cs typeface="Calibri" pitchFamily="34" charset="-120"/>
              </a:rPr>
              <a:t>• Drive sustainable impact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EMOTIONAL INTELLIGENCE (EQ)</a:t>
            </a:r>
            <a:endParaRPr lang="en-US" sz="3600" dirty="0"/>
          </a:p>
        </p:txBody>
      </p:sp>
      <p:pic>
        <p:nvPicPr>
          <p:cNvPr id="3" name="Image 0" descr="preencoded.png">    </p:cNvPr>
          <p:cNvPicPr>
            <a:picLocks noChangeAspect="1"/>
          </p:cNvPicPr>
          <p:nvPr/>
        </p:nvPicPr>
        <p:blipFill>
          <a:blip r:embed="rId1"/>
          <a:stretch>
            <a:fillRect/>
          </a:stretch>
        </p:blipFill>
        <p:spPr>
          <a:xfrm>
            <a:off x="731520" y="1188720"/>
            <a:ext cx="731520" cy="731520"/>
          </a:xfrm>
          <a:prstGeom prst="rect">
            <a:avLst/>
          </a:prstGeom>
        </p:spPr>
      </p:pic>
      <p:sp>
        <p:nvSpPr>
          <p:cNvPr id="4" name="Text 1"/>
          <p:cNvSpPr/>
          <p:nvPr/>
        </p:nvSpPr>
        <p:spPr>
          <a:xfrm>
            <a:off x="1645920" y="1325880"/>
            <a:ext cx="6858000" cy="457200"/>
          </a:xfrm>
          <a:prstGeom prst="rect">
            <a:avLst/>
          </a:prstGeom>
          <a:noFill/>
          <a:ln/>
        </p:spPr>
        <p:txBody>
          <a:bodyPr wrap="square" rtlCol="0" anchor="ctr"/>
          <a:lstStyle/>
          <a:p>
            <a:pPr indent="0" marL="0">
              <a:buNone/>
            </a:pPr>
            <a:r>
              <a:rPr lang="en-US" sz="2000" b="1" dirty="0">
                <a:solidFill>
                  <a:srgbClr val="2C5F2D"/>
                </a:solidFill>
                <a:latin typeface="Arial" pitchFamily="34" charset="0"/>
                <a:ea typeface="Arial" pitchFamily="34" charset="-122"/>
                <a:cs typeface="Arial" pitchFamily="34" charset="-120"/>
              </a:rPr>
              <a:t>WHAT IS EMOTIONAL INTELLIGENCE?</a:t>
            </a:r>
            <a:endParaRPr lang="en-US" sz="2000" dirty="0"/>
          </a:p>
        </p:txBody>
      </p:sp>
      <p:sp>
        <p:nvSpPr>
          <p:cNvPr id="5" name="Text 2"/>
          <p:cNvSpPr/>
          <p:nvPr/>
        </p:nvSpPr>
        <p:spPr>
          <a:xfrm>
            <a:off x="731520" y="2011680"/>
            <a:ext cx="7680960" cy="914400"/>
          </a:xfrm>
          <a:prstGeom prst="rect">
            <a:avLst/>
          </a:prstGeom>
          <a:noFill/>
          <a:ln/>
        </p:spPr>
        <p:txBody>
          <a:bodyPr wrap="square" rtlCol="0" anchor="ctr"/>
          <a:lstStyle/>
          <a:p>
            <a:pPr indent="0" marL="0">
              <a:buNone/>
            </a:pPr>
            <a:r>
              <a:rPr lang="en-US" sz="1500" dirty="0">
                <a:solidFill>
                  <a:srgbClr val="2D3436"/>
                </a:solidFill>
                <a:latin typeface="Calibri" pitchFamily="34" charset="0"/>
                <a:ea typeface="Calibri" pitchFamily="34" charset="-122"/>
                <a:cs typeface="Calibri" pitchFamily="34" charset="-120"/>
              </a:rPr>
              <a:t>Emotional Intelligence (EQ) is the ability to recognize, understand, and manage your own emotions while also recognizing and influencing the emotions of others. It is one of the most critical skills for effective advocacy, leadership, and community building.</a:t>
            </a:r>
            <a:endParaRPr lang="en-US" sz="1500" dirty="0"/>
          </a:p>
        </p:txBody>
      </p:sp>
      <p:sp>
        <p:nvSpPr>
          <p:cNvPr id="6" name="Text 3"/>
          <p:cNvSpPr/>
          <p:nvPr/>
        </p:nvSpPr>
        <p:spPr>
          <a:xfrm>
            <a:off x="731520" y="3108960"/>
            <a:ext cx="7680960" cy="365760"/>
          </a:xfrm>
          <a:prstGeom prst="rect">
            <a:avLst/>
          </a:prstGeom>
          <a:noFill/>
          <a:ln/>
        </p:spPr>
        <p:txBody>
          <a:bodyPr wrap="square" rtlCol="0" anchor="ctr"/>
          <a:lstStyle/>
          <a:p>
            <a:pPr indent="0" marL="0">
              <a:buNone/>
            </a:pPr>
            <a:r>
              <a:rPr lang="en-US" sz="1600" b="1" dirty="0">
                <a:solidFill>
                  <a:srgbClr val="1A3A1B"/>
                </a:solidFill>
                <a:latin typeface="Arial" pitchFamily="34" charset="0"/>
                <a:ea typeface="Arial" pitchFamily="34" charset="-122"/>
                <a:cs typeface="Arial" pitchFamily="34" charset="-120"/>
              </a:rPr>
              <a:t>THE FIVE COMPONENTS OF EQ:</a:t>
            </a:r>
            <a:endParaRPr lang="en-US" sz="1600" dirty="0"/>
          </a:p>
        </p:txBody>
      </p:sp>
      <p:sp>
        <p:nvSpPr>
          <p:cNvPr id="7" name="Shape 4"/>
          <p:cNvSpPr/>
          <p:nvPr/>
        </p:nvSpPr>
        <p:spPr>
          <a:xfrm>
            <a:off x="731520" y="3566160"/>
            <a:ext cx="320040" cy="320040"/>
          </a:xfrm>
          <a:prstGeom prst="ellipse">
            <a:avLst/>
          </a:prstGeom>
          <a:solidFill>
            <a:srgbClr val="2C5F2D"/>
          </a:solidFill>
          <a:ln/>
        </p:spPr>
      </p:sp>
      <p:sp>
        <p:nvSpPr>
          <p:cNvPr id="8" name="Text 5"/>
          <p:cNvSpPr/>
          <p:nvPr/>
        </p:nvSpPr>
        <p:spPr>
          <a:xfrm>
            <a:off x="731520" y="3566160"/>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p:nvPr/>
        </p:nvSpPr>
        <p:spPr>
          <a:xfrm>
            <a:off x="1143000" y="3566160"/>
            <a:ext cx="7315200" cy="320040"/>
          </a:xfrm>
          <a:prstGeom prst="rect">
            <a:avLst/>
          </a:prstGeom>
          <a:noFill/>
          <a:ln/>
        </p:spPr>
        <p:txBody>
          <a:bodyPr wrap="square"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Self-Awareness</a:t>
            </a:r>
            <a:pPr indent="0" marL="0">
              <a:buNone/>
            </a:pPr>
            <a:r>
              <a:rPr lang="en-US" sz="1300" dirty="0">
                <a:solidFill>
                  <a:srgbClr val="2D3436"/>
                </a:solidFill>
                <a:latin typeface="Calibri" pitchFamily="34" charset="0"/>
                <a:ea typeface="Calibri" pitchFamily="34" charset="-122"/>
                <a:cs typeface="Calibri" pitchFamily="34" charset="-120"/>
              </a:rPr>
              <a:t>: Understanding your emotions and their impact</a:t>
            </a:r>
            <a:endParaRPr lang="en-US" sz="1300" dirty="0"/>
          </a:p>
        </p:txBody>
      </p:sp>
      <p:sp>
        <p:nvSpPr>
          <p:cNvPr id="10" name="Shape 7"/>
          <p:cNvSpPr/>
          <p:nvPr/>
        </p:nvSpPr>
        <p:spPr>
          <a:xfrm>
            <a:off x="731520" y="3950208"/>
            <a:ext cx="320040" cy="320040"/>
          </a:xfrm>
          <a:prstGeom prst="ellipse">
            <a:avLst/>
          </a:prstGeom>
          <a:solidFill>
            <a:srgbClr val="2C5F2D"/>
          </a:solidFill>
          <a:ln/>
        </p:spPr>
      </p:sp>
      <p:sp>
        <p:nvSpPr>
          <p:cNvPr id="11" name="Text 8"/>
          <p:cNvSpPr/>
          <p:nvPr/>
        </p:nvSpPr>
        <p:spPr>
          <a:xfrm>
            <a:off x="731520" y="3950208"/>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9"/>
          <p:cNvSpPr/>
          <p:nvPr/>
        </p:nvSpPr>
        <p:spPr>
          <a:xfrm>
            <a:off x="1143000" y="3950208"/>
            <a:ext cx="7315200" cy="320040"/>
          </a:xfrm>
          <a:prstGeom prst="rect">
            <a:avLst/>
          </a:prstGeom>
          <a:noFill/>
          <a:ln/>
        </p:spPr>
        <p:txBody>
          <a:bodyPr wrap="square"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Self-Regulation</a:t>
            </a:r>
            <a:pPr indent="0" marL="0">
              <a:buNone/>
            </a:pPr>
            <a:r>
              <a:rPr lang="en-US" sz="1300" dirty="0">
                <a:solidFill>
                  <a:srgbClr val="2D3436"/>
                </a:solidFill>
                <a:latin typeface="Calibri" pitchFamily="34" charset="0"/>
                <a:ea typeface="Calibri" pitchFamily="34" charset="-122"/>
                <a:cs typeface="Calibri" pitchFamily="34" charset="-120"/>
              </a:rPr>
              <a:t>: Managing emotions in healthy ways</a:t>
            </a:r>
            <a:endParaRPr lang="en-US" sz="1300" dirty="0"/>
          </a:p>
        </p:txBody>
      </p:sp>
      <p:sp>
        <p:nvSpPr>
          <p:cNvPr id="13" name="Shape 10"/>
          <p:cNvSpPr/>
          <p:nvPr/>
        </p:nvSpPr>
        <p:spPr>
          <a:xfrm>
            <a:off x="731520" y="4334256"/>
            <a:ext cx="320040" cy="320040"/>
          </a:xfrm>
          <a:prstGeom prst="ellipse">
            <a:avLst/>
          </a:prstGeom>
          <a:solidFill>
            <a:srgbClr val="2C5F2D"/>
          </a:solidFill>
          <a:ln/>
        </p:spPr>
      </p:sp>
      <p:sp>
        <p:nvSpPr>
          <p:cNvPr id="14" name="Text 11"/>
          <p:cNvSpPr/>
          <p:nvPr/>
        </p:nvSpPr>
        <p:spPr>
          <a:xfrm>
            <a:off x="731520" y="4334256"/>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2"/>
          <p:cNvSpPr/>
          <p:nvPr/>
        </p:nvSpPr>
        <p:spPr>
          <a:xfrm>
            <a:off x="1143000" y="4334256"/>
            <a:ext cx="7315200" cy="320040"/>
          </a:xfrm>
          <a:prstGeom prst="rect">
            <a:avLst/>
          </a:prstGeom>
          <a:noFill/>
          <a:ln/>
        </p:spPr>
        <p:txBody>
          <a:bodyPr wrap="square"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Motivation</a:t>
            </a:r>
            <a:pPr indent="0" marL="0">
              <a:buNone/>
            </a:pPr>
            <a:r>
              <a:rPr lang="en-US" sz="1300" dirty="0">
                <a:solidFill>
                  <a:srgbClr val="2D3436"/>
                </a:solidFill>
                <a:latin typeface="Calibri" pitchFamily="34" charset="0"/>
                <a:ea typeface="Calibri" pitchFamily="34" charset="-122"/>
                <a:cs typeface="Calibri" pitchFamily="34" charset="-120"/>
              </a:rPr>
              <a:t>: Using emotions to achieve goals</a:t>
            </a:r>
            <a:endParaRPr lang="en-US" sz="1300" dirty="0"/>
          </a:p>
        </p:txBody>
      </p:sp>
      <p:sp>
        <p:nvSpPr>
          <p:cNvPr id="16" name="Shape 13"/>
          <p:cNvSpPr/>
          <p:nvPr/>
        </p:nvSpPr>
        <p:spPr>
          <a:xfrm>
            <a:off x="731520" y="4718304"/>
            <a:ext cx="320040" cy="320040"/>
          </a:xfrm>
          <a:prstGeom prst="ellipse">
            <a:avLst/>
          </a:prstGeom>
          <a:solidFill>
            <a:srgbClr val="2C5F2D"/>
          </a:solidFill>
          <a:ln/>
        </p:spPr>
      </p:sp>
      <p:sp>
        <p:nvSpPr>
          <p:cNvPr id="17" name="Text 14"/>
          <p:cNvSpPr/>
          <p:nvPr/>
        </p:nvSpPr>
        <p:spPr>
          <a:xfrm>
            <a:off x="731520" y="4718304"/>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5"/>
          <p:cNvSpPr/>
          <p:nvPr/>
        </p:nvSpPr>
        <p:spPr>
          <a:xfrm>
            <a:off x="1143000" y="4718304"/>
            <a:ext cx="7315200" cy="320040"/>
          </a:xfrm>
          <a:prstGeom prst="rect">
            <a:avLst/>
          </a:prstGeom>
          <a:noFill/>
          <a:ln/>
        </p:spPr>
        <p:txBody>
          <a:bodyPr wrap="square"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Empathy</a:t>
            </a:r>
            <a:pPr indent="0" marL="0">
              <a:buNone/>
            </a:pPr>
            <a:r>
              <a:rPr lang="en-US" sz="1300" dirty="0">
                <a:solidFill>
                  <a:srgbClr val="2D3436"/>
                </a:solidFill>
                <a:latin typeface="Calibri" pitchFamily="34" charset="0"/>
                <a:ea typeface="Calibri" pitchFamily="34" charset="-122"/>
                <a:cs typeface="Calibri" pitchFamily="34" charset="-120"/>
              </a:rPr>
              <a:t>: Understanding others' feelings and perspectives</a:t>
            </a:r>
            <a:endParaRPr lang="en-US" sz="1300" dirty="0"/>
          </a:p>
        </p:txBody>
      </p:sp>
      <p:sp>
        <p:nvSpPr>
          <p:cNvPr id="19" name="Shape 16"/>
          <p:cNvSpPr/>
          <p:nvPr/>
        </p:nvSpPr>
        <p:spPr>
          <a:xfrm>
            <a:off x="731520" y="5102352"/>
            <a:ext cx="320040" cy="320040"/>
          </a:xfrm>
          <a:prstGeom prst="ellipse">
            <a:avLst/>
          </a:prstGeom>
          <a:solidFill>
            <a:srgbClr val="2C5F2D"/>
          </a:solidFill>
          <a:ln/>
        </p:spPr>
      </p:sp>
      <p:sp>
        <p:nvSpPr>
          <p:cNvPr id="20" name="Text 17"/>
          <p:cNvSpPr/>
          <p:nvPr/>
        </p:nvSpPr>
        <p:spPr>
          <a:xfrm>
            <a:off x="731520" y="5102352"/>
            <a:ext cx="320040" cy="32004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1" name="Text 18"/>
          <p:cNvSpPr/>
          <p:nvPr/>
        </p:nvSpPr>
        <p:spPr>
          <a:xfrm>
            <a:off x="1143000" y="5102352"/>
            <a:ext cx="7315200" cy="320040"/>
          </a:xfrm>
          <a:prstGeom prst="rect">
            <a:avLst/>
          </a:prstGeom>
          <a:noFill/>
          <a:ln/>
        </p:spPr>
        <p:txBody>
          <a:bodyPr wrap="square"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Social Skills</a:t>
            </a:r>
            <a:pPr indent="0" marL="0">
              <a:buNone/>
            </a:pPr>
            <a:r>
              <a:rPr lang="en-US" sz="1300" dirty="0">
                <a:solidFill>
                  <a:srgbClr val="2D3436"/>
                </a:solidFill>
                <a:latin typeface="Calibri" pitchFamily="34" charset="0"/>
                <a:ea typeface="Calibri" pitchFamily="34" charset="-122"/>
                <a:cs typeface="Calibri" pitchFamily="34" charset="-120"/>
              </a:rPr>
              <a:t>: Building and maintaining relationships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APPLYING EQ IN ADVOCACY WORK</a:t>
            </a:r>
            <a:endParaRPr lang="en-US" sz="3600" dirty="0"/>
          </a:p>
        </p:txBody>
      </p:sp>
      <p:sp>
        <p:nvSpPr>
          <p:cNvPr id="3" name="Shape 1"/>
          <p:cNvSpPr/>
          <p:nvPr/>
        </p:nvSpPr>
        <p:spPr>
          <a:xfrm>
            <a:off x="457200" y="1097280"/>
            <a:ext cx="822960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73152" cy="1051560"/>
          </a:xfrm>
          <a:prstGeom prst="rect">
            <a:avLst/>
          </a:prstGeom>
          <a:solidFill>
            <a:srgbClr val="D4A574"/>
          </a:solidFill>
          <a:ln/>
        </p:spPr>
      </p:sp>
      <p:sp>
        <p:nvSpPr>
          <p:cNvPr id="5" name="Text 3"/>
          <p:cNvSpPr/>
          <p:nvPr/>
        </p:nvSpPr>
        <p:spPr>
          <a:xfrm>
            <a:off x="731520" y="1188720"/>
            <a:ext cx="7772400" cy="274320"/>
          </a:xfrm>
          <a:prstGeom prst="rect">
            <a:avLst/>
          </a:prstGeom>
          <a:noFill/>
          <a:ln/>
        </p:spPr>
        <p:txBody>
          <a:bodyPr wrap="square" rtlCol="0" anchor="ctr"/>
          <a:lstStyle/>
          <a:p>
            <a:pPr indent="0" marL="0">
              <a:buNone/>
            </a:pPr>
            <a:r>
              <a:rPr lang="en-US" sz="1500" b="1" dirty="0">
                <a:solidFill>
                  <a:srgbClr val="1A3A1B"/>
                </a:solidFill>
                <a:latin typeface="Arial" pitchFamily="34" charset="0"/>
                <a:ea typeface="Arial" pitchFamily="34" charset="-122"/>
                <a:cs typeface="Arial" pitchFamily="34" charset="-120"/>
              </a:rPr>
              <a:t>Community Meeting Conflict</a:t>
            </a:r>
            <a:endParaRPr lang="en-US" sz="1500" dirty="0"/>
          </a:p>
        </p:txBody>
      </p:sp>
      <p:sp>
        <p:nvSpPr>
          <p:cNvPr id="6" name="Text 4"/>
          <p:cNvSpPr/>
          <p:nvPr/>
        </p:nvSpPr>
        <p:spPr>
          <a:xfrm>
            <a:off x="731520" y="1508760"/>
            <a:ext cx="7772400" cy="228600"/>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Challenge: </a:t>
            </a:r>
            <a:pPr indent="0" marL="0">
              <a:buNone/>
            </a:pPr>
            <a:r>
              <a:rPr lang="en-US" sz="1200" i="1" dirty="0">
                <a:solidFill>
                  <a:srgbClr val="2D3436"/>
                </a:solidFill>
                <a:latin typeface="Calibri" pitchFamily="34" charset="0"/>
                <a:ea typeface="Calibri" pitchFamily="34" charset="-122"/>
                <a:cs typeface="Calibri" pitchFamily="34" charset="-120"/>
              </a:rPr>
              <a:t>Two community members disagree strongly on a project approach</a:t>
            </a:r>
            <a:endParaRPr lang="en-US" sz="1200" dirty="0"/>
          </a:p>
        </p:txBody>
      </p:sp>
      <p:sp>
        <p:nvSpPr>
          <p:cNvPr id="7" name="Text 5"/>
          <p:cNvSpPr/>
          <p:nvPr/>
        </p:nvSpPr>
        <p:spPr>
          <a:xfrm>
            <a:off x="731520" y="1764792"/>
            <a:ext cx="7772400" cy="320040"/>
          </a:xfrm>
          <a:prstGeom prst="rect">
            <a:avLst/>
          </a:prstGeom>
          <a:noFill/>
          <a:ln/>
        </p:spPr>
        <p:txBody>
          <a:bodyPr wrap="square" rtlCol="0" anchor="ctr"/>
          <a:lstStyle/>
          <a:p>
            <a:pPr indent="0" marL="0">
              <a:buNone/>
            </a:pPr>
            <a:r>
              <a:rPr lang="en-US" sz="1200" b="1" dirty="0">
                <a:solidFill>
                  <a:srgbClr val="97BC62"/>
                </a:solidFill>
                <a:latin typeface="Calibri" pitchFamily="34" charset="0"/>
                <a:ea typeface="Calibri" pitchFamily="34" charset="-122"/>
                <a:cs typeface="Calibri" pitchFamily="34" charset="-120"/>
              </a:rPr>
              <a:t>EQ Response: </a:t>
            </a:r>
            <a:pPr indent="0" marL="0">
              <a:buNone/>
            </a:pPr>
            <a:r>
              <a:rPr lang="en-US" sz="1200" dirty="0">
                <a:solidFill>
                  <a:srgbClr val="2D3436"/>
                </a:solidFill>
                <a:latin typeface="Calibri" pitchFamily="34" charset="0"/>
                <a:ea typeface="Calibri" pitchFamily="34" charset="-122"/>
                <a:cs typeface="Calibri" pitchFamily="34" charset="-120"/>
              </a:rPr>
              <a:t>Use self-regulation to stay calm, employ empathy to understand both perspectives, and facilitate a solution that addresses underlying concerns</a:t>
            </a:r>
            <a:endParaRPr lang="en-US" sz="1200" dirty="0"/>
          </a:p>
        </p:txBody>
      </p:sp>
      <p:sp>
        <p:nvSpPr>
          <p:cNvPr id="8" name="Shape 6"/>
          <p:cNvSpPr/>
          <p:nvPr/>
        </p:nvSpPr>
        <p:spPr>
          <a:xfrm>
            <a:off x="457200" y="2267712"/>
            <a:ext cx="822960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57200" y="2267712"/>
            <a:ext cx="73152" cy="1051560"/>
          </a:xfrm>
          <a:prstGeom prst="rect">
            <a:avLst/>
          </a:prstGeom>
          <a:solidFill>
            <a:srgbClr val="D4A574"/>
          </a:solidFill>
          <a:ln/>
        </p:spPr>
      </p:sp>
      <p:sp>
        <p:nvSpPr>
          <p:cNvPr id="10" name="Text 8"/>
          <p:cNvSpPr/>
          <p:nvPr/>
        </p:nvSpPr>
        <p:spPr>
          <a:xfrm>
            <a:off x="731520" y="2359152"/>
            <a:ext cx="7772400" cy="274320"/>
          </a:xfrm>
          <a:prstGeom prst="rect">
            <a:avLst/>
          </a:prstGeom>
          <a:noFill/>
          <a:ln/>
        </p:spPr>
        <p:txBody>
          <a:bodyPr wrap="square" rtlCol="0" anchor="ctr"/>
          <a:lstStyle/>
          <a:p>
            <a:pPr indent="0" marL="0">
              <a:buNone/>
            </a:pPr>
            <a:r>
              <a:rPr lang="en-US" sz="1500" b="1" dirty="0">
                <a:solidFill>
                  <a:srgbClr val="1A3A1B"/>
                </a:solidFill>
                <a:latin typeface="Arial" pitchFamily="34" charset="0"/>
                <a:ea typeface="Arial" pitchFamily="34" charset="-122"/>
                <a:cs typeface="Arial" pitchFamily="34" charset="-120"/>
              </a:rPr>
              <a:t>Stressful Campaign Period</a:t>
            </a:r>
            <a:endParaRPr lang="en-US" sz="1500" dirty="0"/>
          </a:p>
        </p:txBody>
      </p:sp>
      <p:sp>
        <p:nvSpPr>
          <p:cNvPr id="11" name="Text 9"/>
          <p:cNvSpPr/>
          <p:nvPr/>
        </p:nvSpPr>
        <p:spPr>
          <a:xfrm>
            <a:off x="731520" y="2679192"/>
            <a:ext cx="7772400" cy="228600"/>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Challenge: </a:t>
            </a:r>
            <a:pPr indent="0" marL="0">
              <a:buNone/>
            </a:pPr>
            <a:r>
              <a:rPr lang="en-US" sz="1200" i="1" dirty="0">
                <a:solidFill>
                  <a:srgbClr val="2D3436"/>
                </a:solidFill>
                <a:latin typeface="Calibri" pitchFamily="34" charset="0"/>
                <a:ea typeface="Calibri" pitchFamily="34" charset="-122"/>
                <a:cs typeface="Calibri" pitchFamily="34" charset="-120"/>
              </a:rPr>
              <a:t>You feel overwhelmed and frustrated with slow progress</a:t>
            </a:r>
            <a:endParaRPr lang="en-US" sz="1200" dirty="0"/>
          </a:p>
        </p:txBody>
      </p:sp>
      <p:sp>
        <p:nvSpPr>
          <p:cNvPr id="12" name="Text 10"/>
          <p:cNvSpPr/>
          <p:nvPr/>
        </p:nvSpPr>
        <p:spPr>
          <a:xfrm>
            <a:off x="731520" y="2935224"/>
            <a:ext cx="7772400" cy="320040"/>
          </a:xfrm>
          <a:prstGeom prst="rect">
            <a:avLst/>
          </a:prstGeom>
          <a:noFill/>
          <a:ln/>
        </p:spPr>
        <p:txBody>
          <a:bodyPr wrap="square" rtlCol="0" anchor="ctr"/>
          <a:lstStyle/>
          <a:p>
            <a:pPr indent="0" marL="0">
              <a:buNone/>
            </a:pPr>
            <a:r>
              <a:rPr lang="en-US" sz="1200" b="1" dirty="0">
                <a:solidFill>
                  <a:srgbClr val="97BC62"/>
                </a:solidFill>
                <a:latin typeface="Calibri" pitchFamily="34" charset="0"/>
                <a:ea typeface="Calibri" pitchFamily="34" charset="-122"/>
                <a:cs typeface="Calibri" pitchFamily="34" charset="-120"/>
              </a:rPr>
              <a:t>EQ Response: </a:t>
            </a:r>
            <a:pPr indent="0" marL="0">
              <a:buNone/>
            </a:pPr>
            <a:r>
              <a:rPr lang="en-US" sz="1200" dirty="0">
                <a:solidFill>
                  <a:srgbClr val="2D3436"/>
                </a:solidFill>
                <a:latin typeface="Calibri" pitchFamily="34" charset="0"/>
                <a:ea typeface="Calibri" pitchFamily="34" charset="-122"/>
                <a:cs typeface="Calibri" pitchFamily="34" charset="-120"/>
              </a:rPr>
              <a:t>Practice self-awareness to recognize stress triggers, use motivation to refocus on your purpose, and communicate needs clearly to your team</a:t>
            </a:r>
            <a:endParaRPr lang="en-US" sz="1200" dirty="0"/>
          </a:p>
        </p:txBody>
      </p:sp>
      <p:sp>
        <p:nvSpPr>
          <p:cNvPr id="13" name="Shape 11"/>
          <p:cNvSpPr/>
          <p:nvPr/>
        </p:nvSpPr>
        <p:spPr>
          <a:xfrm>
            <a:off x="457200" y="3438144"/>
            <a:ext cx="822960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57200" y="3438144"/>
            <a:ext cx="73152" cy="1051560"/>
          </a:xfrm>
          <a:prstGeom prst="rect">
            <a:avLst/>
          </a:prstGeom>
          <a:solidFill>
            <a:srgbClr val="D4A574"/>
          </a:solidFill>
          <a:ln/>
        </p:spPr>
      </p:sp>
      <p:sp>
        <p:nvSpPr>
          <p:cNvPr id="15" name="Text 13"/>
          <p:cNvSpPr/>
          <p:nvPr/>
        </p:nvSpPr>
        <p:spPr>
          <a:xfrm>
            <a:off x="731520" y="3529584"/>
            <a:ext cx="7772400" cy="274320"/>
          </a:xfrm>
          <a:prstGeom prst="rect">
            <a:avLst/>
          </a:prstGeom>
          <a:noFill/>
          <a:ln/>
        </p:spPr>
        <p:txBody>
          <a:bodyPr wrap="square" rtlCol="0" anchor="ctr"/>
          <a:lstStyle/>
          <a:p>
            <a:pPr indent="0" marL="0">
              <a:buNone/>
            </a:pPr>
            <a:r>
              <a:rPr lang="en-US" sz="1500" b="1" dirty="0">
                <a:solidFill>
                  <a:srgbClr val="1A3A1B"/>
                </a:solidFill>
                <a:latin typeface="Arial" pitchFamily="34" charset="0"/>
                <a:ea typeface="Arial" pitchFamily="34" charset="-122"/>
                <a:cs typeface="Arial" pitchFamily="34" charset="-120"/>
              </a:rPr>
              <a:t>Building Donor Relationships</a:t>
            </a:r>
            <a:endParaRPr lang="en-US" sz="1500" dirty="0"/>
          </a:p>
        </p:txBody>
      </p:sp>
      <p:sp>
        <p:nvSpPr>
          <p:cNvPr id="16" name="Text 14"/>
          <p:cNvSpPr/>
          <p:nvPr/>
        </p:nvSpPr>
        <p:spPr>
          <a:xfrm>
            <a:off x="731520" y="3849624"/>
            <a:ext cx="7772400" cy="228600"/>
          </a:xfrm>
          <a:prstGeom prst="rect">
            <a:avLst/>
          </a:prstGeom>
          <a:noFill/>
          <a:ln/>
        </p:spPr>
        <p:txBody>
          <a:bodyPr wrap="square" rtlCol="0" anchor="ctr"/>
          <a:lstStyle/>
          <a:p>
            <a:pPr indent="0" marL="0">
              <a:buNone/>
            </a:pPr>
            <a:r>
              <a:rPr lang="en-US" sz="1200" b="1" dirty="0">
                <a:solidFill>
                  <a:srgbClr val="2C5F2D"/>
                </a:solidFill>
                <a:latin typeface="Calibri" pitchFamily="34" charset="0"/>
                <a:ea typeface="Calibri" pitchFamily="34" charset="-122"/>
                <a:cs typeface="Calibri" pitchFamily="34" charset="-120"/>
              </a:rPr>
              <a:t>Challenge: </a:t>
            </a:r>
            <a:pPr indent="0" marL="0">
              <a:buNone/>
            </a:pPr>
            <a:r>
              <a:rPr lang="en-US" sz="1200" i="1" dirty="0">
                <a:solidFill>
                  <a:srgbClr val="2D3436"/>
                </a:solidFill>
                <a:latin typeface="Calibri" pitchFamily="34" charset="0"/>
                <a:ea typeface="Calibri" pitchFamily="34" charset="-122"/>
                <a:cs typeface="Calibri" pitchFamily="34" charset="-120"/>
              </a:rPr>
              <a:t>A potential partner seems hesitant or skeptical</a:t>
            </a:r>
            <a:endParaRPr lang="en-US" sz="1200" dirty="0"/>
          </a:p>
        </p:txBody>
      </p:sp>
      <p:sp>
        <p:nvSpPr>
          <p:cNvPr id="17" name="Text 15"/>
          <p:cNvSpPr/>
          <p:nvPr/>
        </p:nvSpPr>
        <p:spPr>
          <a:xfrm>
            <a:off x="731520" y="4105656"/>
            <a:ext cx="7772400" cy="320040"/>
          </a:xfrm>
          <a:prstGeom prst="rect">
            <a:avLst/>
          </a:prstGeom>
          <a:noFill/>
          <a:ln/>
        </p:spPr>
        <p:txBody>
          <a:bodyPr wrap="square" rtlCol="0" anchor="ctr"/>
          <a:lstStyle/>
          <a:p>
            <a:pPr indent="0" marL="0">
              <a:buNone/>
            </a:pPr>
            <a:r>
              <a:rPr lang="en-US" sz="1200" b="1" dirty="0">
                <a:solidFill>
                  <a:srgbClr val="97BC62"/>
                </a:solidFill>
                <a:latin typeface="Calibri" pitchFamily="34" charset="0"/>
                <a:ea typeface="Calibri" pitchFamily="34" charset="-122"/>
                <a:cs typeface="Calibri" pitchFamily="34" charset="-120"/>
              </a:rPr>
              <a:t>EQ Response: </a:t>
            </a:r>
            <a:pPr indent="0" marL="0">
              <a:buNone/>
            </a:pPr>
            <a:r>
              <a:rPr lang="en-US" sz="1200" dirty="0">
                <a:solidFill>
                  <a:srgbClr val="2D3436"/>
                </a:solidFill>
                <a:latin typeface="Calibri" pitchFamily="34" charset="0"/>
                <a:ea typeface="Calibri" pitchFamily="34" charset="-122"/>
                <a:cs typeface="Calibri" pitchFamily="34" charset="-120"/>
              </a:rPr>
              <a:t>Apply empathy to understand their concerns, use social skills to build trust, and adjust your communication style to match their preferences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EMPATHY: THE HEART OF CONNECTION</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Empathy is the ability to understand and share the feelings of another person. It goes beyond sympathy—it means putting yourself in someone else's shoes and experiencing their perspective.</a:t>
            </a:r>
            <a:endParaRPr lang="en-US" sz="1400" dirty="0"/>
          </a:p>
        </p:txBody>
      </p:sp>
      <p:sp>
        <p:nvSpPr>
          <p:cNvPr id="5" name="Shape 2"/>
          <p:cNvSpPr/>
          <p:nvPr/>
        </p:nvSpPr>
        <p:spPr>
          <a:xfrm>
            <a:off x="457200" y="2011680"/>
            <a:ext cx="411480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Text 3"/>
          <p:cNvSpPr/>
          <p:nvPr/>
        </p:nvSpPr>
        <p:spPr>
          <a:xfrm>
            <a:off x="731520" y="2194560"/>
            <a:ext cx="3566160" cy="320040"/>
          </a:xfrm>
          <a:prstGeom prst="rect">
            <a:avLst/>
          </a:prstGeom>
          <a:noFill/>
          <a:ln/>
        </p:spPr>
        <p:txBody>
          <a:bodyPr wrap="square" rtlCol="0" anchor="ctr"/>
          <a:lstStyle/>
          <a:p>
            <a:pPr indent="0" marL="0">
              <a:buNone/>
            </a:pPr>
            <a:r>
              <a:rPr lang="en-US" sz="1600" b="1" dirty="0">
                <a:solidFill>
                  <a:srgbClr val="2C5F2D"/>
                </a:solidFill>
                <a:latin typeface="Arial" pitchFamily="34" charset="0"/>
                <a:ea typeface="Arial" pitchFamily="34" charset="-122"/>
                <a:cs typeface="Arial" pitchFamily="34" charset="-120"/>
              </a:rPr>
              <a:t>TYPES OF EMPATHY</a:t>
            </a:r>
            <a:endParaRPr lang="en-US" sz="1600" dirty="0"/>
          </a:p>
        </p:txBody>
      </p:sp>
      <p:sp>
        <p:nvSpPr>
          <p:cNvPr id="7" name="Text 4"/>
          <p:cNvSpPr/>
          <p:nvPr/>
        </p:nvSpPr>
        <p:spPr>
          <a:xfrm>
            <a:off x="731520" y="2606040"/>
            <a:ext cx="3566160" cy="1645920"/>
          </a:xfrm>
          <a:prstGeom prst="rect">
            <a:avLst/>
          </a:prstGeom>
          <a:noFill/>
          <a:ln/>
        </p:spPr>
        <p:txBody>
          <a:bodyPr wrap="square" rtlCol="0" anchor="ctr"/>
          <a:lstStyle/>
          <a:p>
            <a:pPr indent="0" marL="0">
              <a:buNone/>
            </a:pPr>
            <a:r>
              <a:rPr lang="en-US" sz="1300" b="1" dirty="0">
                <a:solidFill>
                  <a:srgbClr val="2D3436"/>
                </a:solidFill>
                <a:latin typeface="Calibri" pitchFamily="34" charset="0"/>
                <a:ea typeface="Calibri" pitchFamily="34" charset="-122"/>
                <a:cs typeface="Calibri" pitchFamily="34" charset="-120"/>
              </a:rPr>
              <a:t>1. Cognitive Empathy</a:t>
            </a:r>
            <a:endParaRPr lang="en-US" sz="1300" dirty="0"/>
          </a:p>
          <a:p>
            <a:pPr indent="0" marL="0">
              <a:buNone/>
            </a:pPr>
            <a:r>
              <a:rPr lang="en-US" sz="1300" dirty="0">
                <a:solidFill>
                  <a:srgbClr val="2D3436"/>
                </a:solidFill>
                <a:latin typeface="Calibri" pitchFamily="34" charset="0"/>
                <a:ea typeface="Calibri" pitchFamily="34" charset="-122"/>
                <a:cs typeface="Calibri" pitchFamily="34" charset="-120"/>
              </a:rPr>
              <a:t>Understanding how someone thinks</a:t>
            </a:r>
            <a:endParaRPr lang="en-US" sz="1300" dirty="0"/>
          </a:p>
          <a:p>
            <a:pPr indent="0" marL="0">
              <a:buNone/>
            </a:pPr>
            <a:endParaRPr lang="en-US" sz="1300" dirty="0"/>
          </a:p>
          <a:p>
            <a:pPr indent="0" marL="0">
              <a:buNone/>
            </a:pPr>
            <a:r>
              <a:rPr lang="en-US" sz="1300" b="1" dirty="0">
                <a:solidFill>
                  <a:srgbClr val="2D3436"/>
                </a:solidFill>
                <a:latin typeface="Calibri" pitchFamily="34" charset="0"/>
                <a:ea typeface="Calibri" pitchFamily="34" charset="-122"/>
                <a:cs typeface="Calibri" pitchFamily="34" charset="-120"/>
              </a:rPr>
              <a:t>2. Emotional Empathy</a:t>
            </a:r>
            <a:endParaRPr lang="en-US" sz="1300" dirty="0"/>
          </a:p>
          <a:p>
            <a:pPr indent="0" marL="0">
              <a:buNone/>
            </a:pPr>
            <a:r>
              <a:rPr lang="en-US" sz="1300" dirty="0">
                <a:solidFill>
                  <a:srgbClr val="2D3436"/>
                </a:solidFill>
                <a:latin typeface="Calibri" pitchFamily="34" charset="0"/>
                <a:ea typeface="Calibri" pitchFamily="34" charset="-122"/>
                <a:cs typeface="Calibri" pitchFamily="34" charset="-120"/>
              </a:rPr>
              <a:t>Feeling what someone else feels</a:t>
            </a:r>
            <a:endParaRPr lang="en-US" sz="1300" dirty="0"/>
          </a:p>
          <a:p>
            <a:pPr indent="0" marL="0">
              <a:buNone/>
            </a:pPr>
            <a:endParaRPr lang="en-US" sz="1300" dirty="0"/>
          </a:p>
          <a:p>
            <a:pPr indent="0" marL="0">
              <a:buNone/>
            </a:pPr>
            <a:r>
              <a:rPr lang="en-US" sz="1300" b="1" dirty="0">
                <a:solidFill>
                  <a:srgbClr val="2D3436"/>
                </a:solidFill>
                <a:latin typeface="Calibri" pitchFamily="34" charset="0"/>
                <a:ea typeface="Calibri" pitchFamily="34" charset="-122"/>
                <a:cs typeface="Calibri" pitchFamily="34" charset="-120"/>
              </a:rPr>
              <a:t>3. Compassionate Empathy</a:t>
            </a:r>
            <a:endParaRPr lang="en-US" sz="1300" dirty="0"/>
          </a:p>
          <a:p>
            <a:pPr indent="0" marL="0">
              <a:buNone/>
            </a:pPr>
            <a:r>
              <a:rPr lang="en-US" sz="1300" dirty="0">
                <a:solidFill>
                  <a:srgbClr val="2D3436"/>
                </a:solidFill>
                <a:latin typeface="Calibri" pitchFamily="34" charset="0"/>
                <a:ea typeface="Calibri" pitchFamily="34" charset="-122"/>
                <a:cs typeface="Calibri" pitchFamily="34" charset="-120"/>
              </a:rPr>
              <a:t>Understanding, feeling, AND taking action to help</a:t>
            </a:r>
            <a:endParaRPr lang="en-US" sz="1300" dirty="0"/>
          </a:p>
        </p:txBody>
      </p:sp>
      <p:sp>
        <p:nvSpPr>
          <p:cNvPr id="8" name="Shape 5"/>
          <p:cNvSpPr/>
          <p:nvPr/>
        </p:nvSpPr>
        <p:spPr>
          <a:xfrm>
            <a:off x="4572000" y="2011680"/>
            <a:ext cx="411480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Text 6"/>
          <p:cNvSpPr/>
          <p:nvPr/>
        </p:nvSpPr>
        <p:spPr>
          <a:xfrm>
            <a:off x="4846320" y="2194560"/>
            <a:ext cx="3566160" cy="320040"/>
          </a:xfrm>
          <a:prstGeom prst="rect">
            <a:avLst/>
          </a:prstGeom>
          <a:noFill/>
          <a:ln/>
        </p:spPr>
        <p:txBody>
          <a:bodyPr wrap="square" rtlCol="0" anchor="ctr"/>
          <a:lstStyle/>
          <a:p>
            <a:pPr indent="0" marL="0">
              <a:buNone/>
            </a:pPr>
            <a:r>
              <a:rPr lang="en-US" sz="1600" b="1" dirty="0">
                <a:solidFill>
                  <a:srgbClr val="97BC62"/>
                </a:solidFill>
                <a:latin typeface="Arial" pitchFamily="34" charset="0"/>
                <a:ea typeface="Arial" pitchFamily="34" charset="-122"/>
                <a:cs typeface="Arial" pitchFamily="34" charset="-120"/>
              </a:rPr>
              <a:t>HOW TO PRACTICE EMPATHY</a:t>
            </a:r>
            <a:endParaRPr lang="en-US" sz="1600" dirty="0"/>
          </a:p>
        </p:txBody>
      </p:sp>
      <p:sp>
        <p:nvSpPr>
          <p:cNvPr id="10" name="Text 7"/>
          <p:cNvSpPr/>
          <p:nvPr/>
        </p:nvSpPr>
        <p:spPr>
          <a:xfrm>
            <a:off x="4846320" y="2606040"/>
            <a:ext cx="3566160" cy="1645920"/>
          </a:xfrm>
          <a:prstGeom prst="rect">
            <a:avLst/>
          </a:prstGeom>
          <a:noFill/>
          <a:ln/>
        </p:spPr>
        <p:txBody>
          <a:bodyPr wrap="square" rtlCol="0" anchor="ctr"/>
          <a:lstStyle/>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 Listen without judgment</a:t>
            </a: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 Ask open-ended questions</a:t>
            </a: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 Pay attention to body language</a:t>
            </a: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 Acknowledge emotions openly</a:t>
            </a: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 Avoid making assumptions</a:t>
            </a: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 Validate their experience</a:t>
            </a: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 Reflect back what you hear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ACTIVE LISTENING</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Active listening means fully concentrating on what someone is saying rather than passively hearing their words. It is a cornerstone of effective communication and essential for advocacy work.</a:t>
            </a:r>
            <a:endParaRPr lang="en-US" sz="1400" dirty="0"/>
          </a:p>
        </p:txBody>
      </p:sp>
      <p:sp>
        <p:nvSpPr>
          <p:cNvPr id="5" name="Text 2"/>
          <p:cNvSpPr/>
          <p:nvPr/>
        </p:nvSpPr>
        <p:spPr>
          <a:xfrm>
            <a:off x="731520" y="2011680"/>
            <a:ext cx="7680960" cy="365760"/>
          </a:xfrm>
          <a:prstGeom prst="rect">
            <a:avLst/>
          </a:prstGeom>
          <a:noFill/>
          <a:ln/>
        </p:spPr>
        <p:txBody>
          <a:bodyPr wrap="square" rtlCol="0" anchor="ctr"/>
          <a:lstStyle/>
          <a:p>
            <a:pPr indent="0" marL="0">
              <a:buNone/>
            </a:pPr>
            <a:r>
              <a:rPr lang="en-US" sz="1800" b="1" dirty="0">
                <a:solidFill>
                  <a:srgbClr val="2C5F2D"/>
                </a:solidFill>
                <a:latin typeface="Arial" pitchFamily="34" charset="0"/>
                <a:ea typeface="Arial" pitchFamily="34" charset="-122"/>
                <a:cs typeface="Arial" pitchFamily="34" charset="-120"/>
              </a:rPr>
              <a:t>THE 5 LEVELS OF LISTENING</a:t>
            </a:r>
            <a:endParaRPr lang="en-US" sz="1800" dirty="0"/>
          </a:p>
        </p:txBody>
      </p:sp>
      <p:sp>
        <p:nvSpPr>
          <p:cNvPr id="6" name="Shape 3"/>
          <p:cNvSpPr/>
          <p:nvPr/>
        </p:nvSpPr>
        <p:spPr>
          <a:xfrm>
            <a:off x="731520" y="2468880"/>
            <a:ext cx="146304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4"/>
          <p:cNvSpPr/>
          <p:nvPr/>
        </p:nvSpPr>
        <p:spPr>
          <a:xfrm>
            <a:off x="731520" y="2468880"/>
            <a:ext cx="1463040" cy="457200"/>
          </a:xfrm>
          <a:prstGeom prst="rect">
            <a:avLst/>
          </a:prstGeom>
          <a:solidFill>
            <a:srgbClr val="E74C3C"/>
          </a:solidFill>
          <a:ln/>
        </p:spPr>
      </p:sp>
      <p:sp>
        <p:nvSpPr>
          <p:cNvPr id="8" name="Text 5"/>
          <p:cNvSpPr/>
          <p:nvPr/>
        </p:nvSpPr>
        <p:spPr>
          <a:xfrm>
            <a:off x="731520" y="2514600"/>
            <a:ext cx="1463040" cy="36576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1</a:t>
            </a:r>
            <a:endParaRPr lang="en-US" sz="3200" dirty="0"/>
          </a:p>
        </p:txBody>
      </p:sp>
      <p:sp>
        <p:nvSpPr>
          <p:cNvPr id="9" name="Text 6"/>
          <p:cNvSpPr/>
          <p:nvPr/>
        </p:nvSpPr>
        <p:spPr>
          <a:xfrm>
            <a:off x="731520" y="3017520"/>
            <a:ext cx="1463040" cy="457200"/>
          </a:xfrm>
          <a:prstGeom prst="rect">
            <a:avLst/>
          </a:prstGeom>
          <a:noFill/>
          <a:ln/>
        </p:spPr>
        <p:txBody>
          <a:bodyPr wrap="square" rtlCol="0" anchor="t"/>
          <a:lstStyle/>
          <a:p>
            <a:pPr algn="ctr" indent="0" marL="0">
              <a:buNone/>
            </a:pPr>
            <a:r>
              <a:rPr lang="en-US" sz="1300" b="1" dirty="0">
                <a:solidFill>
                  <a:srgbClr val="1A3A1B"/>
                </a:solidFill>
                <a:latin typeface="Arial" pitchFamily="34" charset="0"/>
                <a:ea typeface="Arial" pitchFamily="34" charset="-122"/>
                <a:cs typeface="Arial" pitchFamily="34" charset="-120"/>
              </a:rPr>
              <a:t>Ignoring</a:t>
            </a:r>
            <a:endParaRPr lang="en-US" sz="1300" dirty="0"/>
          </a:p>
        </p:txBody>
      </p:sp>
      <p:sp>
        <p:nvSpPr>
          <p:cNvPr id="10" name="Text 7"/>
          <p:cNvSpPr/>
          <p:nvPr/>
        </p:nvSpPr>
        <p:spPr>
          <a:xfrm>
            <a:off x="822960" y="3474720"/>
            <a:ext cx="1280160" cy="548640"/>
          </a:xfrm>
          <a:prstGeom prst="rect">
            <a:avLst/>
          </a:prstGeom>
          <a:noFill/>
          <a:ln/>
        </p:spPr>
        <p:txBody>
          <a:bodyPr wrap="square" rtlCol="0" anchor="t"/>
          <a:lstStyle/>
          <a:p>
            <a:pPr algn="ctr" indent="0" marL="0">
              <a:buNone/>
            </a:pPr>
            <a:r>
              <a:rPr lang="en-US" sz="1100" dirty="0">
                <a:solidFill>
                  <a:srgbClr val="2D3436"/>
                </a:solidFill>
                <a:latin typeface="Calibri" pitchFamily="34" charset="0"/>
                <a:ea typeface="Calibri" pitchFamily="34" charset="-122"/>
                <a:cs typeface="Calibri" pitchFamily="34" charset="-120"/>
              </a:rPr>
              <a:t>Not paying attention at all</a:t>
            </a:r>
            <a:endParaRPr lang="en-US" sz="1100" dirty="0"/>
          </a:p>
        </p:txBody>
      </p:sp>
      <p:sp>
        <p:nvSpPr>
          <p:cNvPr id="11" name="Shape 8"/>
          <p:cNvSpPr/>
          <p:nvPr/>
        </p:nvSpPr>
        <p:spPr>
          <a:xfrm>
            <a:off x="2331720" y="2468880"/>
            <a:ext cx="146304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9"/>
          <p:cNvSpPr/>
          <p:nvPr/>
        </p:nvSpPr>
        <p:spPr>
          <a:xfrm>
            <a:off x="2331720" y="2468880"/>
            <a:ext cx="1463040" cy="457200"/>
          </a:xfrm>
          <a:prstGeom prst="rect">
            <a:avLst/>
          </a:prstGeom>
          <a:solidFill>
            <a:srgbClr val="E67E22"/>
          </a:solidFill>
          <a:ln/>
        </p:spPr>
      </p:sp>
      <p:sp>
        <p:nvSpPr>
          <p:cNvPr id="13" name="Text 10"/>
          <p:cNvSpPr/>
          <p:nvPr/>
        </p:nvSpPr>
        <p:spPr>
          <a:xfrm>
            <a:off x="2331720" y="2514600"/>
            <a:ext cx="1463040" cy="36576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2</a:t>
            </a:r>
            <a:endParaRPr lang="en-US" sz="3200" dirty="0"/>
          </a:p>
        </p:txBody>
      </p:sp>
      <p:sp>
        <p:nvSpPr>
          <p:cNvPr id="14" name="Text 11"/>
          <p:cNvSpPr/>
          <p:nvPr/>
        </p:nvSpPr>
        <p:spPr>
          <a:xfrm>
            <a:off x="2331720" y="3017520"/>
            <a:ext cx="1463040" cy="457200"/>
          </a:xfrm>
          <a:prstGeom prst="rect">
            <a:avLst/>
          </a:prstGeom>
          <a:noFill/>
          <a:ln/>
        </p:spPr>
        <p:txBody>
          <a:bodyPr wrap="square" rtlCol="0" anchor="t"/>
          <a:lstStyle/>
          <a:p>
            <a:pPr algn="ctr" indent="0" marL="0">
              <a:buNone/>
            </a:pPr>
            <a:r>
              <a:rPr lang="en-US" sz="1300" b="1" dirty="0">
                <a:solidFill>
                  <a:srgbClr val="1A3A1B"/>
                </a:solidFill>
                <a:latin typeface="Arial" pitchFamily="34" charset="0"/>
                <a:ea typeface="Arial" pitchFamily="34" charset="-122"/>
                <a:cs typeface="Arial" pitchFamily="34" charset="-120"/>
              </a:rPr>
              <a:t>Pretending</a:t>
            </a:r>
            <a:endParaRPr lang="en-US" sz="1300" dirty="0"/>
          </a:p>
        </p:txBody>
      </p:sp>
      <p:sp>
        <p:nvSpPr>
          <p:cNvPr id="15" name="Text 12"/>
          <p:cNvSpPr/>
          <p:nvPr/>
        </p:nvSpPr>
        <p:spPr>
          <a:xfrm>
            <a:off x="2423160" y="3474720"/>
            <a:ext cx="1280160" cy="548640"/>
          </a:xfrm>
          <a:prstGeom prst="rect">
            <a:avLst/>
          </a:prstGeom>
          <a:noFill/>
          <a:ln/>
        </p:spPr>
        <p:txBody>
          <a:bodyPr wrap="square" rtlCol="0" anchor="t"/>
          <a:lstStyle/>
          <a:p>
            <a:pPr algn="ctr" indent="0" marL="0">
              <a:buNone/>
            </a:pPr>
            <a:r>
              <a:rPr lang="en-US" sz="1100" dirty="0">
                <a:solidFill>
                  <a:srgbClr val="2D3436"/>
                </a:solidFill>
                <a:latin typeface="Calibri" pitchFamily="34" charset="0"/>
                <a:ea typeface="Calibri" pitchFamily="34" charset="-122"/>
                <a:cs typeface="Calibri" pitchFamily="34" charset="-120"/>
              </a:rPr>
              <a:t>Acting like you're listening but you're not</a:t>
            </a:r>
            <a:endParaRPr lang="en-US" sz="1100" dirty="0"/>
          </a:p>
        </p:txBody>
      </p:sp>
      <p:sp>
        <p:nvSpPr>
          <p:cNvPr id="16" name="Shape 13"/>
          <p:cNvSpPr/>
          <p:nvPr/>
        </p:nvSpPr>
        <p:spPr>
          <a:xfrm>
            <a:off x="3931920" y="2468880"/>
            <a:ext cx="146304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Shape 14"/>
          <p:cNvSpPr/>
          <p:nvPr/>
        </p:nvSpPr>
        <p:spPr>
          <a:xfrm>
            <a:off x="3931920" y="2468880"/>
            <a:ext cx="1463040" cy="457200"/>
          </a:xfrm>
          <a:prstGeom prst="rect">
            <a:avLst/>
          </a:prstGeom>
          <a:solidFill>
            <a:srgbClr val="F39C12"/>
          </a:solidFill>
          <a:ln/>
        </p:spPr>
      </p:sp>
      <p:sp>
        <p:nvSpPr>
          <p:cNvPr id="18" name="Text 15"/>
          <p:cNvSpPr/>
          <p:nvPr/>
        </p:nvSpPr>
        <p:spPr>
          <a:xfrm>
            <a:off x="3931920" y="2514600"/>
            <a:ext cx="1463040" cy="36576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3</a:t>
            </a:r>
            <a:endParaRPr lang="en-US" sz="3200" dirty="0"/>
          </a:p>
        </p:txBody>
      </p:sp>
      <p:sp>
        <p:nvSpPr>
          <p:cNvPr id="19" name="Text 16"/>
          <p:cNvSpPr/>
          <p:nvPr/>
        </p:nvSpPr>
        <p:spPr>
          <a:xfrm>
            <a:off x="3931920" y="3017520"/>
            <a:ext cx="1463040" cy="457200"/>
          </a:xfrm>
          <a:prstGeom prst="rect">
            <a:avLst/>
          </a:prstGeom>
          <a:noFill/>
          <a:ln/>
        </p:spPr>
        <p:txBody>
          <a:bodyPr wrap="square" rtlCol="0" anchor="t"/>
          <a:lstStyle/>
          <a:p>
            <a:pPr algn="ctr" indent="0" marL="0">
              <a:buNone/>
            </a:pPr>
            <a:r>
              <a:rPr lang="en-US" sz="1300" b="1" dirty="0">
                <a:solidFill>
                  <a:srgbClr val="1A3A1B"/>
                </a:solidFill>
                <a:latin typeface="Arial" pitchFamily="34" charset="0"/>
                <a:ea typeface="Arial" pitchFamily="34" charset="-122"/>
                <a:cs typeface="Arial" pitchFamily="34" charset="-120"/>
              </a:rPr>
              <a:t>Selective</a:t>
            </a:r>
            <a:endParaRPr lang="en-US" sz="1300" dirty="0"/>
          </a:p>
        </p:txBody>
      </p:sp>
      <p:sp>
        <p:nvSpPr>
          <p:cNvPr id="20" name="Text 17"/>
          <p:cNvSpPr/>
          <p:nvPr/>
        </p:nvSpPr>
        <p:spPr>
          <a:xfrm>
            <a:off x="4023360" y="3474720"/>
            <a:ext cx="1280160" cy="548640"/>
          </a:xfrm>
          <a:prstGeom prst="rect">
            <a:avLst/>
          </a:prstGeom>
          <a:noFill/>
          <a:ln/>
        </p:spPr>
        <p:txBody>
          <a:bodyPr wrap="square" rtlCol="0" anchor="t"/>
          <a:lstStyle/>
          <a:p>
            <a:pPr algn="ctr" indent="0" marL="0">
              <a:buNone/>
            </a:pPr>
            <a:r>
              <a:rPr lang="en-US" sz="1100" dirty="0">
                <a:solidFill>
                  <a:srgbClr val="2D3436"/>
                </a:solidFill>
                <a:latin typeface="Calibri" pitchFamily="34" charset="0"/>
                <a:ea typeface="Calibri" pitchFamily="34" charset="-122"/>
                <a:cs typeface="Calibri" pitchFamily="34" charset="-120"/>
              </a:rPr>
              <a:t>Only hearing parts that interest you</a:t>
            </a:r>
            <a:endParaRPr lang="en-US" sz="1100" dirty="0"/>
          </a:p>
        </p:txBody>
      </p:sp>
      <p:sp>
        <p:nvSpPr>
          <p:cNvPr id="21" name="Shape 18"/>
          <p:cNvSpPr/>
          <p:nvPr/>
        </p:nvSpPr>
        <p:spPr>
          <a:xfrm>
            <a:off x="5532120" y="2468880"/>
            <a:ext cx="146304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19"/>
          <p:cNvSpPr/>
          <p:nvPr/>
        </p:nvSpPr>
        <p:spPr>
          <a:xfrm>
            <a:off x="5532120" y="2468880"/>
            <a:ext cx="1463040" cy="457200"/>
          </a:xfrm>
          <a:prstGeom prst="rect">
            <a:avLst/>
          </a:prstGeom>
          <a:solidFill>
            <a:srgbClr val="3498DB"/>
          </a:solidFill>
          <a:ln/>
        </p:spPr>
      </p:sp>
      <p:sp>
        <p:nvSpPr>
          <p:cNvPr id="23" name="Text 20"/>
          <p:cNvSpPr/>
          <p:nvPr/>
        </p:nvSpPr>
        <p:spPr>
          <a:xfrm>
            <a:off x="5532120" y="2514600"/>
            <a:ext cx="1463040" cy="36576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4</a:t>
            </a:r>
            <a:endParaRPr lang="en-US" sz="3200" dirty="0"/>
          </a:p>
        </p:txBody>
      </p:sp>
      <p:sp>
        <p:nvSpPr>
          <p:cNvPr id="24" name="Text 21"/>
          <p:cNvSpPr/>
          <p:nvPr/>
        </p:nvSpPr>
        <p:spPr>
          <a:xfrm>
            <a:off x="5532120" y="3017520"/>
            <a:ext cx="1463040" cy="457200"/>
          </a:xfrm>
          <a:prstGeom prst="rect">
            <a:avLst/>
          </a:prstGeom>
          <a:noFill/>
          <a:ln/>
        </p:spPr>
        <p:txBody>
          <a:bodyPr wrap="square" rtlCol="0" anchor="t"/>
          <a:lstStyle/>
          <a:p>
            <a:pPr algn="ctr" indent="0" marL="0">
              <a:buNone/>
            </a:pPr>
            <a:r>
              <a:rPr lang="en-US" sz="1300" b="1" dirty="0">
                <a:solidFill>
                  <a:srgbClr val="1A3A1B"/>
                </a:solidFill>
                <a:latin typeface="Arial" pitchFamily="34" charset="0"/>
                <a:ea typeface="Arial" pitchFamily="34" charset="-122"/>
                <a:cs typeface="Arial" pitchFamily="34" charset="-120"/>
              </a:rPr>
              <a:t>Attentive</a:t>
            </a:r>
            <a:endParaRPr lang="en-US" sz="1300" dirty="0"/>
          </a:p>
        </p:txBody>
      </p:sp>
      <p:sp>
        <p:nvSpPr>
          <p:cNvPr id="25" name="Text 22"/>
          <p:cNvSpPr/>
          <p:nvPr/>
        </p:nvSpPr>
        <p:spPr>
          <a:xfrm>
            <a:off x="5623560" y="3474720"/>
            <a:ext cx="1280160" cy="548640"/>
          </a:xfrm>
          <a:prstGeom prst="rect">
            <a:avLst/>
          </a:prstGeom>
          <a:noFill/>
          <a:ln/>
        </p:spPr>
        <p:txBody>
          <a:bodyPr wrap="square" rtlCol="0" anchor="t"/>
          <a:lstStyle/>
          <a:p>
            <a:pPr algn="ctr" indent="0" marL="0">
              <a:buNone/>
            </a:pPr>
            <a:r>
              <a:rPr lang="en-US" sz="1100" dirty="0">
                <a:solidFill>
                  <a:srgbClr val="2D3436"/>
                </a:solidFill>
                <a:latin typeface="Calibri" pitchFamily="34" charset="0"/>
                <a:ea typeface="Calibri" pitchFamily="34" charset="-122"/>
                <a:cs typeface="Calibri" pitchFamily="34" charset="-120"/>
              </a:rPr>
              <a:t>Focusing on the words being said</a:t>
            </a:r>
            <a:endParaRPr lang="en-US" sz="1100" dirty="0"/>
          </a:p>
        </p:txBody>
      </p:sp>
      <p:sp>
        <p:nvSpPr>
          <p:cNvPr id="26" name="Shape 23"/>
          <p:cNvSpPr/>
          <p:nvPr/>
        </p:nvSpPr>
        <p:spPr>
          <a:xfrm>
            <a:off x="7132320" y="2468880"/>
            <a:ext cx="1463040" cy="16459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7" name="Shape 24"/>
          <p:cNvSpPr/>
          <p:nvPr/>
        </p:nvSpPr>
        <p:spPr>
          <a:xfrm>
            <a:off x="7132320" y="2468880"/>
            <a:ext cx="1463040" cy="457200"/>
          </a:xfrm>
          <a:prstGeom prst="rect">
            <a:avLst/>
          </a:prstGeom>
          <a:solidFill>
            <a:srgbClr val="27AE60"/>
          </a:solidFill>
          <a:ln/>
        </p:spPr>
      </p:sp>
      <p:sp>
        <p:nvSpPr>
          <p:cNvPr id="28" name="Text 25"/>
          <p:cNvSpPr/>
          <p:nvPr/>
        </p:nvSpPr>
        <p:spPr>
          <a:xfrm>
            <a:off x="7132320" y="2514600"/>
            <a:ext cx="1463040" cy="365760"/>
          </a:xfrm>
          <a:prstGeom prst="rect">
            <a:avLst/>
          </a:prstGeom>
          <a:noFill/>
          <a:ln/>
        </p:spPr>
        <p:txBody>
          <a:bodyPr wrap="square" rtlCol="0" anchor="ctr"/>
          <a:lstStyle/>
          <a:p>
            <a:pPr algn="ctr" indent="0" marL="0">
              <a:buNone/>
            </a:pPr>
            <a:r>
              <a:rPr lang="en-US" sz="3200" b="1" dirty="0">
                <a:solidFill>
                  <a:srgbClr val="FFFFFF"/>
                </a:solidFill>
                <a:latin typeface="Arial Black" pitchFamily="34" charset="0"/>
                <a:ea typeface="Arial Black" pitchFamily="34" charset="-122"/>
                <a:cs typeface="Arial Black" pitchFamily="34" charset="-120"/>
              </a:rPr>
              <a:t>5</a:t>
            </a:r>
            <a:endParaRPr lang="en-US" sz="3200" dirty="0"/>
          </a:p>
        </p:txBody>
      </p:sp>
      <p:sp>
        <p:nvSpPr>
          <p:cNvPr id="29" name="Text 26"/>
          <p:cNvSpPr/>
          <p:nvPr/>
        </p:nvSpPr>
        <p:spPr>
          <a:xfrm>
            <a:off x="7132320" y="3017520"/>
            <a:ext cx="1463040" cy="457200"/>
          </a:xfrm>
          <a:prstGeom prst="rect">
            <a:avLst/>
          </a:prstGeom>
          <a:noFill/>
          <a:ln/>
        </p:spPr>
        <p:txBody>
          <a:bodyPr wrap="square" rtlCol="0" anchor="t"/>
          <a:lstStyle/>
          <a:p>
            <a:pPr algn="ctr" indent="0" marL="0">
              <a:buNone/>
            </a:pPr>
            <a:r>
              <a:rPr lang="en-US" sz="1300" b="1" dirty="0">
                <a:solidFill>
                  <a:srgbClr val="1A3A1B"/>
                </a:solidFill>
                <a:latin typeface="Arial" pitchFamily="34" charset="0"/>
                <a:ea typeface="Arial" pitchFamily="34" charset="-122"/>
                <a:cs typeface="Arial" pitchFamily="34" charset="-120"/>
              </a:rPr>
              <a:t>Empathetic (Active)</a:t>
            </a:r>
            <a:endParaRPr lang="en-US" sz="1300" dirty="0"/>
          </a:p>
        </p:txBody>
      </p:sp>
      <p:sp>
        <p:nvSpPr>
          <p:cNvPr id="30" name="Text 27"/>
          <p:cNvSpPr/>
          <p:nvPr/>
        </p:nvSpPr>
        <p:spPr>
          <a:xfrm>
            <a:off x="7223760" y="3474720"/>
            <a:ext cx="1280160" cy="548640"/>
          </a:xfrm>
          <a:prstGeom prst="rect">
            <a:avLst/>
          </a:prstGeom>
          <a:noFill/>
          <a:ln/>
        </p:spPr>
        <p:txBody>
          <a:bodyPr wrap="square" rtlCol="0" anchor="t"/>
          <a:lstStyle/>
          <a:p>
            <a:pPr algn="ctr" indent="0" marL="0">
              <a:buNone/>
            </a:pPr>
            <a:r>
              <a:rPr lang="en-US" sz="1100" dirty="0">
                <a:solidFill>
                  <a:srgbClr val="2D3436"/>
                </a:solidFill>
                <a:latin typeface="Calibri" pitchFamily="34" charset="0"/>
                <a:ea typeface="Calibri" pitchFamily="34" charset="-122"/>
                <a:cs typeface="Calibri" pitchFamily="34" charset="-120"/>
              </a:rPr>
              <a:t>Understanding feelings AND content—this is the goal!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ACTIVE LISTENING TECHNIQUES</a:t>
            </a:r>
            <a:endParaRPr lang="en-US" sz="3600" dirty="0"/>
          </a:p>
        </p:txBody>
      </p:sp>
      <p:sp>
        <p:nvSpPr>
          <p:cNvPr id="3" name="Shape 1"/>
          <p:cNvSpPr/>
          <p:nvPr/>
        </p:nvSpPr>
        <p:spPr>
          <a:xfrm>
            <a:off x="457200" y="1097280"/>
            <a:ext cx="420624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4206240" cy="320040"/>
          </a:xfrm>
          <a:prstGeom prst="rect">
            <a:avLst/>
          </a:prstGeom>
          <a:solidFill>
            <a:srgbClr val="2C5F2D"/>
          </a:solidFill>
          <a:ln/>
        </p:spPr>
      </p:sp>
      <p:sp>
        <p:nvSpPr>
          <p:cNvPr id="5" name="Text 3"/>
          <p:cNvSpPr/>
          <p:nvPr/>
        </p:nvSpPr>
        <p:spPr>
          <a:xfrm>
            <a:off x="640080" y="114300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PAY FULL ATTENTION</a:t>
            </a:r>
            <a:endParaRPr lang="en-US" sz="1300" dirty="0"/>
          </a:p>
        </p:txBody>
      </p:sp>
      <p:sp>
        <p:nvSpPr>
          <p:cNvPr id="6" name="Text 4"/>
          <p:cNvSpPr/>
          <p:nvPr/>
        </p:nvSpPr>
        <p:spPr>
          <a:xfrm>
            <a:off x="640080" y="1508760"/>
            <a:ext cx="3840480" cy="8229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Put away distractions (phone, laptop)</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Make appropriate eye contact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Face the speaker directly</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Notice their body language and tone</a:t>
            </a:r>
            <a:endParaRPr lang="en-US" sz="1100" dirty="0"/>
          </a:p>
        </p:txBody>
      </p:sp>
      <p:sp>
        <p:nvSpPr>
          <p:cNvPr id="7" name="Shape 5"/>
          <p:cNvSpPr/>
          <p:nvPr/>
        </p:nvSpPr>
        <p:spPr>
          <a:xfrm>
            <a:off x="4937760" y="1097280"/>
            <a:ext cx="420624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8" name="Shape 6"/>
          <p:cNvSpPr/>
          <p:nvPr/>
        </p:nvSpPr>
        <p:spPr>
          <a:xfrm>
            <a:off x="4937760" y="1097280"/>
            <a:ext cx="4206240" cy="320040"/>
          </a:xfrm>
          <a:prstGeom prst="rect">
            <a:avLst/>
          </a:prstGeom>
          <a:solidFill>
            <a:srgbClr val="2C5F2D"/>
          </a:solidFill>
          <a:ln/>
        </p:spPr>
      </p:sp>
      <p:sp>
        <p:nvSpPr>
          <p:cNvPr id="9" name="Text 7"/>
          <p:cNvSpPr/>
          <p:nvPr/>
        </p:nvSpPr>
        <p:spPr>
          <a:xfrm>
            <a:off x="5120640" y="114300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SHOW YOU'RE LISTENING</a:t>
            </a:r>
            <a:endParaRPr lang="en-US" sz="1300" dirty="0"/>
          </a:p>
        </p:txBody>
      </p:sp>
      <p:sp>
        <p:nvSpPr>
          <p:cNvPr id="10" name="Text 8"/>
          <p:cNvSpPr/>
          <p:nvPr/>
        </p:nvSpPr>
        <p:spPr>
          <a:xfrm>
            <a:off x="5120640" y="1508760"/>
            <a:ext cx="3840480" cy="8229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Use small verbal affirmations ("I see", "Mm-hmm")</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Nod occasionally</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Maintain open body posture</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Mirror their emotions appropriately</a:t>
            </a:r>
            <a:endParaRPr lang="en-US" sz="1100" dirty="0"/>
          </a:p>
        </p:txBody>
      </p:sp>
      <p:sp>
        <p:nvSpPr>
          <p:cNvPr id="11" name="Shape 9"/>
          <p:cNvSpPr/>
          <p:nvPr/>
        </p:nvSpPr>
        <p:spPr>
          <a:xfrm>
            <a:off x="457200" y="2560320"/>
            <a:ext cx="420624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10"/>
          <p:cNvSpPr/>
          <p:nvPr/>
        </p:nvSpPr>
        <p:spPr>
          <a:xfrm>
            <a:off x="457200" y="2560320"/>
            <a:ext cx="4206240" cy="320040"/>
          </a:xfrm>
          <a:prstGeom prst="rect">
            <a:avLst/>
          </a:prstGeom>
          <a:solidFill>
            <a:srgbClr val="2C5F2D"/>
          </a:solidFill>
          <a:ln/>
        </p:spPr>
      </p:sp>
      <p:sp>
        <p:nvSpPr>
          <p:cNvPr id="13" name="Text 11"/>
          <p:cNvSpPr/>
          <p:nvPr/>
        </p:nvSpPr>
        <p:spPr>
          <a:xfrm>
            <a:off x="640080" y="260604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PROVIDE FEEDBACK</a:t>
            </a:r>
            <a:endParaRPr lang="en-US" sz="1300" dirty="0"/>
          </a:p>
        </p:txBody>
      </p:sp>
      <p:sp>
        <p:nvSpPr>
          <p:cNvPr id="14" name="Text 12"/>
          <p:cNvSpPr/>
          <p:nvPr/>
        </p:nvSpPr>
        <p:spPr>
          <a:xfrm>
            <a:off x="640080" y="2971800"/>
            <a:ext cx="3840480" cy="8229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Paraphrase: "What I'm hearing is..."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Ask clarifying questions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Summarize key points periodically</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Reflect feelings: "It sounds like you feel..."</a:t>
            </a:r>
            <a:endParaRPr lang="en-US" sz="1100" dirty="0"/>
          </a:p>
        </p:txBody>
      </p:sp>
      <p:sp>
        <p:nvSpPr>
          <p:cNvPr id="15" name="Shape 13"/>
          <p:cNvSpPr/>
          <p:nvPr/>
        </p:nvSpPr>
        <p:spPr>
          <a:xfrm>
            <a:off x="4937760" y="2560320"/>
            <a:ext cx="420624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Shape 14"/>
          <p:cNvSpPr/>
          <p:nvPr/>
        </p:nvSpPr>
        <p:spPr>
          <a:xfrm>
            <a:off x="4937760" y="2560320"/>
            <a:ext cx="4206240" cy="320040"/>
          </a:xfrm>
          <a:prstGeom prst="rect">
            <a:avLst/>
          </a:prstGeom>
          <a:solidFill>
            <a:srgbClr val="2C5F2D"/>
          </a:solidFill>
          <a:ln/>
        </p:spPr>
      </p:sp>
      <p:sp>
        <p:nvSpPr>
          <p:cNvPr id="17" name="Text 15"/>
          <p:cNvSpPr/>
          <p:nvPr/>
        </p:nvSpPr>
        <p:spPr>
          <a:xfrm>
            <a:off x="5120640" y="260604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DEFER JUDGMENT</a:t>
            </a:r>
            <a:endParaRPr lang="en-US" sz="1300" dirty="0"/>
          </a:p>
        </p:txBody>
      </p:sp>
      <p:sp>
        <p:nvSpPr>
          <p:cNvPr id="18" name="Text 16"/>
          <p:cNvSpPr/>
          <p:nvPr/>
        </p:nvSpPr>
        <p:spPr>
          <a:xfrm>
            <a:off x="5120640" y="2971800"/>
            <a:ext cx="3840480" cy="8229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Allow them to finish speaking</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Don't interrupt with solutions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Avoid forming counter-arguments while they talk</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Be open to new perspectives</a:t>
            </a:r>
            <a:endParaRPr lang="en-US" sz="1100" dirty="0"/>
          </a:p>
        </p:txBody>
      </p:sp>
      <p:sp>
        <p:nvSpPr>
          <p:cNvPr id="19" name="Shape 17"/>
          <p:cNvSpPr/>
          <p:nvPr/>
        </p:nvSpPr>
        <p:spPr>
          <a:xfrm>
            <a:off x="457200" y="4023360"/>
            <a:ext cx="4206240" cy="13258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57200" y="4023360"/>
            <a:ext cx="4206240" cy="320040"/>
          </a:xfrm>
          <a:prstGeom prst="rect">
            <a:avLst/>
          </a:prstGeom>
          <a:solidFill>
            <a:srgbClr val="2C5F2D"/>
          </a:solidFill>
          <a:ln/>
        </p:spPr>
      </p:sp>
      <p:sp>
        <p:nvSpPr>
          <p:cNvPr id="21" name="Text 19"/>
          <p:cNvSpPr/>
          <p:nvPr/>
        </p:nvSpPr>
        <p:spPr>
          <a:xfrm>
            <a:off x="640080" y="4069080"/>
            <a:ext cx="3840480" cy="22860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RESPOND APPROPRIATELY</a:t>
            </a:r>
            <a:endParaRPr lang="en-US" sz="1300" dirty="0"/>
          </a:p>
        </p:txBody>
      </p:sp>
      <p:sp>
        <p:nvSpPr>
          <p:cNvPr id="22" name="Text 20"/>
          <p:cNvSpPr/>
          <p:nvPr/>
        </p:nvSpPr>
        <p:spPr>
          <a:xfrm>
            <a:off x="640080" y="4434840"/>
            <a:ext cx="3840480" cy="8229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Be honest and respectful</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Treat them as you want to be treated</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Ask permission before giving advice</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Acknowledge their perspective before sharing yours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TEAMWORK &amp; COLLABORATIVE LEADERSHIP</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Effective teamwork harnesses diverse strengths to achieve common goals. In youth-led NGOs, collaborative leadership creates ownership, builds capacity, and ensures sustainability of your advocacy efforts.</a:t>
            </a:r>
            <a:endParaRPr lang="en-US" sz="1400" dirty="0"/>
          </a:p>
        </p:txBody>
      </p:sp>
      <p:sp>
        <p:nvSpPr>
          <p:cNvPr id="5" name="Shape 2"/>
          <p:cNvSpPr/>
          <p:nvPr/>
        </p:nvSpPr>
        <p:spPr>
          <a:xfrm>
            <a:off x="457200" y="2011680"/>
            <a:ext cx="8229600" cy="457200"/>
          </a:xfrm>
          <a:prstGeom prst="rect">
            <a:avLst/>
          </a:prstGeom>
          <a:solidFill>
            <a:srgbClr val="2C5F2D"/>
          </a:solidFill>
          <a:ln/>
        </p:spPr>
      </p:sp>
      <p:sp>
        <p:nvSpPr>
          <p:cNvPr id="6" name="Text 3"/>
          <p:cNvSpPr/>
          <p:nvPr/>
        </p:nvSpPr>
        <p:spPr>
          <a:xfrm>
            <a:off x="731520" y="2057400"/>
            <a:ext cx="7680960" cy="36576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PRINCIPLES OF EFFECTIVE TEAMWORK</a:t>
            </a:r>
            <a:endParaRPr lang="en-US" sz="1800" dirty="0"/>
          </a:p>
        </p:txBody>
      </p:sp>
      <p:pic>
        <p:nvPicPr>
          <p:cNvPr id="7" name="Image 1" descr="preencoded.png">    </p:cNvPr>
          <p:cNvPicPr>
            <a:picLocks noChangeAspect="1"/>
          </p:cNvPicPr>
          <p:nvPr/>
        </p:nvPicPr>
        <p:blipFill>
          <a:blip r:embed="rId2"/>
          <a:stretch>
            <a:fillRect/>
          </a:stretch>
        </p:blipFill>
        <p:spPr>
          <a:xfrm>
            <a:off x="731520" y="2624328"/>
            <a:ext cx="274320" cy="274320"/>
          </a:xfrm>
          <a:prstGeom prst="rect">
            <a:avLst/>
          </a:prstGeom>
        </p:spPr>
      </p:pic>
      <p:sp>
        <p:nvSpPr>
          <p:cNvPr id="8" name="Text 4"/>
          <p:cNvSpPr/>
          <p:nvPr/>
        </p:nvSpPr>
        <p:spPr>
          <a:xfrm>
            <a:off x="1097280" y="2606040"/>
            <a:ext cx="740664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Clear Communication: </a:t>
            </a:r>
            <a:pPr indent="0" marL="0">
              <a:buNone/>
            </a:pPr>
            <a:r>
              <a:rPr lang="en-US" sz="1300" dirty="0">
                <a:solidFill>
                  <a:srgbClr val="2D3436"/>
                </a:solidFill>
                <a:latin typeface="Calibri" pitchFamily="34" charset="0"/>
                <a:ea typeface="Calibri" pitchFamily="34" charset="-122"/>
                <a:cs typeface="Calibri" pitchFamily="34" charset="-120"/>
              </a:rPr>
              <a:t>Share information openly, set clear expectations, and ensure everyone understands their role and the team's goals</a:t>
            </a:r>
            <a:endParaRPr lang="en-US" sz="1300" dirty="0"/>
          </a:p>
        </p:txBody>
      </p:sp>
      <p:pic>
        <p:nvPicPr>
          <p:cNvPr id="9" name="Image 2" descr="preencoded.png">    </p:cNvPr>
          <p:cNvPicPr>
            <a:picLocks noChangeAspect="1"/>
          </p:cNvPicPr>
          <p:nvPr/>
        </p:nvPicPr>
        <p:blipFill>
          <a:blip r:embed="rId3"/>
          <a:stretch>
            <a:fillRect/>
          </a:stretch>
        </p:blipFill>
        <p:spPr>
          <a:xfrm>
            <a:off x="731520" y="3035808"/>
            <a:ext cx="274320" cy="274320"/>
          </a:xfrm>
          <a:prstGeom prst="rect">
            <a:avLst/>
          </a:prstGeom>
        </p:spPr>
      </p:pic>
      <p:sp>
        <p:nvSpPr>
          <p:cNvPr id="10" name="Text 5"/>
          <p:cNvSpPr/>
          <p:nvPr/>
        </p:nvSpPr>
        <p:spPr>
          <a:xfrm>
            <a:off x="1097280" y="3017520"/>
            <a:ext cx="740664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Mutual Respect: </a:t>
            </a:r>
            <a:pPr indent="0" marL="0">
              <a:buNone/>
            </a:pPr>
            <a:r>
              <a:rPr lang="en-US" sz="1300" dirty="0">
                <a:solidFill>
                  <a:srgbClr val="2D3436"/>
                </a:solidFill>
                <a:latin typeface="Calibri" pitchFamily="34" charset="0"/>
                <a:ea typeface="Calibri" pitchFamily="34" charset="-122"/>
                <a:cs typeface="Calibri" pitchFamily="34" charset="-120"/>
              </a:rPr>
              <a:t>Value each person's contributions, acknowledge different perspectives, and create a safe space for all voices</a:t>
            </a:r>
            <a:endParaRPr lang="en-US" sz="1300" dirty="0"/>
          </a:p>
        </p:txBody>
      </p:sp>
      <p:pic>
        <p:nvPicPr>
          <p:cNvPr id="11" name="Image 3" descr="preencoded.png">    </p:cNvPr>
          <p:cNvPicPr>
            <a:picLocks noChangeAspect="1"/>
          </p:cNvPicPr>
          <p:nvPr/>
        </p:nvPicPr>
        <p:blipFill>
          <a:blip r:embed="rId4"/>
          <a:stretch>
            <a:fillRect/>
          </a:stretch>
        </p:blipFill>
        <p:spPr>
          <a:xfrm>
            <a:off x="731520" y="3447288"/>
            <a:ext cx="274320" cy="274320"/>
          </a:xfrm>
          <a:prstGeom prst="rect">
            <a:avLst/>
          </a:prstGeom>
        </p:spPr>
      </p:pic>
      <p:sp>
        <p:nvSpPr>
          <p:cNvPr id="12" name="Text 6"/>
          <p:cNvSpPr/>
          <p:nvPr/>
        </p:nvSpPr>
        <p:spPr>
          <a:xfrm>
            <a:off x="1097280" y="3429000"/>
            <a:ext cx="740664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Shared Purpose: </a:t>
            </a:r>
            <a:pPr indent="0" marL="0">
              <a:buNone/>
            </a:pPr>
            <a:r>
              <a:rPr lang="en-US" sz="1300" dirty="0">
                <a:solidFill>
                  <a:srgbClr val="2D3436"/>
                </a:solidFill>
                <a:latin typeface="Calibri" pitchFamily="34" charset="0"/>
                <a:ea typeface="Calibri" pitchFamily="34" charset="-122"/>
                <a:cs typeface="Calibri" pitchFamily="34" charset="-120"/>
              </a:rPr>
              <a:t>Align on common objectives, understand how individual work contributes to the whole, and celebrate collective wins</a:t>
            </a:r>
            <a:endParaRPr lang="en-US" sz="1300" dirty="0"/>
          </a:p>
        </p:txBody>
      </p:sp>
      <p:pic>
        <p:nvPicPr>
          <p:cNvPr id="13" name="Image 4" descr="preencoded.png">    </p:cNvPr>
          <p:cNvPicPr>
            <a:picLocks noChangeAspect="1"/>
          </p:cNvPicPr>
          <p:nvPr/>
        </p:nvPicPr>
        <p:blipFill>
          <a:blip r:embed="rId5"/>
          <a:stretch>
            <a:fillRect/>
          </a:stretch>
        </p:blipFill>
        <p:spPr>
          <a:xfrm>
            <a:off x="731520" y="3858768"/>
            <a:ext cx="274320" cy="274320"/>
          </a:xfrm>
          <a:prstGeom prst="rect">
            <a:avLst/>
          </a:prstGeom>
        </p:spPr>
      </p:pic>
      <p:sp>
        <p:nvSpPr>
          <p:cNvPr id="14" name="Text 7"/>
          <p:cNvSpPr/>
          <p:nvPr/>
        </p:nvSpPr>
        <p:spPr>
          <a:xfrm>
            <a:off x="1097280" y="3840480"/>
            <a:ext cx="7406640" cy="3200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Accountability: </a:t>
            </a:r>
            <a:pPr indent="0" marL="0">
              <a:buNone/>
            </a:pPr>
            <a:r>
              <a:rPr lang="en-US" sz="1300" dirty="0">
                <a:solidFill>
                  <a:srgbClr val="2D3436"/>
                </a:solidFill>
                <a:latin typeface="Calibri" pitchFamily="34" charset="0"/>
                <a:ea typeface="Calibri" pitchFamily="34" charset="-122"/>
                <a:cs typeface="Calibri" pitchFamily="34" charset="-120"/>
              </a:rPr>
              <a:t>Follow through on commitments, own mistakes, and support others in meeting their responsibilities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COLLABORATIVE LEADERSHIP MODEL</a:t>
            </a:r>
            <a:endParaRPr lang="en-US" sz="3600" dirty="0"/>
          </a:p>
        </p:txBody>
      </p:sp>
      <p:sp>
        <p:nvSpPr>
          <p:cNvPr id="3" name="Text 1"/>
          <p:cNvSpPr/>
          <p:nvPr/>
        </p:nvSpPr>
        <p:spPr>
          <a:xfrm>
            <a:off x="731520" y="1097280"/>
            <a:ext cx="7680960" cy="54864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Traditional leadership relies on one person making decisions. Collaborative leadership distributes power, leverages collective wisdom, and builds stronger, more sustainable organizations.</a:t>
            </a:r>
            <a:endParaRPr lang="en-US" sz="1400" dirty="0"/>
          </a:p>
        </p:txBody>
      </p:sp>
      <p:sp>
        <p:nvSpPr>
          <p:cNvPr id="4" name="Shape 2"/>
          <p:cNvSpPr/>
          <p:nvPr/>
        </p:nvSpPr>
        <p:spPr>
          <a:xfrm>
            <a:off x="731520" y="1828800"/>
            <a:ext cx="3657600" cy="365760"/>
          </a:xfrm>
          <a:prstGeom prst="rect">
            <a:avLst/>
          </a:prstGeom>
          <a:solidFill>
            <a:srgbClr val="636E72"/>
          </a:solidFill>
          <a:ln/>
        </p:spPr>
      </p:sp>
      <p:sp>
        <p:nvSpPr>
          <p:cNvPr id="5" name="Text 3"/>
          <p:cNvSpPr/>
          <p:nvPr/>
        </p:nvSpPr>
        <p:spPr>
          <a:xfrm>
            <a:off x="731520" y="1874520"/>
            <a:ext cx="365760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Traditional Leadership</a:t>
            </a:r>
            <a:endParaRPr lang="en-US" sz="1400" dirty="0"/>
          </a:p>
        </p:txBody>
      </p:sp>
      <p:sp>
        <p:nvSpPr>
          <p:cNvPr id="6" name="Shape 4"/>
          <p:cNvSpPr/>
          <p:nvPr/>
        </p:nvSpPr>
        <p:spPr>
          <a:xfrm>
            <a:off x="4754880" y="1828800"/>
            <a:ext cx="3657600" cy="365760"/>
          </a:xfrm>
          <a:prstGeom prst="rect">
            <a:avLst/>
          </a:prstGeom>
          <a:solidFill>
            <a:srgbClr val="2C5F2D"/>
          </a:solidFill>
          <a:ln/>
        </p:spPr>
      </p:sp>
      <p:sp>
        <p:nvSpPr>
          <p:cNvPr id="7" name="Text 5"/>
          <p:cNvSpPr/>
          <p:nvPr/>
        </p:nvSpPr>
        <p:spPr>
          <a:xfrm>
            <a:off x="4754880" y="1874520"/>
            <a:ext cx="365760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Collaborative Leadership</a:t>
            </a:r>
            <a:endParaRPr lang="en-US" sz="1400" dirty="0"/>
          </a:p>
        </p:txBody>
      </p:sp>
      <p:sp>
        <p:nvSpPr>
          <p:cNvPr id="8" name="Shape 6"/>
          <p:cNvSpPr/>
          <p:nvPr/>
        </p:nvSpPr>
        <p:spPr>
          <a:xfrm>
            <a:off x="731520" y="22860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Text 7"/>
          <p:cNvSpPr/>
          <p:nvPr/>
        </p:nvSpPr>
        <p:spPr>
          <a:xfrm>
            <a:off x="822960" y="2331720"/>
            <a:ext cx="3474720" cy="27432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One leader decides</a:t>
            </a:r>
            <a:endParaRPr lang="en-US" sz="1200" dirty="0"/>
          </a:p>
        </p:txBody>
      </p:sp>
      <p:sp>
        <p:nvSpPr>
          <p:cNvPr id="10" name="Shape 8"/>
          <p:cNvSpPr/>
          <p:nvPr/>
        </p:nvSpPr>
        <p:spPr>
          <a:xfrm>
            <a:off x="4754880" y="22860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Text 9"/>
          <p:cNvSpPr/>
          <p:nvPr/>
        </p:nvSpPr>
        <p:spPr>
          <a:xfrm>
            <a:off x="4846320" y="2331720"/>
            <a:ext cx="3474720" cy="274320"/>
          </a:xfrm>
          <a:prstGeom prst="rect">
            <a:avLst/>
          </a:prstGeom>
          <a:noFill/>
          <a:ln/>
        </p:spPr>
        <p:txBody>
          <a:bodyPr wrap="square" rtlCol="0" anchor="ctr"/>
          <a:lstStyle/>
          <a:p>
            <a:pPr indent="0" marL="0">
              <a:buNone/>
            </a:pPr>
            <a:r>
              <a:rPr lang="en-US" sz="1200" b="1" dirty="0">
                <a:solidFill>
                  <a:srgbClr val="2D3436"/>
                </a:solidFill>
                <a:latin typeface="Calibri" pitchFamily="34" charset="0"/>
                <a:ea typeface="Calibri" pitchFamily="34" charset="-122"/>
                <a:cs typeface="Calibri" pitchFamily="34" charset="-120"/>
              </a:rPr>
              <a:t>Team decides together</a:t>
            </a:r>
            <a:endParaRPr lang="en-US" sz="1200" dirty="0"/>
          </a:p>
        </p:txBody>
      </p:sp>
      <p:sp>
        <p:nvSpPr>
          <p:cNvPr id="12" name="Shape 10"/>
          <p:cNvSpPr/>
          <p:nvPr/>
        </p:nvSpPr>
        <p:spPr>
          <a:xfrm>
            <a:off x="731520" y="27432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Text 11"/>
          <p:cNvSpPr/>
          <p:nvPr/>
        </p:nvSpPr>
        <p:spPr>
          <a:xfrm>
            <a:off x="822960" y="2788920"/>
            <a:ext cx="3474720" cy="27432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Leader has all the answers</a:t>
            </a:r>
            <a:endParaRPr lang="en-US" sz="1200" dirty="0"/>
          </a:p>
        </p:txBody>
      </p:sp>
      <p:sp>
        <p:nvSpPr>
          <p:cNvPr id="14" name="Shape 12"/>
          <p:cNvSpPr/>
          <p:nvPr/>
        </p:nvSpPr>
        <p:spPr>
          <a:xfrm>
            <a:off x="4754880" y="27432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Text 13"/>
          <p:cNvSpPr/>
          <p:nvPr/>
        </p:nvSpPr>
        <p:spPr>
          <a:xfrm>
            <a:off x="4846320" y="2788920"/>
            <a:ext cx="3474720" cy="274320"/>
          </a:xfrm>
          <a:prstGeom prst="rect">
            <a:avLst/>
          </a:prstGeom>
          <a:noFill/>
          <a:ln/>
        </p:spPr>
        <p:txBody>
          <a:bodyPr wrap="square" rtlCol="0" anchor="ctr"/>
          <a:lstStyle/>
          <a:p>
            <a:pPr indent="0" marL="0">
              <a:buNone/>
            </a:pPr>
            <a:r>
              <a:rPr lang="en-US" sz="1200" b="1" dirty="0">
                <a:solidFill>
                  <a:srgbClr val="2D3436"/>
                </a:solidFill>
                <a:latin typeface="Calibri" pitchFamily="34" charset="0"/>
                <a:ea typeface="Calibri" pitchFamily="34" charset="-122"/>
                <a:cs typeface="Calibri" pitchFamily="34" charset="-120"/>
              </a:rPr>
              <a:t>Team discovers solutions collectively</a:t>
            </a:r>
            <a:endParaRPr lang="en-US" sz="1200" dirty="0"/>
          </a:p>
        </p:txBody>
      </p:sp>
      <p:sp>
        <p:nvSpPr>
          <p:cNvPr id="16" name="Shape 14"/>
          <p:cNvSpPr/>
          <p:nvPr/>
        </p:nvSpPr>
        <p:spPr>
          <a:xfrm>
            <a:off x="731520" y="32004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7" name="Text 15"/>
          <p:cNvSpPr/>
          <p:nvPr/>
        </p:nvSpPr>
        <p:spPr>
          <a:xfrm>
            <a:off x="822960" y="3246120"/>
            <a:ext cx="3474720" cy="27432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Top-down communication</a:t>
            </a:r>
            <a:endParaRPr lang="en-US" sz="1200" dirty="0"/>
          </a:p>
        </p:txBody>
      </p:sp>
      <p:sp>
        <p:nvSpPr>
          <p:cNvPr id="18" name="Shape 16"/>
          <p:cNvSpPr/>
          <p:nvPr/>
        </p:nvSpPr>
        <p:spPr>
          <a:xfrm>
            <a:off x="4754880" y="32004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Text 17"/>
          <p:cNvSpPr/>
          <p:nvPr/>
        </p:nvSpPr>
        <p:spPr>
          <a:xfrm>
            <a:off x="4846320" y="3246120"/>
            <a:ext cx="3474720" cy="274320"/>
          </a:xfrm>
          <a:prstGeom prst="rect">
            <a:avLst/>
          </a:prstGeom>
          <a:noFill/>
          <a:ln/>
        </p:spPr>
        <p:txBody>
          <a:bodyPr wrap="square" rtlCol="0" anchor="ctr"/>
          <a:lstStyle/>
          <a:p>
            <a:pPr indent="0" marL="0">
              <a:buNone/>
            </a:pPr>
            <a:r>
              <a:rPr lang="en-US" sz="1200" b="1" dirty="0">
                <a:solidFill>
                  <a:srgbClr val="2D3436"/>
                </a:solidFill>
                <a:latin typeface="Calibri" pitchFamily="34" charset="0"/>
                <a:ea typeface="Calibri" pitchFamily="34" charset="-122"/>
                <a:cs typeface="Calibri" pitchFamily="34" charset="-120"/>
              </a:rPr>
              <a:t>Open, multi-directional dialogue</a:t>
            </a:r>
            <a:endParaRPr lang="en-US" sz="1200" dirty="0"/>
          </a:p>
        </p:txBody>
      </p:sp>
      <p:sp>
        <p:nvSpPr>
          <p:cNvPr id="20" name="Shape 18"/>
          <p:cNvSpPr/>
          <p:nvPr/>
        </p:nvSpPr>
        <p:spPr>
          <a:xfrm>
            <a:off x="731520" y="36576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1" name="Text 19"/>
          <p:cNvSpPr/>
          <p:nvPr/>
        </p:nvSpPr>
        <p:spPr>
          <a:xfrm>
            <a:off x="822960" y="3703320"/>
            <a:ext cx="3474720" cy="27432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Individual accountability</a:t>
            </a:r>
            <a:endParaRPr lang="en-US" sz="1200" dirty="0"/>
          </a:p>
        </p:txBody>
      </p:sp>
      <p:sp>
        <p:nvSpPr>
          <p:cNvPr id="22" name="Shape 20"/>
          <p:cNvSpPr/>
          <p:nvPr/>
        </p:nvSpPr>
        <p:spPr>
          <a:xfrm>
            <a:off x="4754880" y="36576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3" name="Text 21"/>
          <p:cNvSpPr/>
          <p:nvPr/>
        </p:nvSpPr>
        <p:spPr>
          <a:xfrm>
            <a:off x="4846320" y="3703320"/>
            <a:ext cx="3474720" cy="274320"/>
          </a:xfrm>
          <a:prstGeom prst="rect">
            <a:avLst/>
          </a:prstGeom>
          <a:noFill/>
          <a:ln/>
        </p:spPr>
        <p:txBody>
          <a:bodyPr wrap="square" rtlCol="0" anchor="ctr"/>
          <a:lstStyle/>
          <a:p>
            <a:pPr indent="0" marL="0">
              <a:buNone/>
            </a:pPr>
            <a:r>
              <a:rPr lang="en-US" sz="1200" b="1" dirty="0">
                <a:solidFill>
                  <a:srgbClr val="2D3436"/>
                </a:solidFill>
                <a:latin typeface="Calibri" pitchFamily="34" charset="0"/>
                <a:ea typeface="Calibri" pitchFamily="34" charset="-122"/>
                <a:cs typeface="Calibri" pitchFamily="34" charset="-120"/>
              </a:rPr>
              <a:t>Shared responsibility</a:t>
            </a:r>
            <a:endParaRPr lang="en-US" sz="1200" dirty="0"/>
          </a:p>
        </p:txBody>
      </p:sp>
      <p:sp>
        <p:nvSpPr>
          <p:cNvPr id="24" name="Shape 22"/>
          <p:cNvSpPr/>
          <p:nvPr/>
        </p:nvSpPr>
        <p:spPr>
          <a:xfrm>
            <a:off x="731520" y="41148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5" name="Text 23"/>
          <p:cNvSpPr/>
          <p:nvPr/>
        </p:nvSpPr>
        <p:spPr>
          <a:xfrm>
            <a:off x="822960" y="4160520"/>
            <a:ext cx="3474720" cy="27432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Leader controls resources</a:t>
            </a:r>
            <a:endParaRPr lang="en-US" sz="1200" dirty="0"/>
          </a:p>
        </p:txBody>
      </p:sp>
      <p:sp>
        <p:nvSpPr>
          <p:cNvPr id="26" name="Shape 24"/>
          <p:cNvSpPr/>
          <p:nvPr/>
        </p:nvSpPr>
        <p:spPr>
          <a:xfrm>
            <a:off x="4754880" y="411480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7" name="Text 25"/>
          <p:cNvSpPr/>
          <p:nvPr/>
        </p:nvSpPr>
        <p:spPr>
          <a:xfrm>
            <a:off x="4846320" y="4160520"/>
            <a:ext cx="3474720" cy="274320"/>
          </a:xfrm>
          <a:prstGeom prst="rect">
            <a:avLst/>
          </a:prstGeom>
          <a:noFill/>
          <a:ln/>
        </p:spPr>
        <p:txBody>
          <a:bodyPr wrap="square" rtlCol="0" anchor="ctr"/>
          <a:lstStyle/>
          <a:p>
            <a:pPr indent="0" marL="0">
              <a:buNone/>
            </a:pPr>
            <a:r>
              <a:rPr lang="en-US" sz="1200" b="1" dirty="0">
                <a:solidFill>
                  <a:srgbClr val="2D3436"/>
                </a:solidFill>
                <a:latin typeface="Calibri" pitchFamily="34" charset="0"/>
                <a:ea typeface="Calibri" pitchFamily="34" charset="-122"/>
                <a:cs typeface="Calibri" pitchFamily="34" charset="-120"/>
              </a:rPr>
              <a:t>Transparent resource management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BUILDING EFFECTIVE TEAMS</a:t>
            </a:r>
            <a:endParaRPr lang="en-US" sz="3600" dirty="0"/>
          </a:p>
        </p:txBody>
      </p:sp>
      <p:sp>
        <p:nvSpPr>
          <p:cNvPr id="3" name="Text 1"/>
          <p:cNvSpPr/>
          <p:nvPr/>
        </p:nvSpPr>
        <p:spPr>
          <a:xfrm>
            <a:off x="731520" y="1005840"/>
            <a:ext cx="7680960" cy="320040"/>
          </a:xfrm>
          <a:prstGeom prst="rect">
            <a:avLst/>
          </a:prstGeom>
          <a:noFill/>
          <a:ln/>
        </p:spPr>
        <p:txBody>
          <a:bodyPr wrap="square" rtlCol="0" anchor="ctr"/>
          <a:lstStyle/>
          <a:p>
            <a:pPr indent="0" marL="0">
              <a:buNone/>
            </a:pPr>
            <a:r>
              <a:rPr lang="en-US" sz="1600" b="1" i="1" dirty="0">
                <a:solidFill>
                  <a:srgbClr val="2C5F2D"/>
                </a:solidFill>
                <a:latin typeface="Arial" pitchFamily="34" charset="0"/>
                <a:ea typeface="Arial" pitchFamily="34" charset="-122"/>
                <a:cs typeface="Arial" pitchFamily="34" charset="-120"/>
              </a:rPr>
              <a:t>STAGES OF TEAM DEVELOPMENT (Tuckman Model)</a:t>
            </a:r>
            <a:endParaRPr lang="en-US" sz="1600" dirty="0"/>
          </a:p>
        </p:txBody>
      </p:sp>
      <p:sp>
        <p:nvSpPr>
          <p:cNvPr id="4" name="Shape 2"/>
          <p:cNvSpPr/>
          <p:nvPr/>
        </p:nvSpPr>
        <p:spPr>
          <a:xfrm>
            <a:off x="457200" y="1463040"/>
            <a:ext cx="1371600" cy="594360"/>
          </a:xfrm>
          <a:prstGeom prst="rect">
            <a:avLst/>
          </a:prstGeom>
          <a:solidFill>
            <a:srgbClr val="2C5F2D"/>
          </a:solidFill>
          <a:ln/>
        </p:spPr>
      </p:sp>
      <p:sp>
        <p:nvSpPr>
          <p:cNvPr id="5" name="Text 3"/>
          <p:cNvSpPr/>
          <p:nvPr/>
        </p:nvSpPr>
        <p:spPr>
          <a:xfrm>
            <a:off x="457200" y="1508760"/>
            <a:ext cx="457200" cy="502920"/>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1</a:t>
            </a:r>
            <a:endParaRPr lang="en-US" sz="3600" dirty="0"/>
          </a:p>
        </p:txBody>
      </p:sp>
      <p:sp>
        <p:nvSpPr>
          <p:cNvPr id="6" name="Text 4"/>
          <p:cNvSpPr/>
          <p:nvPr/>
        </p:nvSpPr>
        <p:spPr>
          <a:xfrm>
            <a:off x="960120" y="1508760"/>
            <a:ext cx="822960" cy="502920"/>
          </a:xfrm>
          <a:prstGeom prst="rect">
            <a:avLst/>
          </a:prstGeom>
          <a:noFill/>
          <a:ln/>
        </p:spPr>
        <p:txBody>
          <a:bodyPr wrap="square"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FORMING</a:t>
            </a:r>
            <a:endParaRPr lang="en-US" sz="1400" dirty="0"/>
          </a:p>
        </p:txBody>
      </p:sp>
      <p:sp>
        <p:nvSpPr>
          <p:cNvPr id="7" name="Shape 5"/>
          <p:cNvSpPr/>
          <p:nvPr/>
        </p:nvSpPr>
        <p:spPr>
          <a:xfrm>
            <a:off x="1920240" y="1463040"/>
            <a:ext cx="67665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8" name="Text 6"/>
          <p:cNvSpPr/>
          <p:nvPr/>
        </p:nvSpPr>
        <p:spPr>
          <a:xfrm>
            <a:off x="2057400" y="1554480"/>
            <a:ext cx="6400800" cy="41148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Team members meet, learn about each other, and understand the task </a:t>
            </a:r>
            <a:pPr indent="0" marL="0">
              <a:buNone/>
            </a:pPr>
            <a:r>
              <a:rPr lang="en-US" sz="1200" b="1" dirty="0">
                <a:solidFill>
                  <a:srgbClr val="97BC62"/>
                </a:solidFill>
                <a:latin typeface="Calibri" pitchFamily="34" charset="0"/>
                <a:ea typeface="Calibri" pitchFamily="34" charset="-122"/>
                <a:cs typeface="Calibri" pitchFamily="34" charset="-120"/>
              </a:rPr>
              <a:t>→ Focus: </a:t>
            </a:r>
            <a:pPr indent="0" marL="0">
              <a:buNone/>
            </a:pPr>
            <a:r>
              <a:rPr lang="en-US" sz="1200" i="1" dirty="0">
                <a:solidFill>
                  <a:srgbClr val="2D3436"/>
                </a:solidFill>
                <a:latin typeface="Calibri" pitchFamily="34" charset="0"/>
                <a:ea typeface="Calibri" pitchFamily="34" charset="-122"/>
                <a:cs typeface="Calibri" pitchFamily="34" charset="-120"/>
              </a:rPr>
              <a:t>Build trust and establish ground rules</a:t>
            </a:r>
            <a:endParaRPr lang="en-US" sz="1200" dirty="0"/>
          </a:p>
        </p:txBody>
      </p:sp>
      <p:sp>
        <p:nvSpPr>
          <p:cNvPr id="9" name="Shape 7"/>
          <p:cNvSpPr/>
          <p:nvPr/>
        </p:nvSpPr>
        <p:spPr>
          <a:xfrm>
            <a:off x="457200" y="2148840"/>
            <a:ext cx="1371600" cy="594360"/>
          </a:xfrm>
          <a:prstGeom prst="rect">
            <a:avLst/>
          </a:prstGeom>
          <a:solidFill>
            <a:srgbClr val="2C5F2D"/>
          </a:solidFill>
          <a:ln/>
        </p:spPr>
      </p:sp>
      <p:sp>
        <p:nvSpPr>
          <p:cNvPr id="10" name="Text 8"/>
          <p:cNvSpPr/>
          <p:nvPr/>
        </p:nvSpPr>
        <p:spPr>
          <a:xfrm>
            <a:off x="457200" y="2194560"/>
            <a:ext cx="457200" cy="502920"/>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2</a:t>
            </a:r>
            <a:endParaRPr lang="en-US" sz="3600" dirty="0"/>
          </a:p>
        </p:txBody>
      </p:sp>
      <p:sp>
        <p:nvSpPr>
          <p:cNvPr id="11" name="Text 9"/>
          <p:cNvSpPr/>
          <p:nvPr/>
        </p:nvSpPr>
        <p:spPr>
          <a:xfrm>
            <a:off x="960120" y="2194560"/>
            <a:ext cx="822960" cy="502920"/>
          </a:xfrm>
          <a:prstGeom prst="rect">
            <a:avLst/>
          </a:prstGeom>
          <a:noFill/>
          <a:ln/>
        </p:spPr>
        <p:txBody>
          <a:bodyPr wrap="square"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STORMING</a:t>
            </a:r>
            <a:endParaRPr lang="en-US" sz="1400" dirty="0"/>
          </a:p>
        </p:txBody>
      </p:sp>
      <p:sp>
        <p:nvSpPr>
          <p:cNvPr id="12" name="Shape 10"/>
          <p:cNvSpPr/>
          <p:nvPr/>
        </p:nvSpPr>
        <p:spPr>
          <a:xfrm>
            <a:off x="1920240" y="2148840"/>
            <a:ext cx="67665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3" name="Text 11"/>
          <p:cNvSpPr/>
          <p:nvPr/>
        </p:nvSpPr>
        <p:spPr>
          <a:xfrm>
            <a:off x="2057400" y="2240280"/>
            <a:ext cx="6400800" cy="41148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Conflicts arise as members assert ideas and challenge each other </a:t>
            </a:r>
            <a:pPr indent="0" marL="0">
              <a:buNone/>
            </a:pPr>
            <a:r>
              <a:rPr lang="en-US" sz="1200" b="1" dirty="0">
                <a:solidFill>
                  <a:srgbClr val="97BC62"/>
                </a:solidFill>
                <a:latin typeface="Calibri" pitchFamily="34" charset="0"/>
                <a:ea typeface="Calibri" pitchFamily="34" charset="-122"/>
                <a:cs typeface="Calibri" pitchFamily="34" charset="-120"/>
              </a:rPr>
              <a:t>→ Focus: </a:t>
            </a:r>
            <a:pPr indent="0" marL="0">
              <a:buNone/>
            </a:pPr>
            <a:r>
              <a:rPr lang="en-US" sz="1200" i="1" dirty="0">
                <a:solidFill>
                  <a:srgbClr val="2D3436"/>
                </a:solidFill>
                <a:latin typeface="Calibri" pitchFamily="34" charset="0"/>
                <a:ea typeface="Calibri" pitchFamily="34" charset="-122"/>
                <a:cs typeface="Calibri" pitchFamily="34" charset="-120"/>
              </a:rPr>
              <a:t>Navigate disagreements constructively</a:t>
            </a:r>
            <a:endParaRPr lang="en-US" sz="1200" dirty="0"/>
          </a:p>
        </p:txBody>
      </p:sp>
      <p:sp>
        <p:nvSpPr>
          <p:cNvPr id="14" name="Shape 12"/>
          <p:cNvSpPr/>
          <p:nvPr/>
        </p:nvSpPr>
        <p:spPr>
          <a:xfrm>
            <a:off x="457200" y="2834640"/>
            <a:ext cx="1371600" cy="594360"/>
          </a:xfrm>
          <a:prstGeom prst="rect">
            <a:avLst/>
          </a:prstGeom>
          <a:solidFill>
            <a:srgbClr val="2C5F2D"/>
          </a:solidFill>
          <a:ln/>
        </p:spPr>
      </p:sp>
      <p:sp>
        <p:nvSpPr>
          <p:cNvPr id="15" name="Text 13"/>
          <p:cNvSpPr/>
          <p:nvPr/>
        </p:nvSpPr>
        <p:spPr>
          <a:xfrm>
            <a:off x="457200" y="2880360"/>
            <a:ext cx="457200" cy="502920"/>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3</a:t>
            </a:r>
            <a:endParaRPr lang="en-US" sz="3600" dirty="0"/>
          </a:p>
        </p:txBody>
      </p:sp>
      <p:sp>
        <p:nvSpPr>
          <p:cNvPr id="16" name="Text 14"/>
          <p:cNvSpPr/>
          <p:nvPr/>
        </p:nvSpPr>
        <p:spPr>
          <a:xfrm>
            <a:off x="960120" y="2880360"/>
            <a:ext cx="822960" cy="502920"/>
          </a:xfrm>
          <a:prstGeom prst="rect">
            <a:avLst/>
          </a:prstGeom>
          <a:noFill/>
          <a:ln/>
        </p:spPr>
        <p:txBody>
          <a:bodyPr wrap="square"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NORMING</a:t>
            </a:r>
            <a:endParaRPr lang="en-US" sz="1400" dirty="0"/>
          </a:p>
        </p:txBody>
      </p:sp>
      <p:sp>
        <p:nvSpPr>
          <p:cNvPr id="17" name="Shape 15"/>
          <p:cNvSpPr/>
          <p:nvPr/>
        </p:nvSpPr>
        <p:spPr>
          <a:xfrm>
            <a:off x="1920240" y="2834640"/>
            <a:ext cx="67665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Text 16"/>
          <p:cNvSpPr/>
          <p:nvPr/>
        </p:nvSpPr>
        <p:spPr>
          <a:xfrm>
            <a:off x="2057400" y="2926080"/>
            <a:ext cx="6400800" cy="41148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Team finds rhythm, agrees on processes, and roles become clear </a:t>
            </a:r>
            <a:pPr indent="0" marL="0">
              <a:buNone/>
            </a:pPr>
            <a:r>
              <a:rPr lang="en-US" sz="1200" b="1" dirty="0">
                <a:solidFill>
                  <a:srgbClr val="97BC62"/>
                </a:solidFill>
                <a:latin typeface="Calibri" pitchFamily="34" charset="0"/>
                <a:ea typeface="Calibri" pitchFamily="34" charset="-122"/>
                <a:cs typeface="Calibri" pitchFamily="34" charset="-120"/>
              </a:rPr>
              <a:t>→ Focus: </a:t>
            </a:r>
            <a:pPr indent="0" marL="0">
              <a:buNone/>
            </a:pPr>
            <a:r>
              <a:rPr lang="en-US" sz="1200" i="1" dirty="0">
                <a:solidFill>
                  <a:srgbClr val="2D3436"/>
                </a:solidFill>
                <a:latin typeface="Calibri" pitchFamily="34" charset="0"/>
                <a:ea typeface="Calibri" pitchFamily="34" charset="-122"/>
                <a:cs typeface="Calibri" pitchFamily="34" charset="-120"/>
              </a:rPr>
              <a:t>Establish shared practices and norms</a:t>
            </a:r>
            <a:endParaRPr lang="en-US" sz="1200" dirty="0"/>
          </a:p>
        </p:txBody>
      </p:sp>
      <p:sp>
        <p:nvSpPr>
          <p:cNvPr id="19" name="Shape 17"/>
          <p:cNvSpPr/>
          <p:nvPr/>
        </p:nvSpPr>
        <p:spPr>
          <a:xfrm>
            <a:off x="457200" y="3520440"/>
            <a:ext cx="1371600" cy="594360"/>
          </a:xfrm>
          <a:prstGeom prst="rect">
            <a:avLst/>
          </a:prstGeom>
          <a:solidFill>
            <a:srgbClr val="2C5F2D"/>
          </a:solidFill>
          <a:ln/>
        </p:spPr>
      </p:sp>
      <p:sp>
        <p:nvSpPr>
          <p:cNvPr id="20" name="Text 18"/>
          <p:cNvSpPr/>
          <p:nvPr/>
        </p:nvSpPr>
        <p:spPr>
          <a:xfrm>
            <a:off x="457200" y="3566160"/>
            <a:ext cx="457200" cy="502920"/>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4</a:t>
            </a:r>
            <a:endParaRPr lang="en-US" sz="3600" dirty="0"/>
          </a:p>
        </p:txBody>
      </p:sp>
      <p:sp>
        <p:nvSpPr>
          <p:cNvPr id="21" name="Text 19"/>
          <p:cNvSpPr/>
          <p:nvPr/>
        </p:nvSpPr>
        <p:spPr>
          <a:xfrm>
            <a:off x="960120" y="3566160"/>
            <a:ext cx="822960" cy="502920"/>
          </a:xfrm>
          <a:prstGeom prst="rect">
            <a:avLst/>
          </a:prstGeom>
          <a:noFill/>
          <a:ln/>
        </p:spPr>
        <p:txBody>
          <a:bodyPr wrap="square"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PERFORMING</a:t>
            </a:r>
            <a:endParaRPr lang="en-US" sz="1400" dirty="0"/>
          </a:p>
        </p:txBody>
      </p:sp>
      <p:sp>
        <p:nvSpPr>
          <p:cNvPr id="22" name="Shape 20"/>
          <p:cNvSpPr/>
          <p:nvPr/>
        </p:nvSpPr>
        <p:spPr>
          <a:xfrm>
            <a:off x="1920240" y="3520440"/>
            <a:ext cx="67665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3" name="Text 21"/>
          <p:cNvSpPr/>
          <p:nvPr/>
        </p:nvSpPr>
        <p:spPr>
          <a:xfrm>
            <a:off x="2057400" y="3611880"/>
            <a:ext cx="6400800" cy="41148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Team works efficiently toward goals with minimal friction </a:t>
            </a:r>
            <a:pPr indent="0" marL="0">
              <a:buNone/>
            </a:pPr>
            <a:r>
              <a:rPr lang="en-US" sz="1200" b="1" dirty="0">
                <a:solidFill>
                  <a:srgbClr val="97BC62"/>
                </a:solidFill>
                <a:latin typeface="Calibri" pitchFamily="34" charset="0"/>
                <a:ea typeface="Calibri" pitchFamily="34" charset="-122"/>
                <a:cs typeface="Calibri" pitchFamily="34" charset="-120"/>
              </a:rPr>
              <a:t>→ Focus: </a:t>
            </a:r>
            <a:pPr indent="0" marL="0">
              <a:buNone/>
            </a:pPr>
            <a:r>
              <a:rPr lang="en-US" sz="1200" i="1" dirty="0">
                <a:solidFill>
                  <a:srgbClr val="2D3436"/>
                </a:solidFill>
                <a:latin typeface="Calibri" pitchFamily="34" charset="0"/>
                <a:ea typeface="Calibri" pitchFamily="34" charset="-122"/>
                <a:cs typeface="Calibri" pitchFamily="34" charset="-120"/>
              </a:rPr>
              <a:t>Maintain momentum and celebrate wins</a:t>
            </a:r>
            <a:endParaRPr lang="en-US" sz="1200" dirty="0"/>
          </a:p>
        </p:txBody>
      </p:sp>
      <p:sp>
        <p:nvSpPr>
          <p:cNvPr id="24" name="Shape 22"/>
          <p:cNvSpPr/>
          <p:nvPr/>
        </p:nvSpPr>
        <p:spPr>
          <a:xfrm>
            <a:off x="457200" y="4206240"/>
            <a:ext cx="1371600" cy="594360"/>
          </a:xfrm>
          <a:prstGeom prst="rect">
            <a:avLst/>
          </a:prstGeom>
          <a:solidFill>
            <a:srgbClr val="2C5F2D"/>
          </a:solidFill>
          <a:ln/>
        </p:spPr>
      </p:sp>
      <p:sp>
        <p:nvSpPr>
          <p:cNvPr id="25" name="Text 23"/>
          <p:cNvSpPr/>
          <p:nvPr/>
        </p:nvSpPr>
        <p:spPr>
          <a:xfrm>
            <a:off x="457200" y="4251960"/>
            <a:ext cx="457200" cy="502920"/>
          </a:xfrm>
          <a:prstGeom prst="rect">
            <a:avLst/>
          </a:prstGeom>
          <a:noFill/>
          <a:ln/>
        </p:spPr>
        <p:txBody>
          <a:bodyPr wrap="square" rtlCol="0" anchor="ctr"/>
          <a:lstStyle/>
          <a:p>
            <a:pPr algn="ctr" indent="0" marL="0">
              <a:buNone/>
            </a:pPr>
            <a:r>
              <a:rPr lang="en-US" sz="3600" b="1" dirty="0">
                <a:solidFill>
                  <a:srgbClr val="FFFFFF"/>
                </a:solidFill>
                <a:latin typeface="Arial Black" pitchFamily="34" charset="0"/>
                <a:ea typeface="Arial Black" pitchFamily="34" charset="-122"/>
                <a:cs typeface="Arial Black" pitchFamily="34" charset="-120"/>
              </a:rPr>
              <a:t>5</a:t>
            </a:r>
            <a:endParaRPr lang="en-US" sz="3600" dirty="0"/>
          </a:p>
        </p:txBody>
      </p:sp>
      <p:sp>
        <p:nvSpPr>
          <p:cNvPr id="26" name="Text 24"/>
          <p:cNvSpPr/>
          <p:nvPr/>
        </p:nvSpPr>
        <p:spPr>
          <a:xfrm>
            <a:off x="960120" y="4251960"/>
            <a:ext cx="822960" cy="502920"/>
          </a:xfrm>
          <a:prstGeom prst="rect">
            <a:avLst/>
          </a:prstGeom>
          <a:noFill/>
          <a:ln/>
        </p:spPr>
        <p:txBody>
          <a:bodyPr wrap="square"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ADJOURNING</a:t>
            </a:r>
            <a:endParaRPr lang="en-US" sz="1400" dirty="0"/>
          </a:p>
        </p:txBody>
      </p:sp>
      <p:sp>
        <p:nvSpPr>
          <p:cNvPr id="27" name="Shape 25"/>
          <p:cNvSpPr/>
          <p:nvPr/>
        </p:nvSpPr>
        <p:spPr>
          <a:xfrm>
            <a:off x="1920240" y="4206240"/>
            <a:ext cx="67665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8" name="Text 26"/>
          <p:cNvSpPr/>
          <p:nvPr/>
        </p:nvSpPr>
        <p:spPr>
          <a:xfrm>
            <a:off x="2057400" y="4297680"/>
            <a:ext cx="6400800" cy="41148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Project ends; team reflects on achievements and learning </a:t>
            </a:r>
            <a:pPr indent="0" marL="0">
              <a:buNone/>
            </a:pPr>
            <a:r>
              <a:rPr lang="en-US" sz="1200" b="1" dirty="0">
                <a:solidFill>
                  <a:srgbClr val="97BC62"/>
                </a:solidFill>
                <a:latin typeface="Calibri" pitchFamily="34" charset="0"/>
                <a:ea typeface="Calibri" pitchFamily="34" charset="-122"/>
                <a:cs typeface="Calibri" pitchFamily="34" charset="-120"/>
              </a:rPr>
              <a:t>→ Focus: </a:t>
            </a:r>
            <a:pPr indent="0" marL="0">
              <a:buNone/>
            </a:pPr>
            <a:r>
              <a:rPr lang="en-US" sz="1200" i="1" dirty="0">
                <a:solidFill>
                  <a:srgbClr val="2D3436"/>
                </a:solidFill>
                <a:latin typeface="Calibri" pitchFamily="34" charset="0"/>
                <a:ea typeface="Calibri" pitchFamily="34" charset="-122"/>
                <a:cs typeface="Calibri" pitchFamily="34" charset="-120"/>
              </a:rPr>
              <a:t>Document lessons and celebrate impact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PERSONAL RESILIENCE</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Resilience is your ability to bounce back from setbacks, adapt to change, and keep going despite challenges. In advocacy work, you will face rejection, slow progress, and difficult situations—resilience helps you persevere.</a:t>
            </a:r>
            <a:endParaRPr lang="en-US" sz="1400" dirty="0"/>
          </a:p>
        </p:txBody>
      </p:sp>
      <p:sp>
        <p:nvSpPr>
          <p:cNvPr id="5" name="Shape 2"/>
          <p:cNvSpPr/>
          <p:nvPr/>
        </p:nvSpPr>
        <p:spPr>
          <a:xfrm>
            <a:off x="457200" y="2011680"/>
            <a:ext cx="402336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3"/>
          <p:cNvSpPr/>
          <p:nvPr/>
        </p:nvSpPr>
        <p:spPr>
          <a:xfrm>
            <a:off x="457200" y="2011680"/>
            <a:ext cx="73152" cy="2377440"/>
          </a:xfrm>
          <a:prstGeom prst="rect">
            <a:avLst/>
          </a:prstGeom>
          <a:solidFill>
            <a:srgbClr val="2C5F2D"/>
          </a:solidFill>
          <a:ln/>
        </p:spPr>
      </p:sp>
      <p:sp>
        <p:nvSpPr>
          <p:cNvPr id="7" name="Text 4"/>
          <p:cNvSpPr/>
          <p:nvPr/>
        </p:nvSpPr>
        <p:spPr>
          <a:xfrm>
            <a:off x="731520" y="2148840"/>
            <a:ext cx="3566160" cy="320040"/>
          </a:xfrm>
          <a:prstGeom prst="rect">
            <a:avLst/>
          </a:prstGeom>
          <a:noFill/>
          <a:ln/>
        </p:spPr>
        <p:txBody>
          <a:bodyPr wrap="square" rtlCol="0" anchor="ctr"/>
          <a:lstStyle/>
          <a:p>
            <a:pPr indent="0" marL="0">
              <a:buNone/>
            </a:pPr>
            <a:r>
              <a:rPr lang="en-US" sz="1600" b="1" dirty="0">
                <a:solidFill>
                  <a:srgbClr val="2C5F2D"/>
                </a:solidFill>
                <a:latin typeface="Arial" pitchFamily="34" charset="0"/>
                <a:ea typeface="Arial" pitchFamily="34" charset="-122"/>
                <a:cs typeface="Arial" pitchFamily="34" charset="-120"/>
              </a:rPr>
              <a:t>BUILDING RESILIENCE</a:t>
            </a:r>
            <a:endParaRPr lang="en-US" sz="1600" dirty="0"/>
          </a:p>
        </p:txBody>
      </p:sp>
      <p:sp>
        <p:nvSpPr>
          <p:cNvPr id="8" name="Text 5"/>
          <p:cNvSpPr/>
          <p:nvPr/>
        </p:nvSpPr>
        <p:spPr>
          <a:xfrm>
            <a:off x="731520" y="2560320"/>
            <a:ext cx="3566160" cy="1645920"/>
          </a:xfrm>
          <a:prstGeom prst="rect">
            <a:avLst/>
          </a:prstGeom>
          <a:noFill/>
          <a:ln/>
        </p:spPr>
        <p:txBody>
          <a:bodyPr wrap="square" rtlCol="0" anchor="ctr"/>
          <a:lstStyle/>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Develop a support network</a:t>
            </a:r>
            <a:endParaRPr lang="en-US" sz="1300" dirty="0"/>
          </a:p>
          <a:p>
            <a:pPr indent="0" marL="0">
              <a:buNone/>
            </a:pPr>
            <a:r>
              <a:rPr lang="en-US" sz="1100" i="1" dirty="0">
                <a:solidFill>
                  <a:srgbClr val="2D3436"/>
                </a:solidFill>
                <a:latin typeface="Calibri" pitchFamily="34" charset="0"/>
                <a:ea typeface="Calibri" pitchFamily="34" charset="-122"/>
                <a:cs typeface="Calibri" pitchFamily="34" charset="-120"/>
              </a:rPr>
              <a:t>Surround yourself with people who encourage and challenge you</a:t>
            </a:r>
            <a:endParaRPr lang="en-US" sz="1300" dirty="0"/>
          </a:p>
          <a:p>
            <a:pPr indent="0" marL="0">
              <a:buNone/>
            </a:pP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Practice self-compassion</a:t>
            </a:r>
            <a:endParaRPr lang="en-US" sz="1300" dirty="0"/>
          </a:p>
          <a:p>
            <a:pPr indent="0" marL="0">
              <a:buNone/>
            </a:pPr>
            <a:r>
              <a:rPr lang="en-US" sz="1100" i="1" dirty="0">
                <a:solidFill>
                  <a:srgbClr val="2D3436"/>
                </a:solidFill>
                <a:latin typeface="Calibri" pitchFamily="34" charset="0"/>
                <a:ea typeface="Calibri" pitchFamily="34" charset="-122"/>
                <a:cs typeface="Calibri" pitchFamily="34" charset="-120"/>
              </a:rPr>
              <a:t>Treat yourself with the same kindness you'd show a friend</a:t>
            </a:r>
            <a:endParaRPr lang="en-US" sz="1300" dirty="0"/>
          </a:p>
          <a:p>
            <a:pPr indent="0" marL="0">
              <a:buNone/>
            </a:pP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Maintain perspective</a:t>
            </a:r>
            <a:endParaRPr lang="en-US" sz="1300" dirty="0"/>
          </a:p>
          <a:p>
            <a:pPr indent="0" marL="0">
              <a:buNone/>
            </a:pPr>
            <a:r>
              <a:rPr lang="en-US" sz="1100" i="1" dirty="0">
                <a:solidFill>
                  <a:srgbClr val="2D3436"/>
                </a:solidFill>
                <a:latin typeface="Calibri" pitchFamily="34" charset="0"/>
                <a:ea typeface="Calibri" pitchFamily="34" charset="-122"/>
                <a:cs typeface="Calibri" pitchFamily="34" charset="-120"/>
              </a:rPr>
              <a:t>Remember your why; see setbacks as temporary, not permanent</a:t>
            </a:r>
            <a:endParaRPr lang="en-US" sz="1300" dirty="0"/>
          </a:p>
          <a:p>
            <a:pPr indent="0" marL="0">
              <a:buNone/>
            </a:pPr>
            <a:endParaRPr lang="en-US" sz="1300" dirty="0"/>
          </a:p>
          <a:p>
            <a:pPr marL="342900" indent="-342900">
              <a:buSzPct val="100000"/>
              <a:buChar char="•"/>
            </a:pPr>
            <a:r>
              <a:rPr lang="en-US" sz="1300" dirty="0">
                <a:solidFill>
                  <a:srgbClr val="2D3436"/>
                </a:solidFill>
                <a:latin typeface="Calibri" pitchFamily="34" charset="0"/>
                <a:ea typeface="Calibri" pitchFamily="34" charset="-122"/>
                <a:cs typeface="Calibri" pitchFamily="34" charset="-120"/>
              </a:rPr>
              <a:t>Take action</a:t>
            </a:r>
            <a:endParaRPr lang="en-US" sz="1300" dirty="0"/>
          </a:p>
          <a:p>
            <a:pPr indent="0" marL="0">
              <a:buNone/>
            </a:pPr>
            <a:r>
              <a:rPr lang="en-US" sz="1100" i="1" dirty="0">
                <a:solidFill>
                  <a:srgbClr val="2D3436"/>
                </a:solidFill>
                <a:latin typeface="Calibri" pitchFamily="34" charset="0"/>
                <a:ea typeface="Calibri" pitchFamily="34" charset="-122"/>
                <a:cs typeface="Calibri" pitchFamily="34" charset="-120"/>
              </a:rPr>
              <a:t>Focus on what you can control; small steps build momentum</a:t>
            </a:r>
            <a:endParaRPr lang="en-US" sz="1300" dirty="0"/>
          </a:p>
        </p:txBody>
      </p:sp>
      <p:sp>
        <p:nvSpPr>
          <p:cNvPr id="9" name="Shape 6"/>
          <p:cNvSpPr/>
          <p:nvPr/>
        </p:nvSpPr>
        <p:spPr>
          <a:xfrm>
            <a:off x="4663440" y="2011680"/>
            <a:ext cx="4023360" cy="23774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663440" y="2011680"/>
            <a:ext cx="73152" cy="2377440"/>
          </a:xfrm>
          <a:prstGeom prst="rect">
            <a:avLst/>
          </a:prstGeom>
          <a:solidFill>
            <a:srgbClr val="97BC62"/>
          </a:solidFill>
          <a:ln/>
        </p:spPr>
      </p:sp>
      <p:sp>
        <p:nvSpPr>
          <p:cNvPr id="11" name="Text 8"/>
          <p:cNvSpPr/>
          <p:nvPr/>
        </p:nvSpPr>
        <p:spPr>
          <a:xfrm>
            <a:off x="4937760" y="2148840"/>
            <a:ext cx="3566160" cy="320040"/>
          </a:xfrm>
          <a:prstGeom prst="rect">
            <a:avLst/>
          </a:prstGeom>
          <a:noFill/>
          <a:ln/>
        </p:spPr>
        <p:txBody>
          <a:bodyPr wrap="square" rtlCol="0" anchor="ctr"/>
          <a:lstStyle/>
          <a:p>
            <a:pPr indent="0" marL="0">
              <a:buNone/>
            </a:pPr>
            <a:r>
              <a:rPr lang="en-US" sz="1600" b="1" dirty="0">
                <a:solidFill>
                  <a:srgbClr val="97BC62"/>
                </a:solidFill>
                <a:latin typeface="Arial" pitchFamily="34" charset="0"/>
                <a:ea typeface="Arial" pitchFamily="34" charset="-122"/>
                <a:cs typeface="Arial" pitchFamily="34" charset="-120"/>
              </a:rPr>
              <a:t>RESILIENCE IN ACTION</a:t>
            </a:r>
            <a:endParaRPr lang="en-US" sz="1600" dirty="0"/>
          </a:p>
        </p:txBody>
      </p:sp>
      <p:sp>
        <p:nvSpPr>
          <p:cNvPr id="12" name="Text 9"/>
          <p:cNvSpPr/>
          <p:nvPr/>
        </p:nvSpPr>
        <p:spPr>
          <a:xfrm>
            <a:off x="4937760" y="2560320"/>
            <a:ext cx="3566160" cy="1645920"/>
          </a:xfrm>
          <a:prstGeom prst="rect">
            <a:avLst/>
          </a:prstGeom>
          <a:noFill/>
          <a:ln/>
        </p:spPr>
        <p:txBody>
          <a:bodyPr wrap="square" rtlCol="0" anchor="ctr"/>
          <a:lstStyle/>
          <a:p>
            <a:pPr indent="0" marL="0">
              <a:buNone/>
            </a:pPr>
            <a:r>
              <a:rPr lang="en-US" sz="1200" b="1" dirty="0">
                <a:solidFill>
                  <a:srgbClr val="2D3436"/>
                </a:solidFill>
                <a:latin typeface="Calibri" pitchFamily="34" charset="0"/>
                <a:ea typeface="Calibri" pitchFamily="34" charset="-122"/>
                <a:cs typeface="Calibri" pitchFamily="34" charset="-120"/>
              </a:rPr>
              <a:t>When a proposal is rejected:</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Ask for feedback, revise, and reapply</a:t>
            </a:r>
            <a:endParaRPr lang="en-US" sz="1200" dirty="0"/>
          </a:p>
          <a:p>
            <a:pPr indent="0" marL="0">
              <a:buNone/>
            </a:pPr>
            <a:endParaRPr lang="en-US" sz="1200" dirty="0"/>
          </a:p>
          <a:p>
            <a:pPr indent="0" marL="0">
              <a:buNone/>
            </a:pPr>
            <a:r>
              <a:rPr lang="en-US" sz="1200" b="1" dirty="0">
                <a:solidFill>
                  <a:srgbClr val="2D3436"/>
                </a:solidFill>
                <a:latin typeface="Calibri" pitchFamily="34" charset="0"/>
                <a:ea typeface="Calibri" pitchFamily="34" charset="-122"/>
                <a:cs typeface="Calibri" pitchFamily="34" charset="-120"/>
              </a:rPr>
              <a:t>When conflict arises:</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Address it directly with empathy and seek common ground</a:t>
            </a:r>
            <a:endParaRPr lang="en-US" sz="1200" dirty="0"/>
          </a:p>
          <a:p>
            <a:pPr indent="0" marL="0">
              <a:buNone/>
            </a:pPr>
            <a:endParaRPr lang="en-US" sz="1200" dirty="0"/>
          </a:p>
          <a:p>
            <a:pPr indent="0" marL="0">
              <a:buNone/>
            </a:pPr>
            <a:r>
              <a:rPr lang="en-US" sz="1200" b="1" dirty="0">
                <a:solidFill>
                  <a:srgbClr val="2D3436"/>
                </a:solidFill>
                <a:latin typeface="Calibri" pitchFamily="34" charset="0"/>
                <a:ea typeface="Calibri" pitchFamily="34" charset="-122"/>
                <a:cs typeface="Calibri" pitchFamily="34" charset="-120"/>
              </a:rPr>
              <a:t>When progress feels slow:</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Celebrate small wins and adjust strategy</a:t>
            </a:r>
            <a:endParaRPr lang="en-US" sz="1200" dirty="0"/>
          </a:p>
          <a:p>
            <a:pPr indent="0" marL="0">
              <a:buNone/>
            </a:pPr>
            <a:endParaRPr lang="en-US" sz="1200" dirty="0"/>
          </a:p>
          <a:p>
            <a:pPr indent="0" marL="0">
              <a:buNone/>
            </a:pPr>
            <a:r>
              <a:rPr lang="en-US" sz="1200" b="1" dirty="0">
                <a:solidFill>
                  <a:srgbClr val="2D3436"/>
                </a:solidFill>
                <a:latin typeface="Calibri" pitchFamily="34" charset="0"/>
                <a:ea typeface="Calibri" pitchFamily="34" charset="-122"/>
                <a:cs typeface="Calibri" pitchFamily="34" charset="-120"/>
              </a:rPr>
              <a:t>When you feel burned out:</a:t>
            </a:r>
            <a:endParaRPr lang="en-US" sz="1200" dirty="0"/>
          </a:p>
          <a:p>
            <a:pPr indent="0" marL="0">
              <a:buNone/>
            </a:pPr>
            <a:r>
              <a:rPr lang="en-US" sz="1200" dirty="0">
                <a:solidFill>
                  <a:srgbClr val="2D3436"/>
                </a:solidFill>
                <a:latin typeface="Calibri" pitchFamily="34" charset="0"/>
                <a:ea typeface="Calibri" pitchFamily="34" charset="-122"/>
                <a:cs typeface="Calibri" pitchFamily="34" charset="-120"/>
              </a:rPr>
              <a:t>Rest, reconnect with your purpose, and delegate tasks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STRESS MANAGEMENT</a:t>
            </a:r>
            <a:endParaRPr lang="en-US" sz="3600" dirty="0"/>
          </a:p>
        </p:txBody>
      </p:sp>
      <p:sp>
        <p:nvSpPr>
          <p:cNvPr id="3" name="Text 1"/>
          <p:cNvSpPr/>
          <p:nvPr/>
        </p:nvSpPr>
        <p:spPr>
          <a:xfrm>
            <a:off x="731520" y="1097280"/>
            <a:ext cx="7680960" cy="54864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Stress is a natural response to demanding situations. The goal isn't to eliminate stress entirely—it's to manage it effectively so it doesn't overwhelm you or harm your wellbeing.</a:t>
            </a:r>
            <a:endParaRPr lang="en-US" sz="1400" dirty="0"/>
          </a:p>
        </p:txBody>
      </p:sp>
      <p:sp>
        <p:nvSpPr>
          <p:cNvPr id="4" name="Text 2"/>
          <p:cNvSpPr/>
          <p:nvPr/>
        </p:nvSpPr>
        <p:spPr>
          <a:xfrm>
            <a:off x="731520" y="1783080"/>
            <a:ext cx="7680960" cy="320040"/>
          </a:xfrm>
          <a:prstGeom prst="rect">
            <a:avLst/>
          </a:prstGeom>
          <a:noFill/>
          <a:ln/>
        </p:spPr>
        <p:txBody>
          <a:bodyPr wrap="square" rtlCol="0" anchor="ctr"/>
          <a:lstStyle/>
          <a:p>
            <a:pPr indent="0" marL="0">
              <a:buNone/>
            </a:pPr>
            <a:r>
              <a:rPr lang="en-US" sz="1600" b="1" dirty="0">
                <a:solidFill>
                  <a:srgbClr val="2C5F2D"/>
                </a:solidFill>
                <a:latin typeface="Arial" pitchFamily="34" charset="0"/>
                <a:ea typeface="Arial" pitchFamily="34" charset="-122"/>
                <a:cs typeface="Arial" pitchFamily="34" charset="-120"/>
              </a:rPr>
              <a:t>RECOGNIZING STRESS SIGNALS</a:t>
            </a:r>
            <a:endParaRPr lang="en-US" sz="1600" dirty="0"/>
          </a:p>
        </p:txBody>
      </p:sp>
      <p:sp>
        <p:nvSpPr>
          <p:cNvPr id="5" name="Shape 3"/>
          <p:cNvSpPr/>
          <p:nvPr/>
        </p:nvSpPr>
        <p:spPr>
          <a:xfrm>
            <a:off x="457200" y="2194560"/>
            <a:ext cx="420624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457200" y="2194560"/>
            <a:ext cx="73152" cy="594360"/>
          </a:xfrm>
          <a:prstGeom prst="rect">
            <a:avLst/>
          </a:prstGeom>
          <a:solidFill>
            <a:srgbClr val="D4A574"/>
          </a:solidFill>
          <a:ln/>
        </p:spPr>
      </p:sp>
      <p:sp>
        <p:nvSpPr>
          <p:cNvPr id="7" name="Text 5"/>
          <p:cNvSpPr/>
          <p:nvPr/>
        </p:nvSpPr>
        <p:spPr>
          <a:xfrm>
            <a:off x="640080" y="2286000"/>
            <a:ext cx="3840480" cy="411480"/>
          </a:xfrm>
          <a:prstGeom prst="rect">
            <a:avLst/>
          </a:prstGeom>
          <a:noFill/>
          <a:ln/>
        </p:spPr>
        <p:txBody>
          <a:bodyPr wrap="square" rtlCol="0" anchor="ctr"/>
          <a:lstStyle/>
          <a:p>
            <a:pPr indent="0" marL="0">
              <a:buNone/>
            </a:pPr>
            <a:r>
              <a:rPr lang="en-US" sz="1200" b="1" dirty="0">
                <a:solidFill>
                  <a:srgbClr val="1A3A1B"/>
                </a:solidFill>
                <a:latin typeface="Calibri" pitchFamily="34" charset="0"/>
                <a:ea typeface="Calibri" pitchFamily="34" charset="-122"/>
                <a:cs typeface="Calibri" pitchFamily="34" charset="-120"/>
              </a:rPr>
              <a:t>Physical: </a:t>
            </a:r>
            <a:pPr indent="0" marL="0">
              <a:buNone/>
            </a:pPr>
            <a:r>
              <a:rPr lang="en-US" sz="1200" dirty="0">
                <a:solidFill>
                  <a:srgbClr val="2D3436"/>
                </a:solidFill>
                <a:latin typeface="Calibri" pitchFamily="34" charset="0"/>
                <a:ea typeface="Calibri" pitchFamily="34" charset="-122"/>
                <a:cs typeface="Calibri" pitchFamily="34" charset="-120"/>
              </a:rPr>
              <a:t>Headaches, fatigue, muscle tension, changes in sleep or appetite</a:t>
            </a:r>
            <a:endParaRPr lang="en-US" sz="1200" dirty="0"/>
          </a:p>
        </p:txBody>
      </p:sp>
      <p:sp>
        <p:nvSpPr>
          <p:cNvPr id="8" name="Shape 6"/>
          <p:cNvSpPr/>
          <p:nvPr/>
        </p:nvSpPr>
        <p:spPr>
          <a:xfrm>
            <a:off x="4937760" y="2194560"/>
            <a:ext cx="420624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937760" y="2194560"/>
            <a:ext cx="73152" cy="594360"/>
          </a:xfrm>
          <a:prstGeom prst="rect">
            <a:avLst/>
          </a:prstGeom>
          <a:solidFill>
            <a:srgbClr val="D4A574"/>
          </a:solidFill>
          <a:ln/>
        </p:spPr>
      </p:sp>
      <p:sp>
        <p:nvSpPr>
          <p:cNvPr id="10" name="Text 8"/>
          <p:cNvSpPr/>
          <p:nvPr/>
        </p:nvSpPr>
        <p:spPr>
          <a:xfrm>
            <a:off x="5120640" y="2286000"/>
            <a:ext cx="3840480" cy="411480"/>
          </a:xfrm>
          <a:prstGeom prst="rect">
            <a:avLst/>
          </a:prstGeom>
          <a:noFill/>
          <a:ln/>
        </p:spPr>
        <p:txBody>
          <a:bodyPr wrap="square" rtlCol="0" anchor="ctr"/>
          <a:lstStyle/>
          <a:p>
            <a:pPr indent="0" marL="0">
              <a:buNone/>
            </a:pPr>
            <a:r>
              <a:rPr lang="en-US" sz="1200" b="1" dirty="0">
                <a:solidFill>
                  <a:srgbClr val="1A3A1B"/>
                </a:solidFill>
                <a:latin typeface="Calibri" pitchFamily="34" charset="0"/>
                <a:ea typeface="Calibri" pitchFamily="34" charset="-122"/>
                <a:cs typeface="Calibri" pitchFamily="34" charset="-120"/>
              </a:rPr>
              <a:t>Emotional: </a:t>
            </a:r>
            <a:pPr indent="0" marL="0">
              <a:buNone/>
            </a:pPr>
            <a:r>
              <a:rPr lang="en-US" sz="1200" dirty="0">
                <a:solidFill>
                  <a:srgbClr val="2D3436"/>
                </a:solidFill>
                <a:latin typeface="Calibri" pitchFamily="34" charset="0"/>
                <a:ea typeface="Calibri" pitchFamily="34" charset="-122"/>
                <a:cs typeface="Calibri" pitchFamily="34" charset="-120"/>
              </a:rPr>
              <a:t>Irritability, anxiety, feeling overwhelmed, mood swings</a:t>
            </a:r>
            <a:endParaRPr lang="en-US" sz="1200" dirty="0"/>
          </a:p>
        </p:txBody>
      </p:sp>
      <p:sp>
        <p:nvSpPr>
          <p:cNvPr id="11" name="Shape 9"/>
          <p:cNvSpPr/>
          <p:nvPr/>
        </p:nvSpPr>
        <p:spPr>
          <a:xfrm>
            <a:off x="457200" y="2880360"/>
            <a:ext cx="420624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10"/>
          <p:cNvSpPr/>
          <p:nvPr/>
        </p:nvSpPr>
        <p:spPr>
          <a:xfrm>
            <a:off x="457200" y="2880360"/>
            <a:ext cx="73152" cy="594360"/>
          </a:xfrm>
          <a:prstGeom prst="rect">
            <a:avLst/>
          </a:prstGeom>
          <a:solidFill>
            <a:srgbClr val="D4A574"/>
          </a:solidFill>
          <a:ln/>
        </p:spPr>
      </p:sp>
      <p:sp>
        <p:nvSpPr>
          <p:cNvPr id="13" name="Text 11"/>
          <p:cNvSpPr/>
          <p:nvPr/>
        </p:nvSpPr>
        <p:spPr>
          <a:xfrm>
            <a:off x="640080" y="2971800"/>
            <a:ext cx="3840480" cy="411480"/>
          </a:xfrm>
          <a:prstGeom prst="rect">
            <a:avLst/>
          </a:prstGeom>
          <a:noFill/>
          <a:ln/>
        </p:spPr>
        <p:txBody>
          <a:bodyPr wrap="square" rtlCol="0" anchor="ctr"/>
          <a:lstStyle/>
          <a:p>
            <a:pPr indent="0" marL="0">
              <a:buNone/>
            </a:pPr>
            <a:r>
              <a:rPr lang="en-US" sz="1200" b="1" dirty="0">
                <a:solidFill>
                  <a:srgbClr val="1A3A1B"/>
                </a:solidFill>
                <a:latin typeface="Calibri" pitchFamily="34" charset="0"/>
                <a:ea typeface="Calibri" pitchFamily="34" charset="-122"/>
                <a:cs typeface="Calibri" pitchFamily="34" charset="-120"/>
              </a:rPr>
              <a:t>Cognitive: </a:t>
            </a:r>
            <a:pPr indent="0" marL="0">
              <a:buNone/>
            </a:pPr>
            <a:r>
              <a:rPr lang="en-US" sz="1200" dirty="0">
                <a:solidFill>
                  <a:srgbClr val="2D3436"/>
                </a:solidFill>
                <a:latin typeface="Calibri" pitchFamily="34" charset="0"/>
                <a:ea typeface="Calibri" pitchFamily="34" charset="-122"/>
                <a:cs typeface="Calibri" pitchFamily="34" charset="-120"/>
              </a:rPr>
              <a:t>Difficulty concentrating, racing thoughts, forgetfulness, negative thinking</a:t>
            </a:r>
            <a:endParaRPr lang="en-US" sz="1200" dirty="0"/>
          </a:p>
        </p:txBody>
      </p:sp>
      <p:sp>
        <p:nvSpPr>
          <p:cNvPr id="14" name="Shape 12"/>
          <p:cNvSpPr/>
          <p:nvPr/>
        </p:nvSpPr>
        <p:spPr>
          <a:xfrm>
            <a:off x="4937760" y="2880360"/>
            <a:ext cx="420624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937760" y="2880360"/>
            <a:ext cx="73152" cy="594360"/>
          </a:xfrm>
          <a:prstGeom prst="rect">
            <a:avLst/>
          </a:prstGeom>
          <a:solidFill>
            <a:srgbClr val="D4A574"/>
          </a:solidFill>
          <a:ln/>
        </p:spPr>
      </p:sp>
      <p:sp>
        <p:nvSpPr>
          <p:cNvPr id="16" name="Text 14"/>
          <p:cNvSpPr/>
          <p:nvPr/>
        </p:nvSpPr>
        <p:spPr>
          <a:xfrm>
            <a:off x="5120640" y="2971800"/>
            <a:ext cx="3840480" cy="411480"/>
          </a:xfrm>
          <a:prstGeom prst="rect">
            <a:avLst/>
          </a:prstGeom>
          <a:noFill/>
          <a:ln/>
        </p:spPr>
        <p:txBody>
          <a:bodyPr wrap="square" rtlCol="0" anchor="ctr"/>
          <a:lstStyle/>
          <a:p>
            <a:pPr indent="0" marL="0">
              <a:buNone/>
            </a:pPr>
            <a:r>
              <a:rPr lang="en-US" sz="1200" b="1" dirty="0">
                <a:solidFill>
                  <a:srgbClr val="1A3A1B"/>
                </a:solidFill>
                <a:latin typeface="Calibri" pitchFamily="34" charset="0"/>
                <a:ea typeface="Calibri" pitchFamily="34" charset="-122"/>
                <a:cs typeface="Calibri" pitchFamily="34" charset="-120"/>
              </a:rPr>
              <a:t>Behavioral: </a:t>
            </a:r>
            <a:pPr indent="0" marL="0">
              <a:buNone/>
            </a:pPr>
            <a:r>
              <a:rPr lang="en-US" sz="1200" dirty="0">
                <a:solidFill>
                  <a:srgbClr val="2D3436"/>
                </a:solidFill>
                <a:latin typeface="Calibri" pitchFamily="34" charset="0"/>
                <a:ea typeface="Calibri" pitchFamily="34" charset="-122"/>
                <a:cs typeface="Calibri" pitchFamily="34" charset="-120"/>
              </a:rPr>
              <a:t>Withdrawing from others, procrastinating, increased conflict, nervous habits</a:t>
            </a:r>
            <a:endParaRPr lang="en-US" sz="1200" dirty="0"/>
          </a:p>
        </p:txBody>
      </p:sp>
      <p:sp>
        <p:nvSpPr>
          <p:cNvPr id="17" name="Text 15"/>
          <p:cNvSpPr/>
          <p:nvPr/>
        </p:nvSpPr>
        <p:spPr>
          <a:xfrm>
            <a:off x="731520" y="3566160"/>
            <a:ext cx="7680960" cy="320040"/>
          </a:xfrm>
          <a:prstGeom prst="rect">
            <a:avLst/>
          </a:prstGeom>
          <a:noFill/>
          <a:ln/>
        </p:spPr>
        <p:txBody>
          <a:bodyPr wrap="square" rtlCol="0" anchor="ctr"/>
          <a:lstStyle/>
          <a:p>
            <a:pPr indent="0" marL="0">
              <a:buNone/>
            </a:pPr>
            <a:r>
              <a:rPr lang="en-US" sz="1600" b="1" dirty="0">
                <a:solidFill>
                  <a:srgbClr val="2C5F2D"/>
                </a:solidFill>
                <a:latin typeface="Arial" pitchFamily="34" charset="0"/>
                <a:ea typeface="Arial" pitchFamily="34" charset="-122"/>
                <a:cs typeface="Arial" pitchFamily="34" charset="-120"/>
              </a:rPr>
              <a:t>STRESS MANAGEMENT STRATEGIES</a:t>
            </a:r>
            <a:endParaRPr lang="en-US" sz="1600" dirty="0"/>
          </a:p>
        </p:txBody>
      </p:sp>
      <p:pic>
        <p:nvPicPr>
          <p:cNvPr id="18" name="Image 0" descr="preencoded.png">    </p:cNvPr>
          <p:cNvPicPr>
            <a:picLocks noChangeAspect="1"/>
          </p:cNvPicPr>
          <p:nvPr/>
        </p:nvPicPr>
        <p:blipFill>
          <a:blip r:embed="rId1"/>
          <a:stretch>
            <a:fillRect/>
          </a:stretch>
        </p:blipFill>
        <p:spPr>
          <a:xfrm>
            <a:off x="731520" y="3995928"/>
            <a:ext cx="274320" cy="274320"/>
          </a:xfrm>
          <a:prstGeom prst="rect">
            <a:avLst/>
          </a:prstGeom>
        </p:spPr>
      </p:pic>
      <p:sp>
        <p:nvSpPr>
          <p:cNvPr id="19" name="Text 16"/>
          <p:cNvSpPr/>
          <p:nvPr/>
        </p:nvSpPr>
        <p:spPr>
          <a:xfrm>
            <a:off x="1097280" y="3977640"/>
            <a:ext cx="3474720" cy="32004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Practice deep breathing or meditation for 5-10 minutes daily</a:t>
            </a:r>
            <a:endParaRPr lang="en-US" sz="1200" dirty="0"/>
          </a:p>
        </p:txBody>
      </p:sp>
      <p:pic>
        <p:nvPicPr>
          <p:cNvPr id="20" name="Image 1" descr="preencoded.png">    </p:cNvPr>
          <p:cNvPicPr>
            <a:picLocks noChangeAspect="1"/>
          </p:cNvPicPr>
          <p:nvPr/>
        </p:nvPicPr>
        <p:blipFill>
          <a:blip r:embed="rId2"/>
          <a:stretch>
            <a:fillRect/>
          </a:stretch>
        </p:blipFill>
        <p:spPr>
          <a:xfrm>
            <a:off x="4663440" y="3995928"/>
            <a:ext cx="274320" cy="274320"/>
          </a:xfrm>
          <a:prstGeom prst="rect">
            <a:avLst/>
          </a:prstGeom>
        </p:spPr>
      </p:pic>
      <p:sp>
        <p:nvSpPr>
          <p:cNvPr id="21" name="Text 17"/>
          <p:cNvSpPr/>
          <p:nvPr/>
        </p:nvSpPr>
        <p:spPr>
          <a:xfrm>
            <a:off x="5029200" y="3977640"/>
            <a:ext cx="3474720" cy="32004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Maintain regular physical activity (walking, dancing, sports)</a:t>
            </a:r>
            <a:endParaRPr lang="en-US" sz="1200" dirty="0"/>
          </a:p>
        </p:txBody>
      </p:sp>
      <p:pic>
        <p:nvPicPr>
          <p:cNvPr id="22" name="Image 2" descr="preencoded.png">    </p:cNvPr>
          <p:cNvPicPr>
            <a:picLocks noChangeAspect="1"/>
          </p:cNvPicPr>
          <p:nvPr/>
        </p:nvPicPr>
        <p:blipFill>
          <a:blip r:embed="rId3"/>
          <a:stretch>
            <a:fillRect/>
          </a:stretch>
        </p:blipFill>
        <p:spPr>
          <a:xfrm>
            <a:off x="731520" y="4361688"/>
            <a:ext cx="274320" cy="274320"/>
          </a:xfrm>
          <a:prstGeom prst="rect">
            <a:avLst/>
          </a:prstGeom>
        </p:spPr>
      </p:pic>
      <p:sp>
        <p:nvSpPr>
          <p:cNvPr id="23" name="Text 18"/>
          <p:cNvSpPr/>
          <p:nvPr/>
        </p:nvSpPr>
        <p:spPr>
          <a:xfrm>
            <a:off x="1097280" y="4343400"/>
            <a:ext cx="3474720" cy="32004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Set boundaries—learn to say no to protect your energy</a:t>
            </a:r>
            <a:endParaRPr lang="en-US" sz="1200" dirty="0"/>
          </a:p>
        </p:txBody>
      </p:sp>
      <p:pic>
        <p:nvPicPr>
          <p:cNvPr id="24" name="Image 3" descr="preencoded.png">    </p:cNvPr>
          <p:cNvPicPr>
            <a:picLocks noChangeAspect="1"/>
          </p:cNvPicPr>
          <p:nvPr/>
        </p:nvPicPr>
        <p:blipFill>
          <a:blip r:embed="rId4"/>
          <a:stretch>
            <a:fillRect/>
          </a:stretch>
        </p:blipFill>
        <p:spPr>
          <a:xfrm>
            <a:off x="4663440" y="4361688"/>
            <a:ext cx="274320" cy="274320"/>
          </a:xfrm>
          <a:prstGeom prst="rect">
            <a:avLst/>
          </a:prstGeom>
        </p:spPr>
      </p:pic>
      <p:sp>
        <p:nvSpPr>
          <p:cNvPr id="25" name="Text 19"/>
          <p:cNvSpPr/>
          <p:nvPr/>
        </p:nvSpPr>
        <p:spPr>
          <a:xfrm>
            <a:off x="5029200" y="4343400"/>
            <a:ext cx="3474720" cy="32004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Break large tasks into smaller, manageable steps</a:t>
            </a:r>
            <a:endParaRPr lang="en-US" sz="1200" dirty="0"/>
          </a:p>
        </p:txBody>
      </p:sp>
      <p:pic>
        <p:nvPicPr>
          <p:cNvPr id="26" name="Image 4" descr="preencoded.png">    </p:cNvPr>
          <p:cNvPicPr>
            <a:picLocks noChangeAspect="1"/>
          </p:cNvPicPr>
          <p:nvPr/>
        </p:nvPicPr>
        <p:blipFill>
          <a:blip r:embed="rId5"/>
          <a:stretch>
            <a:fillRect/>
          </a:stretch>
        </p:blipFill>
        <p:spPr>
          <a:xfrm>
            <a:off x="731520" y="4727448"/>
            <a:ext cx="274320" cy="274320"/>
          </a:xfrm>
          <a:prstGeom prst="rect">
            <a:avLst/>
          </a:prstGeom>
        </p:spPr>
      </p:pic>
      <p:sp>
        <p:nvSpPr>
          <p:cNvPr id="27" name="Text 20"/>
          <p:cNvSpPr/>
          <p:nvPr/>
        </p:nvSpPr>
        <p:spPr>
          <a:xfrm>
            <a:off x="1097280" y="4709160"/>
            <a:ext cx="3474720" cy="32004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Connect with friends, family, or mentors regularly</a:t>
            </a:r>
            <a:endParaRPr lang="en-US" sz="1200" dirty="0"/>
          </a:p>
        </p:txBody>
      </p:sp>
      <p:pic>
        <p:nvPicPr>
          <p:cNvPr id="28" name="Image 5" descr="preencoded.png">    </p:cNvPr>
          <p:cNvPicPr>
            <a:picLocks noChangeAspect="1"/>
          </p:cNvPicPr>
          <p:nvPr/>
        </p:nvPicPr>
        <p:blipFill>
          <a:blip r:embed="rId6"/>
          <a:stretch>
            <a:fillRect/>
          </a:stretch>
        </p:blipFill>
        <p:spPr>
          <a:xfrm>
            <a:off x="4663440" y="4727448"/>
            <a:ext cx="274320" cy="274320"/>
          </a:xfrm>
          <a:prstGeom prst="rect">
            <a:avLst/>
          </a:prstGeom>
        </p:spPr>
      </p:pic>
      <p:sp>
        <p:nvSpPr>
          <p:cNvPr id="29" name="Text 21"/>
          <p:cNvSpPr/>
          <p:nvPr/>
        </p:nvSpPr>
        <p:spPr>
          <a:xfrm>
            <a:off x="5029200" y="4709160"/>
            <a:ext cx="3474720" cy="320040"/>
          </a:xfrm>
          <a:prstGeom prst="rect">
            <a:avLst/>
          </a:prstGeom>
          <a:noFill/>
          <a:ln/>
        </p:spPr>
        <p:txBody>
          <a:bodyPr wrap="square" rtlCol="0" anchor="ctr"/>
          <a:lstStyle/>
          <a:p>
            <a:pPr indent="0" marL="0">
              <a:buNone/>
            </a:pPr>
            <a:r>
              <a:rPr lang="en-US" sz="1200" dirty="0">
                <a:solidFill>
                  <a:srgbClr val="2D3436"/>
                </a:solidFill>
                <a:latin typeface="Calibri" pitchFamily="34" charset="0"/>
                <a:ea typeface="Calibri" pitchFamily="34" charset="-122"/>
                <a:cs typeface="Calibri" pitchFamily="34" charset="-120"/>
              </a:rPr>
              <a:t>Prioritize sleep (7-9 hours) and healthy eating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SELF-AWARENESS</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Self-awareness is understanding your emotions, strengths, weaknesses, values, and motivations. It's the foundation of emotional intelligence and personal growth. When you know yourself well, you make better decisions and build healthier relationships.</a:t>
            </a:r>
            <a:endParaRPr lang="en-US" sz="1400" dirty="0"/>
          </a:p>
        </p:txBody>
      </p:sp>
      <p:sp>
        <p:nvSpPr>
          <p:cNvPr id="5" name="Text 2"/>
          <p:cNvSpPr/>
          <p:nvPr/>
        </p:nvSpPr>
        <p:spPr>
          <a:xfrm>
            <a:off x="731520" y="1965960"/>
            <a:ext cx="7680960" cy="320040"/>
          </a:xfrm>
          <a:prstGeom prst="rect">
            <a:avLst/>
          </a:prstGeom>
          <a:noFill/>
          <a:ln/>
        </p:spPr>
        <p:txBody>
          <a:bodyPr wrap="square" rtlCol="0" anchor="ctr"/>
          <a:lstStyle/>
          <a:p>
            <a:pPr indent="0" marL="0">
              <a:buNone/>
            </a:pPr>
            <a:r>
              <a:rPr lang="en-US" sz="1600" b="1" dirty="0">
                <a:solidFill>
                  <a:srgbClr val="2C5F2D"/>
                </a:solidFill>
                <a:latin typeface="Arial" pitchFamily="34" charset="0"/>
                <a:ea typeface="Arial" pitchFamily="34" charset="-122"/>
                <a:cs typeface="Arial" pitchFamily="34" charset="-120"/>
              </a:rPr>
              <a:t>SELF-AWARENESS QUESTIONS TO REFLECT ON:</a:t>
            </a:r>
            <a:endParaRPr lang="en-US" sz="1600" dirty="0"/>
          </a:p>
        </p:txBody>
      </p:sp>
      <p:sp>
        <p:nvSpPr>
          <p:cNvPr id="6" name="Shape 3"/>
          <p:cNvSpPr/>
          <p:nvPr/>
        </p:nvSpPr>
        <p:spPr>
          <a:xfrm>
            <a:off x="457200" y="2377440"/>
            <a:ext cx="8229600" cy="7772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4"/>
          <p:cNvSpPr/>
          <p:nvPr/>
        </p:nvSpPr>
        <p:spPr>
          <a:xfrm>
            <a:off x="457200" y="2377440"/>
            <a:ext cx="1828800" cy="777240"/>
          </a:xfrm>
          <a:prstGeom prst="rect">
            <a:avLst/>
          </a:prstGeom>
          <a:solidFill>
            <a:srgbClr val="97BC62"/>
          </a:solidFill>
          <a:ln/>
        </p:spPr>
      </p:sp>
      <p:sp>
        <p:nvSpPr>
          <p:cNvPr id="8" name="Text 5"/>
          <p:cNvSpPr/>
          <p:nvPr/>
        </p:nvSpPr>
        <p:spPr>
          <a:xfrm>
            <a:off x="548640" y="2468880"/>
            <a:ext cx="1645920" cy="5943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Emotions</a:t>
            </a:r>
            <a:endParaRPr lang="en-US" sz="1400" dirty="0"/>
          </a:p>
        </p:txBody>
      </p:sp>
      <p:sp>
        <p:nvSpPr>
          <p:cNvPr id="9" name="Text 6"/>
          <p:cNvSpPr/>
          <p:nvPr/>
        </p:nvSpPr>
        <p:spPr>
          <a:xfrm>
            <a:off x="2468880" y="2514600"/>
            <a:ext cx="6035040" cy="5486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What situations trigger strong emotions in me?</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How do I typically respond when I'm stressed or upset?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What emotions am I most comfortable/uncomfortable expressing?</a:t>
            </a:r>
            <a:endParaRPr lang="en-US" sz="1100" dirty="0"/>
          </a:p>
        </p:txBody>
      </p:sp>
      <p:sp>
        <p:nvSpPr>
          <p:cNvPr id="10" name="Shape 7"/>
          <p:cNvSpPr/>
          <p:nvPr/>
        </p:nvSpPr>
        <p:spPr>
          <a:xfrm>
            <a:off x="457200" y="3246120"/>
            <a:ext cx="8229600" cy="7772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8"/>
          <p:cNvSpPr/>
          <p:nvPr/>
        </p:nvSpPr>
        <p:spPr>
          <a:xfrm>
            <a:off x="457200" y="3246120"/>
            <a:ext cx="1828800" cy="777240"/>
          </a:xfrm>
          <a:prstGeom prst="rect">
            <a:avLst/>
          </a:prstGeom>
          <a:solidFill>
            <a:srgbClr val="97BC62"/>
          </a:solidFill>
          <a:ln/>
        </p:spPr>
      </p:sp>
      <p:sp>
        <p:nvSpPr>
          <p:cNvPr id="12" name="Text 9"/>
          <p:cNvSpPr/>
          <p:nvPr/>
        </p:nvSpPr>
        <p:spPr>
          <a:xfrm>
            <a:off x="548640" y="3337560"/>
            <a:ext cx="1645920" cy="5943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Strengths &amp; Weaknesses</a:t>
            </a:r>
            <a:endParaRPr lang="en-US" sz="1400" dirty="0"/>
          </a:p>
        </p:txBody>
      </p:sp>
      <p:sp>
        <p:nvSpPr>
          <p:cNvPr id="13" name="Text 10"/>
          <p:cNvSpPr/>
          <p:nvPr/>
        </p:nvSpPr>
        <p:spPr>
          <a:xfrm>
            <a:off x="2468880" y="3383280"/>
            <a:ext cx="6035040" cy="5486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What skills or qualities do I bring to my team?</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What areas do I need to develop or improve?</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When do I feel most confident? Most challenged?</a:t>
            </a:r>
            <a:endParaRPr lang="en-US" sz="1100" dirty="0"/>
          </a:p>
        </p:txBody>
      </p:sp>
      <p:sp>
        <p:nvSpPr>
          <p:cNvPr id="14" name="Shape 11"/>
          <p:cNvSpPr/>
          <p:nvPr/>
        </p:nvSpPr>
        <p:spPr>
          <a:xfrm>
            <a:off x="457200" y="4114800"/>
            <a:ext cx="8229600" cy="77724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2"/>
          <p:cNvSpPr/>
          <p:nvPr/>
        </p:nvSpPr>
        <p:spPr>
          <a:xfrm>
            <a:off x="457200" y="4114800"/>
            <a:ext cx="1828800" cy="777240"/>
          </a:xfrm>
          <a:prstGeom prst="rect">
            <a:avLst/>
          </a:prstGeom>
          <a:solidFill>
            <a:srgbClr val="97BC62"/>
          </a:solidFill>
          <a:ln/>
        </p:spPr>
      </p:sp>
      <p:sp>
        <p:nvSpPr>
          <p:cNvPr id="16" name="Text 13"/>
          <p:cNvSpPr/>
          <p:nvPr/>
        </p:nvSpPr>
        <p:spPr>
          <a:xfrm>
            <a:off x="548640" y="4206240"/>
            <a:ext cx="1645920" cy="5943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Values &amp; Motivations</a:t>
            </a:r>
            <a:endParaRPr lang="en-US" sz="1400" dirty="0"/>
          </a:p>
        </p:txBody>
      </p:sp>
      <p:sp>
        <p:nvSpPr>
          <p:cNvPr id="17" name="Text 14"/>
          <p:cNvSpPr/>
          <p:nvPr/>
        </p:nvSpPr>
        <p:spPr>
          <a:xfrm>
            <a:off x="2468880" y="4251960"/>
            <a:ext cx="6035040" cy="5486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What causes or issues matter most to me? Why?</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What drives me to do advocacy work?</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What would success look like for me in 5 years?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BUILDING SELF-AWARENESS</a:t>
            </a:r>
            <a:endParaRPr lang="en-US" sz="3600" dirty="0"/>
          </a:p>
        </p:txBody>
      </p:sp>
      <p:sp>
        <p:nvSpPr>
          <p:cNvPr id="3" name="Shape 1"/>
          <p:cNvSpPr/>
          <p:nvPr/>
        </p:nvSpPr>
        <p:spPr>
          <a:xfrm>
            <a:off x="457200" y="109728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4206240" cy="320040"/>
          </a:xfrm>
          <a:prstGeom prst="rect">
            <a:avLst/>
          </a:prstGeom>
          <a:solidFill>
            <a:srgbClr val="2C5F2D"/>
          </a:solidFill>
          <a:ln/>
        </p:spPr>
      </p:sp>
      <p:sp>
        <p:nvSpPr>
          <p:cNvPr id="5" name="Text 3"/>
          <p:cNvSpPr/>
          <p:nvPr/>
        </p:nvSpPr>
        <p:spPr>
          <a:xfrm>
            <a:off x="640080" y="1143000"/>
            <a:ext cx="384048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Journaling</a:t>
            </a:r>
            <a:endParaRPr lang="en-US" sz="1400" dirty="0"/>
          </a:p>
        </p:txBody>
      </p:sp>
      <p:sp>
        <p:nvSpPr>
          <p:cNvPr id="6" name="Text 4"/>
          <p:cNvSpPr/>
          <p:nvPr/>
        </p:nvSpPr>
        <p:spPr>
          <a:xfrm>
            <a:off x="640080" y="150876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Write for 10 minutes daily about your experiences, feelings, and reactions</a:t>
            </a:r>
            <a:endParaRPr lang="en-US" sz="1100" dirty="0"/>
          </a:p>
        </p:txBody>
      </p:sp>
      <p:sp>
        <p:nvSpPr>
          <p:cNvPr id="7" name="Text 5"/>
          <p:cNvSpPr/>
          <p:nvPr/>
        </p:nvSpPr>
        <p:spPr>
          <a:xfrm>
            <a:off x="640080" y="1810512"/>
            <a:ext cx="3840480" cy="274320"/>
          </a:xfrm>
          <a:prstGeom prst="rect">
            <a:avLst/>
          </a:prstGeom>
          <a:noFill/>
          <a:ln/>
        </p:spPr>
        <p:txBody>
          <a:bodyPr wrap="square" rtlCol="0" anchor="ctr"/>
          <a:lstStyle/>
          <a:p>
            <a:pPr indent="0" marL="0">
              <a:buNone/>
            </a:pPr>
            <a:r>
              <a:rPr lang="en-US" sz="1000" b="1" dirty="0">
                <a:solidFill>
                  <a:srgbClr val="97BC62"/>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Identifies patterns in your thoughts and behaviors</a:t>
            </a:r>
            <a:endParaRPr lang="en-US" sz="1000" dirty="0"/>
          </a:p>
        </p:txBody>
      </p:sp>
      <p:sp>
        <p:nvSpPr>
          <p:cNvPr id="8" name="Shape 6"/>
          <p:cNvSpPr/>
          <p:nvPr/>
        </p:nvSpPr>
        <p:spPr>
          <a:xfrm>
            <a:off x="4937760" y="109728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7"/>
          <p:cNvSpPr/>
          <p:nvPr/>
        </p:nvSpPr>
        <p:spPr>
          <a:xfrm>
            <a:off x="4937760" y="1097280"/>
            <a:ext cx="4206240" cy="320040"/>
          </a:xfrm>
          <a:prstGeom prst="rect">
            <a:avLst/>
          </a:prstGeom>
          <a:solidFill>
            <a:srgbClr val="2C5F2D"/>
          </a:solidFill>
          <a:ln/>
        </p:spPr>
      </p:sp>
      <p:sp>
        <p:nvSpPr>
          <p:cNvPr id="10" name="Text 8"/>
          <p:cNvSpPr/>
          <p:nvPr/>
        </p:nvSpPr>
        <p:spPr>
          <a:xfrm>
            <a:off x="5120640" y="1143000"/>
            <a:ext cx="384048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Mindfulness Meditation</a:t>
            </a:r>
            <a:endParaRPr lang="en-US" sz="1400" dirty="0"/>
          </a:p>
        </p:txBody>
      </p:sp>
      <p:sp>
        <p:nvSpPr>
          <p:cNvPr id="11" name="Text 9"/>
          <p:cNvSpPr/>
          <p:nvPr/>
        </p:nvSpPr>
        <p:spPr>
          <a:xfrm>
            <a:off x="5120640" y="150876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Spend 5-10 minutes observing your thoughts without judgment</a:t>
            </a:r>
            <a:endParaRPr lang="en-US" sz="1100" dirty="0"/>
          </a:p>
        </p:txBody>
      </p:sp>
      <p:sp>
        <p:nvSpPr>
          <p:cNvPr id="12" name="Text 10"/>
          <p:cNvSpPr/>
          <p:nvPr/>
        </p:nvSpPr>
        <p:spPr>
          <a:xfrm>
            <a:off x="5120640" y="1810512"/>
            <a:ext cx="3840480" cy="274320"/>
          </a:xfrm>
          <a:prstGeom prst="rect">
            <a:avLst/>
          </a:prstGeom>
          <a:noFill/>
          <a:ln/>
        </p:spPr>
        <p:txBody>
          <a:bodyPr wrap="square" rtlCol="0" anchor="ctr"/>
          <a:lstStyle/>
          <a:p>
            <a:pPr indent="0" marL="0">
              <a:buNone/>
            </a:pPr>
            <a:r>
              <a:rPr lang="en-US" sz="1000" b="1" dirty="0">
                <a:solidFill>
                  <a:srgbClr val="97BC62"/>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Increases present-moment awareness and emotional regulation</a:t>
            </a:r>
            <a:endParaRPr lang="en-US" sz="1000" dirty="0"/>
          </a:p>
        </p:txBody>
      </p:sp>
      <p:sp>
        <p:nvSpPr>
          <p:cNvPr id="13" name="Shape 11"/>
          <p:cNvSpPr/>
          <p:nvPr/>
        </p:nvSpPr>
        <p:spPr>
          <a:xfrm>
            <a:off x="457200" y="228600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457200" y="2286000"/>
            <a:ext cx="4206240" cy="320040"/>
          </a:xfrm>
          <a:prstGeom prst="rect">
            <a:avLst/>
          </a:prstGeom>
          <a:solidFill>
            <a:srgbClr val="2C5F2D"/>
          </a:solidFill>
          <a:ln/>
        </p:spPr>
      </p:sp>
      <p:sp>
        <p:nvSpPr>
          <p:cNvPr id="15" name="Text 13"/>
          <p:cNvSpPr/>
          <p:nvPr/>
        </p:nvSpPr>
        <p:spPr>
          <a:xfrm>
            <a:off x="640080" y="2331720"/>
            <a:ext cx="384048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Seek Feedback</a:t>
            </a:r>
            <a:endParaRPr lang="en-US" sz="1400" dirty="0"/>
          </a:p>
        </p:txBody>
      </p:sp>
      <p:sp>
        <p:nvSpPr>
          <p:cNvPr id="16" name="Text 14"/>
          <p:cNvSpPr/>
          <p:nvPr/>
        </p:nvSpPr>
        <p:spPr>
          <a:xfrm>
            <a:off x="640080" y="269748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Ask trusted peers: 'What do you see as my strengths? Areas for growth?'</a:t>
            </a:r>
            <a:endParaRPr lang="en-US" sz="1100" dirty="0"/>
          </a:p>
        </p:txBody>
      </p:sp>
      <p:sp>
        <p:nvSpPr>
          <p:cNvPr id="17" name="Text 15"/>
          <p:cNvSpPr/>
          <p:nvPr/>
        </p:nvSpPr>
        <p:spPr>
          <a:xfrm>
            <a:off x="640080" y="2999232"/>
            <a:ext cx="3840480" cy="274320"/>
          </a:xfrm>
          <a:prstGeom prst="rect">
            <a:avLst/>
          </a:prstGeom>
          <a:noFill/>
          <a:ln/>
        </p:spPr>
        <p:txBody>
          <a:bodyPr wrap="square" rtlCol="0" anchor="ctr"/>
          <a:lstStyle/>
          <a:p>
            <a:pPr indent="0" marL="0">
              <a:buNone/>
            </a:pPr>
            <a:r>
              <a:rPr lang="en-US" sz="1000" b="1" dirty="0">
                <a:solidFill>
                  <a:srgbClr val="97BC62"/>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Reveals blind spots and confirms or challenges your self-perception</a:t>
            </a:r>
            <a:endParaRPr lang="en-US" sz="1000" dirty="0"/>
          </a:p>
        </p:txBody>
      </p:sp>
      <p:sp>
        <p:nvSpPr>
          <p:cNvPr id="18" name="Shape 16"/>
          <p:cNvSpPr/>
          <p:nvPr/>
        </p:nvSpPr>
        <p:spPr>
          <a:xfrm>
            <a:off x="4937760" y="228600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7"/>
          <p:cNvSpPr/>
          <p:nvPr/>
        </p:nvSpPr>
        <p:spPr>
          <a:xfrm>
            <a:off x="4937760" y="2286000"/>
            <a:ext cx="4206240" cy="320040"/>
          </a:xfrm>
          <a:prstGeom prst="rect">
            <a:avLst/>
          </a:prstGeom>
          <a:solidFill>
            <a:srgbClr val="2C5F2D"/>
          </a:solidFill>
          <a:ln/>
        </p:spPr>
      </p:sp>
      <p:sp>
        <p:nvSpPr>
          <p:cNvPr id="20" name="Text 18"/>
          <p:cNvSpPr/>
          <p:nvPr/>
        </p:nvSpPr>
        <p:spPr>
          <a:xfrm>
            <a:off x="5120640" y="2331720"/>
            <a:ext cx="384048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Personality Assessments</a:t>
            </a:r>
            <a:endParaRPr lang="en-US" sz="1400" dirty="0"/>
          </a:p>
        </p:txBody>
      </p:sp>
      <p:sp>
        <p:nvSpPr>
          <p:cNvPr id="21" name="Text 19"/>
          <p:cNvSpPr/>
          <p:nvPr/>
        </p:nvSpPr>
        <p:spPr>
          <a:xfrm>
            <a:off x="5120640" y="269748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Take tools like Myers-Briggs, StrengthsFinder, or Enneagram</a:t>
            </a:r>
            <a:endParaRPr lang="en-US" sz="1100" dirty="0"/>
          </a:p>
        </p:txBody>
      </p:sp>
      <p:sp>
        <p:nvSpPr>
          <p:cNvPr id="22" name="Text 20"/>
          <p:cNvSpPr/>
          <p:nvPr/>
        </p:nvSpPr>
        <p:spPr>
          <a:xfrm>
            <a:off x="5120640" y="2999232"/>
            <a:ext cx="3840480" cy="274320"/>
          </a:xfrm>
          <a:prstGeom prst="rect">
            <a:avLst/>
          </a:prstGeom>
          <a:noFill/>
          <a:ln/>
        </p:spPr>
        <p:txBody>
          <a:bodyPr wrap="square" rtlCol="0" anchor="ctr"/>
          <a:lstStyle/>
          <a:p>
            <a:pPr indent="0" marL="0">
              <a:buNone/>
            </a:pPr>
            <a:r>
              <a:rPr lang="en-US" sz="1000" b="1" dirty="0">
                <a:solidFill>
                  <a:srgbClr val="97BC62"/>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Provides frameworks for understanding your tendencies</a:t>
            </a:r>
            <a:endParaRPr lang="en-US" sz="1000" dirty="0"/>
          </a:p>
        </p:txBody>
      </p:sp>
      <p:sp>
        <p:nvSpPr>
          <p:cNvPr id="23" name="Shape 21"/>
          <p:cNvSpPr/>
          <p:nvPr/>
        </p:nvSpPr>
        <p:spPr>
          <a:xfrm>
            <a:off x="457200" y="347472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Shape 22"/>
          <p:cNvSpPr/>
          <p:nvPr/>
        </p:nvSpPr>
        <p:spPr>
          <a:xfrm>
            <a:off x="457200" y="3474720"/>
            <a:ext cx="4206240" cy="320040"/>
          </a:xfrm>
          <a:prstGeom prst="rect">
            <a:avLst/>
          </a:prstGeom>
          <a:solidFill>
            <a:srgbClr val="2C5F2D"/>
          </a:solidFill>
          <a:ln/>
        </p:spPr>
      </p:sp>
      <p:sp>
        <p:nvSpPr>
          <p:cNvPr id="25" name="Text 23"/>
          <p:cNvSpPr/>
          <p:nvPr/>
        </p:nvSpPr>
        <p:spPr>
          <a:xfrm>
            <a:off x="640080" y="3520440"/>
            <a:ext cx="384048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Pause Before Reacting</a:t>
            </a:r>
            <a:endParaRPr lang="en-US" sz="1400" dirty="0"/>
          </a:p>
        </p:txBody>
      </p:sp>
      <p:sp>
        <p:nvSpPr>
          <p:cNvPr id="26" name="Text 24"/>
          <p:cNvSpPr/>
          <p:nvPr/>
        </p:nvSpPr>
        <p:spPr>
          <a:xfrm>
            <a:off x="640080" y="388620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In tense moments, take 3 deep breaths before responding</a:t>
            </a:r>
            <a:endParaRPr lang="en-US" sz="1100" dirty="0"/>
          </a:p>
        </p:txBody>
      </p:sp>
      <p:sp>
        <p:nvSpPr>
          <p:cNvPr id="27" name="Text 25"/>
          <p:cNvSpPr/>
          <p:nvPr/>
        </p:nvSpPr>
        <p:spPr>
          <a:xfrm>
            <a:off x="640080" y="4187952"/>
            <a:ext cx="3840480" cy="274320"/>
          </a:xfrm>
          <a:prstGeom prst="rect">
            <a:avLst/>
          </a:prstGeom>
          <a:noFill/>
          <a:ln/>
        </p:spPr>
        <p:txBody>
          <a:bodyPr wrap="square" rtlCol="0" anchor="ctr"/>
          <a:lstStyle/>
          <a:p>
            <a:pPr indent="0" marL="0">
              <a:buNone/>
            </a:pPr>
            <a:r>
              <a:rPr lang="en-US" sz="1000" b="1" dirty="0">
                <a:solidFill>
                  <a:srgbClr val="97BC62"/>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Creates space to choose your response rather than react automatically</a:t>
            </a:r>
            <a:endParaRPr lang="en-US" sz="1000" dirty="0"/>
          </a:p>
        </p:txBody>
      </p:sp>
      <p:sp>
        <p:nvSpPr>
          <p:cNvPr id="28" name="Shape 26"/>
          <p:cNvSpPr/>
          <p:nvPr/>
        </p:nvSpPr>
        <p:spPr>
          <a:xfrm>
            <a:off x="4937760" y="3474720"/>
            <a:ext cx="4206240" cy="10515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9" name="Shape 27"/>
          <p:cNvSpPr/>
          <p:nvPr/>
        </p:nvSpPr>
        <p:spPr>
          <a:xfrm>
            <a:off x="4937760" y="3474720"/>
            <a:ext cx="4206240" cy="320040"/>
          </a:xfrm>
          <a:prstGeom prst="rect">
            <a:avLst/>
          </a:prstGeom>
          <a:solidFill>
            <a:srgbClr val="2C5F2D"/>
          </a:solidFill>
          <a:ln/>
        </p:spPr>
      </p:sp>
      <p:sp>
        <p:nvSpPr>
          <p:cNvPr id="30" name="Text 28"/>
          <p:cNvSpPr/>
          <p:nvPr/>
        </p:nvSpPr>
        <p:spPr>
          <a:xfrm>
            <a:off x="5120640" y="3520440"/>
            <a:ext cx="3840480" cy="2286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Regular Check-ins</a:t>
            </a:r>
            <a:endParaRPr lang="en-US" sz="1400" dirty="0"/>
          </a:p>
        </p:txBody>
      </p:sp>
      <p:sp>
        <p:nvSpPr>
          <p:cNvPr id="31" name="Text 29"/>
          <p:cNvSpPr/>
          <p:nvPr/>
        </p:nvSpPr>
        <p:spPr>
          <a:xfrm>
            <a:off x="5120640" y="3886200"/>
            <a:ext cx="3840480" cy="27432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Weekly: Ask yourself 'How am I feeling? What do I need?'</a:t>
            </a:r>
            <a:endParaRPr lang="en-US" sz="1100" dirty="0"/>
          </a:p>
        </p:txBody>
      </p:sp>
      <p:sp>
        <p:nvSpPr>
          <p:cNvPr id="32" name="Text 30"/>
          <p:cNvSpPr/>
          <p:nvPr/>
        </p:nvSpPr>
        <p:spPr>
          <a:xfrm>
            <a:off x="5120640" y="4187952"/>
            <a:ext cx="3840480" cy="274320"/>
          </a:xfrm>
          <a:prstGeom prst="rect">
            <a:avLst/>
          </a:prstGeom>
          <a:noFill/>
          <a:ln/>
        </p:spPr>
        <p:txBody>
          <a:bodyPr wrap="square" rtlCol="0" anchor="ctr"/>
          <a:lstStyle/>
          <a:p>
            <a:pPr indent="0" marL="0">
              <a:buNone/>
            </a:pPr>
            <a:r>
              <a:rPr lang="en-US" sz="1000" b="1" dirty="0">
                <a:solidFill>
                  <a:srgbClr val="97BC62"/>
                </a:solidFill>
                <a:latin typeface="Calibri" pitchFamily="34" charset="0"/>
                <a:ea typeface="Calibri" pitchFamily="34" charset="-122"/>
                <a:cs typeface="Calibri" pitchFamily="34" charset="-120"/>
              </a:rPr>
              <a:t>→ </a:t>
            </a:r>
            <a:pPr indent="0" marL="0">
              <a:buNone/>
            </a:pPr>
            <a:r>
              <a:rPr lang="en-US" sz="1000" i="1" dirty="0">
                <a:solidFill>
                  <a:srgbClr val="2D3436"/>
                </a:solidFill>
                <a:latin typeface="Calibri" pitchFamily="34" charset="0"/>
                <a:ea typeface="Calibri" pitchFamily="34" charset="-122"/>
                <a:cs typeface="Calibri" pitchFamily="34" charset="-120"/>
              </a:rPr>
              <a:t>Prevents burnout and keeps you aligned with your values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GROWTH MINDSET</a:t>
            </a:r>
            <a:endParaRPr lang="en-US" sz="3600" dirty="0"/>
          </a:p>
        </p:txBody>
      </p:sp>
      <p:pic>
        <p:nvPicPr>
          <p:cNvPr id="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4" name="Text 1"/>
          <p:cNvSpPr/>
          <p:nvPr/>
        </p:nvSpPr>
        <p:spPr>
          <a:xfrm>
            <a:off x="1554480" y="1097280"/>
            <a:ext cx="6949440" cy="73152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A growth mindset is the belief that abilities and intelligence can be developed through effort, learning, and persistence. It's the opposite of a fixed mindset, which assumes talents are innate and unchangeable.</a:t>
            </a:r>
            <a:endParaRPr lang="en-US" sz="1400" dirty="0"/>
          </a:p>
        </p:txBody>
      </p:sp>
      <p:sp>
        <p:nvSpPr>
          <p:cNvPr id="5" name="Shape 2"/>
          <p:cNvSpPr/>
          <p:nvPr/>
        </p:nvSpPr>
        <p:spPr>
          <a:xfrm>
            <a:off x="731520" y="1965960"/>
            <a:ext cx="3657600" cy="320040"/>
          </a:xfrm>
          <a:prstGeom prst="rect">
            <a:avLst/>
          </a:prstGeom>
          <a:solidFill>
            <a:srgbClr val="636E72"/>
          </a:solidFill>
          <a:ln/>
        </p:spPr>
      </p:sp>
      <p:sp>
        <p:nvSpPr>
          <p:cNvPr id="6" name="Text 3"/>
          <p:cNvSpPr/>
          <p:nvPr/>
        </p:nvSpPr>
        <p:spPr>
          <a:xfrm>
            <a:off x="731520" y="2011680"/>
            <a:ext cx="3657600" cy="2286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FIXED MINDSET</a:t>
            </a:r>
            <a:endParaRPr lang="en-US" sz="1400" dirty="0"/>
          </a:p>
        </p:txBody>
      </p:sp>
      <p:sp>
        <p:nvSpPr>
          <p:cNvPr id="7" name="Shape 4"/>
          <p:cNvSpPr/>
          <p:nvPr/>
        </p:nvSpPr>
        <p:spPr>
          <a:xfrm>
            <a:off x="4754880" y="1965960"/>
            <a:ext cx="3657600" cy="320040"/>
          </a:xfrm>
          <a:prstGeom prst="rect">
            <a:avLst/>
          </a:prstGeom>
          <a:solidFill>
            <a:srgbClr val="2C5F2D"/>
          </a:solidFill>
          <a:ln/>
        </p:spPr>
      </p:sp>
      <p:sp>
        <p:nvSpPr>
          <p:cNvPr id="8" name="Text 5"/>
          <p:cNvSpPr/>
          <p:nvPr/>
        </p:nvSpPr>
        <p:spPr>
          <a:xfrm>
            <a:off x="4754880" y="2011680"/>
            <a:ext cx="3657600" cy="22860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GROWTH MINDSET</a:t>
            </a:r>
            <a:endParaRPr lang="en-US" sz="1400" dirty="0"/>
          </a:p>
        </p:txBody>
      </p:sp>
      <p:sp>
        <p:nvSpPr>
          <p:cNvPr id="9" name="Shape 6"/>
          <p:cNvSpPr/>
          <p:nvPr/>
        </p:nvSpPr>
        <p:spPr>
          <a:xfrm>
            <a:off x="731520" y="237744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Text 7"/>
          <p:cNvSpPr/>
          <p:nvPr/>
        </p:nvSpPr>
        <p:spPr>
          <a:xfrm>
            <a:off x="822960" y="2423160"/>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"I'm not good at public speaking"</a:t>
            </a:r>
            <a:endParaRPr lang="en-US" sz="1100" dirty="0"/>
          </a:p>
        </p:txBody>
      </p:sp>
      <p:sp>
        <p:nvSpPr>
          <p:cNvPr id="11" name="Shape 8"/>
          <p:cNvSpPr/>
          <p:nvPr/>
        </p:nvSpPr>
        <p:spPr>
          <a:xfrm>
            <a:off x="4754880" y="237744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Text 9"/>
          <p:cNvSpPr/>
          <p:nvPr/>
        </p:nvSpPr>
        <p:spPr>
          <a:xfrm>
            <a:off x="4846320" y="2423160"/>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"I can improve with practice and feedback"</a:t>
            </a:r>
            <a:endParaRPr lang="en-US" sz="1100" dirty="0"/>
          </a:p>
        </p:txBody>
      </p:sp>
      <p:sp>
        <p:nvSpPr>
          <p:cNvPr id="13" name="Shape 10"/>
          <p:cNvSpPr/>
          <p:nvPr/>
        </p:nvSpPr>
        <p:spPr>
          <a:xfrm>
            <a:off x="731520" y="2807208"/>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Text 11"/>
          <p:cNvSpPr/>
          <p:nvPr/>
        </p:nvSpPr>
        <p:spPr>
          <a:xfrm>
            <a:off x="822960" y="2852928"/>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"This is too hard"</a:t>
            </a:r>
            <a:endParaRPr lang="en-US" sz="1100" dirty="0"/>
          </a:p>
        </p:txBody>
      </p:sp>
      <p:sp>
        <p:nvSpPr>
          <p:cNvPr id="15" name="Shape 12"/>
          <p:cNvSpPr/>
          <p:nvPr/>
        </p:nvSpPr>
        <p:spPr>
          <a:xfrm>
            <a:off x="4754880" y="2807208"/>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Text 13"/>
          <p:cNvSpPr/>
          <p:nvPr/>
        </p:nvSpPr>
        <p:spPr>
          <a:xfrm>
            <a:off x="4846320" y="2852928"/>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"This will take time and effort"</a:t>
            </a:r>
            <a:endParaRPr lang="en-US" sz="1100" dirty="0"/>
          </a:p>
        </p:txBody>
      </p:sp>
      <p:sp>
        <p:nvSpPr>
          <p:cNvPr id="17" name="Shape 14"/>
          <p:cNvSpPr/>
          <p:nvPr/>
        </p:nvSpPr>
        <p:spPr>
          <a:xfrm>
            <a:off x="731520" y="3236976"/>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8" name="Text 15"/>
          <p:cNvSpPr/>
          <p:nvPr/>
        </p:nvSpPr>
        <p:spPr>
          <a:xfrm>
            <a:off x="822960" y="3282696"/>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"I failed—I'm not capable"</a:t>
            </a:r>
            <a:endParaRPr lang="en-US" sz="1100" dirty="0"/>
          </a:p>
        </p:txBody>
      </p:sp>
      <p:sp>
        <p:nvSpPr>
          <p:cNvPr id="19" name="Shape 16"/>
          <p:cNvSpPr/>
          <p:nvPr/>
        </p:nvSpPr>
        <p:spPr>
          <a:xfrm>
            <a:off x="4754880" y="3236976"/>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Text 17"/>
          <p:cNvSpPr/>
          <p:nvPr/>
        </p:nvSpPr>
        <p:spPr>
          <a:xfrm>
            <a:off x="4846320" y="3282696"/>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"I learned what doesn't work—I'll try differently"</a:t>
            </a:r>
            <a:endParaRPr lang="en-US" sz="1100" dirty="0"/>
          </a:p>
        </p:txBody>
      </p:sp>
      <p:sp>
        <p:nvSpPr>
          <p:cNvPr id="21" name="Shape 18"/>
          <p:cNvSpPr/>
          <p:nvPr/>
        </p:nvSpPr>
        <p:spPr>
          <a:xfrm>
            <a:off x="731520" y="3666744"/>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Text 19"/>
          <p:cNvSpPr/>
          <p:nvPr/>
        </p:nvSpPr>
        <p:spPr>
          <a:xfrm>
            <a:off x="822960" y="3712464"/>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"Feedback feels like criticism"</a:t>
            </a:r>
            <a:endParaRPr lang="en-US" sz="1100" dirty="0"/>
          </a:p>
        </p:txBody>
      </p:sp>
      <p:sp>
        <p:nvSpPr>
          <p:cNvPr id="23" name="Shape 20"/>
          <p:cNvSpPr/>
          <p:nvPr/>
        </p:nvSpPr>
        <p:spPr>
          <a:xfrm>
            <a:off x="4754880" y="3666744"/>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Text 21"/>
          <p:cNvSpPr/>
          <p:nvPr/>
        </p:nvSpPr>
        <p:spPr>
          <a:xfrm>
            <a:off x="4846320" y="3712464"/>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"Feedback helps me grow"</a:t>
            </a:r>
            <a:endParaRPr lang="en-US" sz="1100" dirty="0"/>
          </a:p>
        </p:txBody>
      </p:sp>
      <p:sp>
        <p:nvSpPr>
          <p:cNvPr id="25" name="Shape 22"/>
          <p:cNvSpPr/>
          <p:nvPr/>
        </p:nvSpPr>
        <p:spPr>
          <a:xfrm>
            <a:off x="731520" y="4096512"/>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6" name="Text 23"/>
          <p:cNvSpPr/>
          <p:nvPr/>
        </p:nvSpPr>
        <p:spPr>
          <a:xfrm>
            <a:off x="822960" y="4142232"/>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"Others' success threatens me"</a:t>
            </a:r>
            <a:endParaRPr lang="en-US" sz="1100" dirty="0"/>
          </a:p>
        </p:txBody>
      </p:sp>
      <p:sp>
        <p:nvSpPr>
          <p:cNvPr id="27" name="Shape 24"/>
          <p:cNvSpPr/>
          <p:nvPr/>
        </p:nvSpPr>
        <p:spPr>
          <a:xfrm>
            <a:off x="4754880" y="4096512"/>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8" name="Text 25"/>
          <p:cNvSpPr/>
          <p:nvPr/>
        </p:nvSpPr>
        <p:spPr>
          <a:xfrm>
            <a:off x="4846320" y="4142232"/>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"Others' success inspires me"</a:t>
            </a:r>
            <a:endParaRPr lang="en-US" sz="1100" dirty="0"/>
          </a:p>
        </p:txBody>
      </p:sp>
      <p:sp>
        <p:nvSpPr>
          <p:cNvPr id="29" name="Shape 26"/>
          <p:cNvSpPr/>
          <p:nvPr/>
        </p:nvSpPr>
        <p:spPr>
          <a:xfrm>
            <a:off x="731520" y="452628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Text 27"/>
          <p:cNvSpPr/>
          <p:nvPr/>
        </p:nvSpPr>
        <p:spPr>
          <a:xfrm>
            <a:off x="822960" y="4572000"/>
            <a:ext cx="3474720" cy="274320"/>
          </a:xfrm>
          <a:prstGeom prst="rect">
            <a:avLst/>
          </a:prstGeom>
          <a:noFill/>
          <a:ln/>
        </p:spPr>
        <p:txBody>
          <a:bodyPr wrap="square" rtlCol="0" anchor="ctr"/>
          <a:lstStyle/>
          <a:p>
            <a:pPr indent="0" marL="0">
              <a:buNone/>
            </a:pPr>
            <a:r>
              <a:rPr lang="en-US" sz="1100" i="1" dirty="0">
                <a:solidFill>
                  <a:srgbClr val="2D3436"/>
                </a:solidFill>
                <a:latin typeface="Calibri" pitchFamily="34" charset="0"/>
                <a:ea typeface="Calibri" pitchFamily="34" charset="-122"/>
                <a:cs typeface="Calibri" pitchFamily="34" charset="-120"/>
              </a:rPr>
              <a:t>"I give up easily"</a:t>
            </a:r>
            <a:endParaRPr lang="en-US" sz="1100" dirty="0"/>
          </a:p>
        </p:txBody>
      </p:sp>
      <p:sp>
        <p:nvSpPr>
          <p:cNvPr id="31" name="Shape 28"/>
          <p:cNvSpPr/>
          <p:nvPr/>
        </p:nvSpPr>
        <p:spPr>
          <a:xfrm>
            <a:off x="4754880" y="4526280"/>
            <a:ext cx="3657600" cy="3657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2" name="Text 29"/>
          <p:cNvSpPr/>
          <p:nvPr/>
        </p:nvSpPr>
        <p:spPr>
          <a:xfrm>
            <a:off x="4846320" y="4572000"/>
            <a:ext cx="3474720" cy="274320"/>
          </a:xfrm>
          <a:prstGeom prst="rect">
            <a:avLst/>
          </a:prstGeom>
          <a:noFill/>
          <a:ln/>
        </p:spPr>
        <p:txBody>
          <a:bodyPr wrap="square" rtlCol="0" anchor="ctr"/>
          <a:lstStyle/>
          <a:p>
            <a:pPr indent="0" marL="0">
              <a:buNone/>
            </a:pPr>
            <a:r>
              <a:rPr lang="en-US" sz="1100" b="1" dirty="0">
                <a:solidFill>
                  <a:srgbClr val="2D3436"/>
                </a:solidFill>
                <a:latin typeface="Calibri" pitchFamily="34" charset="0"/>
                <a:ea typeface="Calibri" pitchFamily="34" charset="-122"/>
                <a:cs typeface="Calibri" pitchFamily="34" charset="-120"/>
              </a:rPr>
              <a:t>"I persevere through challenges"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CULTIVATING A GROWTH MINDSET</a:t>
            </a:r>
            <a:endParaRPr lang="en-US" sz="3600" dirty="0"/>
          </a:p>
        </p:txBody>
      </p:sp>
      <p:sp>
        <p:nvSpPr>
          <p:cNvPr id="3" name="Shape 1"/>
          <p:cNvSpPr/>
          <p:nvPr/>
        </p:nvSpPr>
        <p:spPr>
          <a:xfrm>
            <a:off x="457200" y="1097280"/>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 name="Shape 2"/>
          <p:cNvSpPr/>
          <p:nvPr/>
        </p:nvSpPr>
        <p:spPr>
          <a:xfrm>
            <a:off x="457200" y="1097280"/>
            <a:ext cx="73152" cy="731520"/>
          </a:xfrm>
          <a:prstGeom prst="rect">
            <a:avLst/>
          </a:prstGeom>
          <a:solidFill>
            <a:srgbClr val="97BC62"/>
          </a:solidFill>
          <a:ln/>
        </p:spPr>
      </p:sp>
      <p:sp>
        <p:nvSpPr>
          <p:cNvPr id="5" name="Text 3"/>
          <p:cNvSpPr/>
          <p:nvPr/>
        </p:nvSpPr>
        <p:spPr>
          <a:xfrm>
            <a:off x="640080" y="1170432"/>
            <a:ext cx="3840480" cy="228600"/>
          </a:xfrm>
          <a:prstGeom prst="rect">
            <a:avLst/>
          </a:prstGeom>
          <a:noFill/>
          <a:ln/>
        </p:spPr>
        <p:txBody>
          <a:bodyPr wrap="square" rtlCol="0" anchor="ctr"/>
          <a:lstStyle/>
          <a:p>
            <a:pPr indent="0" marL="0">
              <a:buNone/>
            </a:pPr>
            <a:r>
              <a:rPr lang="en-US" sz="1300" b="1" dirty="0">
                <a:solidFill>
                  <a:srgbClr val="2C5F2D"/>
                </a:solidFill>
                <a:latin typeface="Arial" pitchFamily="34" charset="0"/>
                <a:ea typeface="Arial" pitchFamily="34" charset="-122"/>
                <a:cs typeface="Arial" pitchFamily="34" charset="-120"/>
              </a:rPr>
              <a:t>Embrace Challenges</a:t>
            </a:r>
            <a:endParaRPr lang="en-US" sz="1300" dirty="0"/>
          </a:p>
        </p:txBody>
      </p:sp>
      <p:sp>
        <p:nvSpPr>
          <p:cNvPr id="6" name="Text 4"/>
          <p:cNvSpPr/>
          <p:nvPr/>
        </p:nvSpPr>
        <p:spPr>
          <a:xfrm>
            <a:off x="640080" y="1426464"/>
            <a:ext cx="3840480" cy="3200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Instead of avoiding difficult tasks, see them as opportunities to learn and expand your capabilities</a:t>
            </a:r>
            <a:endParaRPr lang="en-US" sz="1100" dirty="0"/>
          </a:p>
        </p:txBody>
      </p:sp>
      <p:sp>
        <p:nvSpPr>
          <p:cNvPr id="7" name="Shape 5"/>
          <p:cNvSpPr/>
          <p:nvPr/>
        </p:nvSpPr>
        <p:spPr>
          <a:xfrm>
            <a:off x="4937760" y="1097280"/>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8" name="Shape 6"/>
          <p:cNvSpPr/>
          <p:nvPr/>
        </p:nvSpPr>
        <p:spPr>
          <a:xfrm>
            <a:off x="4937760" y="1097280"/>
            <a:ext cx="73152" cy="731520"/>
          </a:xfrm>
          <a:prstGeom prst="rect">
            <a:avLst/>
          </a:prstGeom>
          <a:solidFill>
            <a:srgbClr val="97BC62"/>
          </a:solidFill>
          <a:ln/>
        </p:spPr>
      </p:sp>
      <p:sp>
        <p:nvSpPr>
          <p:cNvPr id="9" name="Text 7"/>
          <p:cNvSpPr/>
          <p:nvPr/>
        </p:nvSpPr>
        <p:spPr>
          <a:xfrm>
            <a:off x="5120640" y="1170432"/>
            <a:ext cx="3840480" cy="228600"/>
          </a:xfrm>
          <a:prstGeom prst="rect">
            <a:avLst/>
          </a:prstGeom>
          <a:noFill/>
          <a:ln/>
        </p:spPr>
        <p:txBody>
          <a:bodyPr wrap="square" rtlCol="0" anchor="ctr"/>
          <a:lstStyle/>
          <a:p>
            <a:pPr indent="0" marL="0">
              <a:buNone/>
            </a:pPr>
            <a:r>
              <a:rPr lang="en-US" sz="1300" b="1" dirty="0">
                <a:solidFill>
                  <a:srgbClr val="2C5F2D"/>
                </a:solidFill>
                <a:latin typeface="Arial" pitchFamily="34" charset="0"/>
                <a:ea typeface="Arial" pitchFamily="34" charset="-122"/>
                <a:cs typeface="Arial" pitchFamily="34" charset="-120"/>
              </a:rPr>
              <a:t>Reframe Failure</a:t>
            </a:r>
            <a:endParaRPr lang="en-US" sz="1300" dirty="0"/>
          </a:p>
        </p:txBody>
      </p:sp>
      <p:sp>
        <p:nvSpPr>
          <p:cNvPr id="10" name="Text 8"/>
          <p:cNvSpPr/>
          <p:nvPr/>
        </p:nvSpPr>
        <p:spPr>
          <a:xfrm>
            <a:off x="5120640" y="1426464"/>
            <a:ext cx="3840480" cy="3200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View setbacks as valuable feedback, not personal deficiencies. Ask: 'What can I learn from this?'</a:t>
            </a:r>
            <a:endParaRPr lang="en-US" sz="1100" dirty="0"/>
          </a:p>
        </p:txBody>
      </p:sp>
      <p:sp>
        <p:nvSpPr>
          <p:cNvPr id="11" name="Shape 9"/>
          <p:cNvSpPr/>
          <p:nvPr/>
        </p:nvSpPr>
        <p:spPr>
          <a:xfrm>
            <a:off x="457200" y="1947672"/>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2" name="Shape 10"/>
          <p:cNvSpPr/>
          <p:nvPr/>
        </p:nvSpPr>
        <p:spPr>
          <a:xfrm>
            <a:off x="457200" y="1947672"/>
            <a:ext cx="73152" cy="731520"/>
          </a:xfrm>
          <a:prstGeom prst="rect">
            <a:avLst/>
          </a:prstGeom>
          <a:solidFill>
            <a:srgbClr val="97BC62"/>
          </a:solidFill>
          <a:ln/>
        </p:spPr>
      </p:sp>
      <p:sp>
        <p:nvSpPr>
          <p:cNvPr id="13" name="Text 11"/>
          <p:cNvSpPr/>
          <p:nvPr/>
        </p:nvSpPr>
        <p:spPr>
          <a:xfrm>
            <a:off x="640080" y="2020824"/>
            <a:ext cx="3840480" cy="228600"/>
          </a:xfrm>
          <a:prstGeom prst="rect">
            <a:avLst/>
          </a:prstGeom>
          <a:noFill/>
          <a:ln/>
        </p:spPr>
        <p:txBody>
          <a:bodyPr wrap="square" rtlCol="0" anchor="ctr"/>
          <a:lstStyle/>
          <a:p>
            <a:pPr indent="0" marL="0">
              <a:buNone/>
            </a:pPr>
            <a:r>
              <a:rPr lang="en-US" sz="1300" b="1" dirty="0">
                <a:solidFill>
                  <a:srgbClr val="2C5F2D"/>
                </a:solidFill>
                <a:latin typeface="Arial" pitchFamily="34" charset="0"/>
                <a:ea typeface="Arial" pitchFamily="34" charset="-122"/>
                <a:cs typeface="Arial" pitchFamily="34" charset="-120"/>
              </a:rPr>
              <a:t>Celebrate Effort, Not Just Results</a:t>
            </a:r>
            <a:endParaRPr lang="en-US" sz="1300" dirty="0"/>
          </a:p>
        </p:txBody>
      </p:sp>
      <p:sp>
        <p:nvSpPr>
          <p:cNvPr id="14" name="Text 12"/>
          <p:cNvSpPr/>
          <p:nvPr/>
        </p:nvSpPr>
        <p:spPr>
          <a:xfrm>
            <a:off x="640080" y="2276856"/>
            <a:ext cx="3840480" cy="3200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Recognize the work you put in, even if outcomes aren't perfect. Progress matters.</a:t>
            </a:r>
            <a:endParaRPr lang="en-US" sz="1100" dirty="0"/>
          </a:p>
        </p:txBody>
      </p:sp>
      <p:sp>
        <p:nvSpPr>
          <p:cNvPr id="15" name="Shape 13"/>
          <p:cNvSpPr/>
          <p:nvPr/>
        </p:nvSpPr>
        <p:spPr>
          <a:xfrm>
            <a:off x="4937760" y="1947672"/>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Shape 14"/>
          <p:cNvSpPr/>
          <p:nvPr/>
        </p:nvSpPr>
        <p:spPr>
          <a:xfrm>
            <a:off x="4937760" y="1947672"/>
            <a:ext cx="73152" cy="731520"/>
          </a:xfrm>
          <a:prstGeom prst="rect">
            <a:avLst/>
          </a:prstGeom>
          <a:solidFill>
            <a:srgbClr val="97BC62"/>
          </a:solidFill>
          <a:ln/>
        </p:spPr>
      </p:sp>
      <p:sp>
        <p:nvSpPr>
          <p:cNvPr id="17" name="Text 15"/>
          <p:cNvSpPr/>
          <p:nvPr/>
        </p:nvSpPr>
        <p:spPr>
          <a:xfrm>
            <a:off x="5120640" y="2020824"/>
            <a:ext cx="3840480" cy="228600"/>
          </a:xfrm>
          <a:prstGeom prst="rect">
            <a:avLst/>
          </a:prstGeom>
          <a:noFill/>
          <a:ln/>
        </p:spPr>
        <p:txBody>
          <a:bodyPr wrap="square" rtlCol="0" anchor="ctr"/>
          <a:lstStyle/>
          <a:p>
            <a:pPr indent="0" marL="0">
              <a:buNone/>
            </a:pPr>
            <a:r>
              <a:rPr lang="en-US" sz="1300" b="1" dirty="0">
                <a:solidFill>
                  <a:srgbClr val="2C5F2D"/>
                </a:solidFill>
                <a:latin typeface="Arial" pitchFamily="34" charset="0"/>
                <a:ea typeface="Arial" pitchFamily="34" charset="-122"/>
                <a:cs typeface="Arial" pitchFamily="34" charset="-120"/>
              </a:rPr>
              <a:t>Use 'Yet'</a:t>
            </a:r>
            <a:endParaRPr lang="en-US" sz="1300" dirty="0"/>
          </a:p>
        </p:txBody>
      </p:sp>
      <p:sp>
        <p:nvSpPr>
          <p:cNvPr id="18" name="Text 16"/>
          <p:cNvSpPr/>
          <p:nvPr/>
        </p:nvSpPr>
        <p:spPr>
          <a:xfrm>
            <a:off x="5120640" y="2276856"/>
            <a:ext cx="3840480" cy="3200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Add 'yet' to negative self-talk. 'I can't do this... yet.' It implies you're on a journey.</a:t>
            </a:r>
            <a:endParaRPr lang="en-US" sz="1100" dirty="0"/>
          </a:p>
        </p:txBody>
      </p:sp>
      <p:sp>
        <p:nvSpPr>
          <p:cNvPr id="19" name="Shape 17"/>
          <p:cNvSpPr/>
          <p:nvPr/>
        </p:nvSpPr>
        <p:spPr>
          <a:xfrm>
            <a:off x="457200" y="2798064"/>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57200" y="2798064"/>
            <a:ext cx="73152" cy="731520"/>
          </a:xfrm>
          <a:prstGeom prst="rect">
            <a:avLst/>
          </a:prstGeom>
          <a:solidFill>
            <a:srgbClr val="97BC62"/>
          </a:solidFill>
          <a:ln/>
        </p:spPr>
      </p:sp>
      <p:sp>
        <p:nvSpPr>
          <p:cNvPr id="21" name="Text 19"/>
          <p:cNvSpPr/>
          <p:nvPr/>
        </p:nvSpPr>
        <p:spPr>
          <a:xfrm>
            <a:off x="640080" y="2871216"/>
            <a:ext cx="3840480" cy="228600"/>
          </a:xfrm>
          <a:prstGeom prst="rect">
            <a:avLst/>
          </a:prstGeom>
          <a:noFill/>
          <a:ln/>
        </p:spPr>
        <p:txBody>
          <a:bodyPr wrap="square" rtlCol="0" anchor="ctr"/>
          <a:lstStyle/>
          <a:p>
            <a:pPr indent="0" marL="0">
              <a:buNone/>
            </a:pPr>
            <a:r>
              <a:rPr lang="en-US" sz="1300" b="1" dirty="0">
                <a:solidFill>
                  <a:srgbClr val="2C5F2D"/>
                </a:solidFill>
                <a:latin typeface="Arial" pitchFamily="34" charset="0"/>
                <a:ea typeface="Arial" pitchFamily="34" charset="-122"/>
                <a:cs typeface="Arial" pitchFamily="34" charset="-120"/>
              </a:rPr>
              <a:t>Learn from Others</a:t>
            </a:r>
            <a:endParaRPr lang="en-US" sz="1300" dirty="0"/>
          </a:p>
        </p:txBody>
      </p:sp>
      <p:sp>
        <p:nvSpPr>
          <p:cNvPr id="22" name="Text 20"/>
          <p:cNvSpPr/>
          <p:nvPr/>
        </p:nvSpPr>
        <p:spPr>
          <a:xfrm>
            <a:off x="640080" y="3127248"/>
            <a:ext cx="3840480" cy="3200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Study people you admire. Ask: 'How did they develop this skill? What can I apply?'</a:t>
            </a:r>
            <a:endParaRPr lang="en-US" sz="1100" dirty="0"/>
          </a:p>
        </p:txBody>
      </p:sp>
      <p:sp>
        <p:nvSpPr>
          <p:cNvPr id="23" name="Shape 21"/>
          <p:cNvSpPr/>
          <p:nvPr/>
        </p:nvSpPr>
        <p:spPr>
          <a:xfrm>
            <a:off x="4937760" y="2798064"/>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Shape 22"/>
          <p:cNvSpPr/>
          <p:nvPr/>
        </p:nvSpPr>
        <p:spPr>
          <a:xfrm>
            <a:off x="4937760" y="2798064"/>
            <a:ext cx="73152" cy="731520"/>
          </a:xfrm>
          <a:prstGeom prst="rect">
            <a:avLst/>
          </a:prstGeom>
          <a:solidFill>
            <a:srgbClr val="97BC62"/>
          </a:solidFill>
          <a:ln/>
        </p:spPr>
      </p:sp>
      <p:sp>
        <p:nvSpPr>
          <p:cNvPr id="25" name="Text 23"/>
          <p:cNvSpPr/>
          <p:nvPr/>
        </p:nvSpPr>
        <p:spPr>
          <a:xfrm>
            <a:off x="5120640" y="2871216"/>
            <a:ext cx="3840480" cy="228600"/>
          </a:xfrm>
          <a:prstGeom prst="rect">
            <a:avLst/>
          </a:prstGeom>
          <a:noFill/>
          <a:ln/>
        </p:spPr>
        <p:txBody>
          <a:bodyPr wrap="square" rtlCol="0" anchor="ctr"/>
          <a:lstStyle/>
          <a:p>
            <a:pPr indent="0" marL="0">
              <a:buNone/>
            </a:pPr>
            <a:r>
              <a:rPr lang="en-US" sz="1300" b="1" dirty="0">
                <a:solidFill>
                  <a:srgbClr val="2C5F2D"/>
                </a:solidFill>
                <a:latin typeface="Arial" pitchFamily="34" charset="0"/>
                <a:ea typeface="Arial" pitchFamily="34" charset="-122"/>
                <a:cs typeface="Arial" pitchFamily="34" charset="-120"/>
              </a:rPr>
              <a:t>Replace Negative Scripts</a:t>
            </a:r>
            <a:endParaRPr lang="en-US" sz="1300" dirty="0"/>
          </a:p>
        </p:txBody>
      </p:sp>
      <p:sp>
        <p:nvSpPr>
          <p:cNvPr id="26" name="Text 24"/>
          <p:cNvSpPr/>
          <p:nvPr/>
        </p:nvSpPr>
        <p:spPr>
          <a:xfrm>
            <a:off x="5120640" y="3127248"/>
            <a:ext cx="3840480" cy="3200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When you think 'I'm bad at this,' pause and say 'I'm still learning this.'</a:t>
            </a:r>
            <a:endParaRPr lang="en-US" sz="1100" dirty="0"/>
          </a:p>
        </p:txBody>
      </p:sp>
      <p:sp>
        <p:nvSpPr>
          <p:cNvPr id="27" name="Shape 25"/>
          <p:cNvSpPr/>
          <p:nvPr/>
        </p:nvSpPr>
        <p:spPr>
          <a:xfrm>
            <a:off x="457200" y="3648456"/>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8" name="Shape 26"/>
          <p:cNvSpPr/>
          <p:nvPr/>
        </p:nvSpPr>
        <p:spPr>
          <a:xfrm>
            <a:off x="457200" y="3648456"/>
            <a:ext cx="73152" cy="731520"/>
          </a:xfrm>
          <a:prstGeom prst="rect">
            <a:avLst/>
          </a:prstGeom>
          <a:solidFill>
            <a:srgbClr val="97BC62"/>
          </a:solidFill>
          <a:ln/>
        </p:spPr>
      </p:sp>
      <p:sp>
        <p:nvSpPr>
          <p:cNvPr id="29" name="Text 27"/>
          <p:cNvSpPr/>
          <p:nvPr/>
        </p:nvSpPr>
        <p:spPr>
          <a:xfrm>
            <a:off x="640080" y="3721608"/>
            <a:ext cx="3840480" cy="228600"/>
          </a:xfrm>
          <a:prstGeom prst="rect">
            <a:avLst/>
          </a:prstGeom>
          <a:noFill/>
          <a:ln/>
        </p:spPr>
        <p:txBody>
          <a:bodyPr wrap="square" rtlCol="0" anchor="ctr"/>
          <a:lstStyle/>
          <a:p>
            <a:pPr indent="0" marL="0">
              <a:buNone/>
            </a:pPr>
            <a:r>
              <a:rPr lang="en-US" sz="1300" b="1" dirty="0">
                <a:solidFill>
                  <a:srgbClr val="2C5F2D"/>
                </a:solidFill>
                <a:latin typeface="Arial" pitchFamily="34" charset="0"/>
                <a:ea typeface="Arial" pitchFamily="34" charset="-122"/>
                <a:cs typeface="Arial" pitchFamily="34" charset="-120"/>
              </a:rPr>
              <a:t>Set Learning Goals</a:t>
            </a:r>
            <a:endParaRPr lang="en-US" sz="1300" dirty="0"/>
          </a:p>
        </p:txBody>
      </p:sp>
      <p:sp>
        <p:nvSpPr>
          <p:cNvPr id="30" name="Text 28"/>
          <p:cNvSpPr/>
          <p:nvPr/>
        </p:nvSpPr>
        <p:spPr>
          <a:xfrm>
            <a:off x="640080" y="3977640"/>
            <a:ext cx="3840480" cy="3200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Focus on what you want to learn, not just what you want to achieve</a:t>
            </a:r>
            <a:endParaRPr lang="en-US" sz="1100" dirty="0"/>
          </a:p>
        </p:txBody>
      </p:sp>
      <p:sp>
        <p:nvSpPr>
          <p:cNvPr id="31" name="Shape 29"/>
          <p:cNvSpPr/>
          <p:nvPr/>
        </p:nvSpPr>
        <p:spPr>
          <a:xfrm>
            <a:off x="4937760" y="3648456"/>
            <a:ext cx="4206240" cy="73152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2" name="Shape 30"/>
          <p:cNvSpPr/>
          <p:nvPr/>
        </p:nvSpPr>
        <p:spPr>
          <a:xfrm>
            <a:off x="4937760" y="3648456"/>
            <a:ext cx="73152" cy="731520"/>
          </a:xfrm>
          <a:prstGeom prst="rect">
            <a:avLst/>
          </a:prstGeom>
          <a:solidFill>
            <a:srgbClr val="97BC62"/>
          </a:solidFill>
          <a:ln/>
        </p:spPr>
      </p:sp>
      <p:sp>
        <p:nvSpPr>
          <p:cNvPr id="33" name="Text 31"/>
          <p:cNvSpPr/>
          <p:nvPr/>
        </p:nvSpPr>
        <p:spPr>
          <a:xfrm>
            <a:off x="5120640" y="3721608"/>
            <a:ext cx="3840480" cy="228600"/>
          </a:xfrm>
          <a:prstGeom prst="rect">
            <a:avLst/>
          </a:prstGeom>
          <a:noFill/>
          <a:ln/>
        </p:spPr>
        <p:txBody>
          <a:bodyPr wrap="square" rtlCol="0" anchor="ctr"/>
          <a:lstStyle/>
          <a:p>
            <a:pPr indent="0" marL="0">
              <a:buNone/>
            </a:pPr>
            <a:r>
              <a:rPr lang="en-US" sz="1300" b="1" dirty="0">
                <a:solidFill>
                  <a:srgbClr val="2C5F2D"/>
                </a:solidFill>
                <a:latin typeface="Arial" pitchFamily="34" charset="0"/>
                <a:ea typeface="Arial" pitchFamily="34" charset="-122"/>
                <a:cs typeface="Arial" pitchFamily="34" charset="-120"/>
              </a:rPr>
              <a:t>Seek Constructive Feedback</a:t>
            </a:r>
            <a:endParaRPr lang="en-US" sz="1300" dirty="0"/>
          </a:p>
        </p:txBody>
      </p:sp>
      <p:sp>
        <p:nvSpPr>
          <p:cNvPr id="34" name="Text 32"/>
          <p:cNvSpPr/>
          <p:nvPr/>
        </p:nvSpPr>
        <p:spPr>
          <a:xfrm>
            <a:off x="5120640" y="3977640"/>
            <a:ext cx="3840480" cy="32004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Actively ask: 'What's one thing I could improve?' Then act on it.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PUTTING IT ALL TOGETHER</a:t>
            </a:r>
            <a:endParaRPr lang="en-US" sz="3600" dirty="0"/>
          </a:p>
        </p:txBody>
      </p:sp>
      <p:sp>
        <p:nvSpPr>
          <p:cNvPr id="3" name="Text 1"/>
          <p:cNvSpPr/>
          <p:nvPr/>
        </p:nvSpPr>
        <p:spPr>
          <a:xfrm>
            <a:off x="731520" y="1097280"/>
            <a:ext cx="7680960" cy="45720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These soft skills and self-management practices are interconnected. As you develop one, you strengthen others. Here's how they work together in advocacy:</a:t>
            </a:r>
            <a:endParaRPr lang="en-US" sz="1400" dirty="0"/>
          </a:p>
        </p:txBody>
      </p:sp>
      <p:pic>
        <p:nvPicPr>
          <p:cNvPr id="4" name="Image 0" descr="preencoded.png">    </p:cNvPr>
          <p:cNvPicPr>
            <a:picLocks noChangeAspect="1"/>
          </p:cNvPicPr>
          <p:nvPr/>
        </p:nvPicPr>
        <p:blipFill>
          <a:blip r:embed="rId1"/>
          <a:stretch>
            <a:fillRect/>
          </a:stretch>
        </p:blipFill>
        <p:spPr>
          <a:xfrm>
            <a:off x="4206240" y="1691640"/>
            <a:ext cx="731520" cy="731520"/>
          </a:xfrm>
          <a:prstGeom prst="rect">
            <a:avLst/>
          </a:prstGeom>
        </p:spPr>
      </p:pic>
      <p:sp>
        <p:nvSpPr>
          <p:cNvPr id="5" name="Shape 2"/>
          <p:cNvSpPr/>
          <p:nvPr/>
        </p:nvSpPr>
        <p:spPr>
          <a:xfrm>
            <a:off x="457200" y="2560320"/>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3"/>
          <p:cNvSpPr/>
          <p:nvPr/>
        </p:nvSpPr>
        <p:spPr>
          <a:xfrm>
            <a:off x="457200" y="2560320"/>
            <a:ext cx="2011680" cy="457200"/>
          </a:xfrm>
          <a:prstGeom prst="rect">
            <a:avLst/>
          </a:prstGeom>
          <a:solidFill>
            <a:srgbClr val="2C5F2D"/>
          </a:solidFill>
          <a:ln/>
        </p:spPr>
      </p:sp>
      <p:sp>
        <p:nvSpPr>
          <p:cNvPr id="7" name="Text 4"/>
          <p:cNvSpPr/>
          <p:nvPr/>
        </p:nvSpPr>
        <p:spPr>
          <a:xfrm>
            <a:off x="548640" y="2606040"/>
            <a:ext cx="18288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Emotional Intelligence</a:t>
            </a:r>
            <a:endParaRPr lang="en-US" sz="1200" dirty="0"/>
          </a:p>
        </p:txBody>
      </p:sp>
      <p:sp>
        <p:nvSpPr>
          <p:cNvPr id="8" name="Text 5"/>
          <p:cNvSpPr/>
          <p:nvPr/>
        </p:nvSpPr>
        <p:spPr>
          <a:xfrm>
            <a:off x="2606040" y="2606040"/>
            <a:ext cx="274320" cy="365760"/>
          </a:xfrm>
          <a:prstGeom prst="rect">
            <a:avLst/>
          </a:prstGeom>
          <a:noFill/>
          <a:ln/>
        </p:spPr>
        <p:txBody>
          <a:bodyPr wrap="square" rtlCol="0" anchor="ctr"/>
          <a:lstStyle/>
          <a:p>
            <a:pPr algn="ctr" indent="0" marL="0">
              <a:buNone/>
            </a:pPr>
            <a:r>
              <a:rPr lang="en-US" sz="1800" b="1" dirty="0">
                <a:solidFill>
                  <a:srgbClr val="97BC62"/>
                </a:solidFill>
                <a:latin typeface="Arial" pitchFamily="34" charset="0"/>
                <a:ea typeface="Arial" pitchFamily="34" charset="-122"/>
                <a:cs typeface="Arial" pitchFamily="34" charset="-120"/>
              </a:rPr>
              <a:t>+</a:t>
            </a:r>
            <a:endParaRPr lang="en-US" sz="1800" dirty="0"/>
          </a:p>
        </p:txBody>
      </p:sp>
      <p:sp>
        <p:nvSpPr>
          <p:cNvPr id="9" name="Shape 6"/>
          <p:cNvSpPr/>
          <p:nvPr/>
        </p:nvSpPr>
        <p:spPr>
          <a:xfrm>
            <a:off x="3017520" y="2560320"/>
            <a:ext cx="2011680" cy="457200"/>
          </a:xfrm>
          <a:prstGeom prst="rect">
            <a:avLst/>
          </a:prstGeom>
          <a:solidFill>
            <a:srgbClr val="97BC62"/>
          </a:solidFill>
          <a:ln/>
        </p:spPr>
      </p:sp>
      <p:sp>
        <p:nvSpPr>
          <p:cNvPr id="10" name="Text 7"/>
          <p:cNvSpPr/>
          <p:nvPr/>
        </p:nvSpPr>
        <p:spPr>
          <a:xfrm>
            <a:off x="3108960" y="2606040"/>
            <a:ext cx="18288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Self-Awareness</a:t>
            </a:r>
            <a:endParaRPr lang="en-US" sz="1200" dirty="0"/>
          </a:p>
        </p:txBody>
      </p:sp>
      <p:sp>
        <p:nvSpPr>
          <p:cNvPr id="11" name="Text 8"/>
          <p:cNvSpPr/>
          <p:nvPr/>
        </p:nvSpPr>
        <p:spPr>
          <a:xfrm>
            <a:off x="5166360" y="2606040"/>
            <a:ext cx="274320" cy="365760"/>
          </a:xfrm>
          <a:prstGeom prst="rect">
            <a:avLst/>
          </a:prstGeom>
          <a:noFill/>
          <a:ln/>
        </p:spPr>
        <p:txBody>
          <a:bodyPr wrap="square" rtlCol="0" anchor="ctr"/>
          <a:lstStyle/>
          <a:p>
            <a:pPr algn="ctr" indent="0" marL="0">
              <a:buNone/>
            </a:pPr>
            <a:r>
              <a:rPr lang="en-US" sz="1800" b="1" dirty="0">
                <a:solidFill>
                  <a:srgbClr val="D4A574"/>
                </a:solidFill>
                <a:latin typeface="Arial" pitchFamily="34" charset="0"/>
                <a:ea typeface="Arial" pitchFamily="34" charset="-122"/>
                <a:cs typeface="Arial" pitchFamily="34" charset="-120"/>
              </a:rPr>
              <a:t>=</a:t>
            </a:r>
            <a:endParaRPr lang="en-US" sz="1800" dirty="0"/>
          </a:p>
        </p:txBody>
      </p:sp>
      <p:sp>
        <p:nvSpPr>
          <p:cNvPr id="12" name="Text 9"/>
          <p:cNvSpPr/>
          <p:nvPr/>
        </p:nvSpPr>
        <p:spPr>
          <a:xfrm>
            <a:off x="5577840" y="2606040"/>
            <a:ext cx="292608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You understand your triggers and manage emotions effectively in high-pressure situations</a:t>
            </a:r>
            <a:endParaRPr lang="en-US" sz="1100" dirty="0"/>
          </a:p>
        </p:txBody>
      </p:sp>
      <p:sp>
        <p:nvSpPr>
          <p:cNvPr id="13" name="Shape 10"/>
          <p:cNvSpPr/>
          <p:nvPr/>
        </p:nvSpPr>
        <p:spPr>
          <a:xfrm>
            <a:off x="457200" y="3108960"/>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1"/>
          <p:cNvSpPr/>
          <p:nvPr/>
        </p:nvSpPr>
        <p:spPr>
          <a:xfrm>
            <a:off x="457200" y="3108960"/>
            <a:ext cx="2011680" cy="457200"/>
          </a:xfrm>
          <a:prstGeom prst="rect">
            <a:avLst/>
          </a:prstGeom>
          <a:solidFill>
            <a:srgbClr val="2C5F2D"/>
          </a:solidFill>
          <a:ln/>
        </p:spPr>
      </p:sp>
      <p:sp>
        <p:nvSpPr>
          <p:cNvPr id="15" name="Text 12"/>
          <p:cNvSpPr/>
          <p:nvPr/>
        </p:nvSpPr>
        <p:spPr>
          <a:xfrm>
            <a:off x="548640" y="3154680"/>
            <a:ext cx="18288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Empathy</a:t>
            </a:r>
            <a:endParaRPr lang="en-US" sz="1200" dirty="0"/>
          </a:p>
        </p:txBody>
      </p:sp>
      <p:sp>
        <p:nvSpPr>
          <p:cNvPr id="16" name="Text 13"/>
          <p:cNvSpPr/>
          <p:nvPr/>
        </p:nvSpPr>
        <p:spPr>
          <a:xfrm>
            <a:off x="2606040" y="3154680"/>
            <a:ext cx="274320" cy="365760"/>
          </a:xfrm>
          <a:prstGeom prst="rect">
            <a:avLst/>
          </a:prstGeom>
          <a:noFill/>
          <a:ln/>
        </p:spPr>
        <p:txBody>
          <a:bodyPr wrap="square" rtlCol="0" anchor="ctr"/>
          <a:lstStyle/>
          <a:p>
            <a:pPr algn="ctr" indent="0" marL="0">
              <a:buNone/>
            </a:pPr>
            <a:r>
              <a:rPr lang="en-US" sz="1800" b="1" dirty="0">
                <a:solidFill>
                  <a:srgbClr val="97BC62"/>
                </a:solidFill>
                <a:latin typeface="Arial" pitchFamily="34" charset="0"/>
                <a:ea typeface="Arial" pitchFamily="34" charset="-122"/>
                <a:cs typeface="Arial" pitchFamily="34" charset="-120"/>
              </a:rPr>
              <a:t>+</a:t>
            </a:r>
            <a:endParaRPr lang="en-US" sz="1800" dirty="0"/>
          </a:p>
        </p:txBody>
      </p:sp>
      <p:sp>
        <p:nvSpPr>
          <p:cNvPr id="17" name="Shape 14"/>
          <p:cNvSpPr/>
          <p:nvPr/>
        </p:nvSpPr>
        <p:spPr>
          <a:xfrm>
            <a:off x="3017520" y="3108960"/>
            <a:ext cx="2011680" cy="457200"/>
          </a:xfrm>
          <a:prstGeom prst="rect">
            <a:avLst/>
          </a:prstGeom>
          <a:solidFill>
            <a:srgbClr val="97BC62"/>
          </a:solidFill>
          <a:ln/>
        </p:spPr>
      </p:sp>
      <p:sp>
        <p:nvSpPr>
          <p:cNvPr id="18" name="Text 15"/>
          <p:cNvSpPr/>
          <p:nvPr/>
        </p:nvSpPr>
        <p:spPr>
          <a:xfrm>
            <a:off x="3108960" y="3154680"/>
            <a:ext cx="18288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Active Listening</a:t>
            </a:r>
            <a:endParaRPr lang="en-US" sz="1200" dirty="0"/>
          </a:p>
        </p:txBody>
      </p:sp>
      <p:sp>
        <p:nvSpPr>
          <p:cNvPr id="19" name="Text 16"/>
          <p:cNvSpPr/>
          <p:nvPr/>
        </p:nvSpPr>
        <p:spPr>
          <a:xfrm>
            <a:off x="5166360" y="3154680"/>
            <a:ext cx="274320" cy="365760"/>
          </a:xfrm>
          <a:prstGeom prst="rect">
            <a:avLst/>
          </a:prstGeom>
          <a:noFill/>
          <a:ln/>
        </p:spPr>
        <p:txBody>
          <a:bodyPr wrap="square" rtlCol="0" anchor="ctr"/>
          <a:lstStyle/>
          <a:p>
            <a:pPr algn="ctr" indent="0" marL="0">
              <a:buNone/>
            </a:pPr>
            <a:r>
              <a:rPr lang="en-US" sz="1800" b="1" dirty="0">
                <a:solidFill>
                  <a:srgbClr val="D4A574"/>
                </a:solidFill>
                <a:latin typeface="Arial" pitchFamily="34" charset="0"/>
                <a:ea typeface="Arial" pitchFamily="34" charset="-122"/>
                <a:cs typeface="Arial" pitchFamily="34" charset="-120"/>
              </a:rPr>
              <a:t>=</a:t>
            </a:r>
            <a:endParaRPr lang="en-US" sz="1800" dirty="0"/>
          </a:p>
        </p:txBody>
      </p:sp>
      <p:sp>
        <p:nvSpPr>
          <p:cNvPr id="20" name="Text 17"/>
          <p:cNvSpPr/>
          <p:nvPr/>
        </p:nvSpPr>
        <p:spPr>
          <a:xfrm>
            <a:off x="5577840" y="3154680"/>
            <a:ext cx="292608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You build deep trust with community members and understand their true needs</a:t>
            </a:r>
            <a:endParaRPr lang="en-US" sz="1100" dirty="0"/>
          </a:p>
        </p:txBody>
      </p:sp>
      <p:sp>
        <p:nvSpPr>
          <p:cNvPr id="21" name="Shape 18"/>
          <p:cNvSpPr/>
          <p:nvPr/>
        </p:nvSpPr>
        <p:spPr>
          <a:xfrm>
            <a:off x="457200" y="3657600"/>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2" name="Shape 19"/>
          <p:cNvSpPr/>
          <p:nvPr/>
        </p:nvSpPr>
        <p:spPr>
          <a:xfrm>
            <a:off x="457200" y="3657600"/>
            <a:ext cx="2011680" cy="457200"/>
          </a:xfrm>
          <a:prstGeom prst="rect">
            <a:avLst/>
          </a:prstGeom>
          <a:solidFill>
            <a:srgbClr val="2C5F2D"/>
          </a:solidFill>
          <a:ln/>
        </p:spPr>
      </p:sp>
      <p:sp>
        <p:nvSpPr>
          <p:cNvPr id="23" name="Text 20"/>
          <p:cNvSpPr/>
          <p:nvPr/>
        </p:nvSpPr>
        <p:spPr>
          <a:xfrm>
            <a:off x="548640" y="3703320"/>
            <a:ext cx="18288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Growth Mindset</a:t>
            </a:r>
            <a:endParaRPr lang="en-US" sz="1200" dirty="0"/>
          </a:p>
        </p:txBody>
      </p:sp>
      <p:sp>
        <p:nvSpPr>
          <p:cNvPr id="24" name="Text 21"/>
          <p:cNvSpPr/>
          <p:nvPr/>
        </p:nvSpPr>
        <p:spPr>
          <a:xfrm>
            <a:off x="2606040" y="3703320"/>
            <a:ext cx="274320" cy="365760"/>
          </a:xfrm>
          <a:prstGeom prst="rect">
            <a:avLst/>
          </a:prstGeom>
          <a:noFill/>
          <a:ln/>
        </p:spPr>
        <p:txBody>
          <a:bodyPr wrap="square" rtlCol="0" anchor="ctr"/>
          <a:lstStyle/>
          <a:p>
            <a:pPr algn="ctr" indent="0" marL="0">
              <a:buNone/>
            </a:pPr>
            <a:r>
              <a:rPr lang="en-US" sz="1800" b="1" dirty="0">
                <a:solidFill>
                  <a:srgbClr val="97BC62"/>
                </a:solidFill>
                <a:latin typeface="Arial" pitchFamily="34" charset="0"/>
                <a:ea typeface="Arial" pitchFamily="34" charset="-122"/>
                <a:cs typeface="Arial" pitchFamily="34" charset="-120"/>
              </a:rPr>
              <a:t>+</a:t>
            </a:r>
            <a:endParaRPr lang="en-US" sz="1800" dirty="0"/>
          </a:p>
        </p:txBody>
      </p:sp>
      <p:sp>
        <p:nvSpPr>
          <p:cNvPr id="25" name="Shape 22"/>
          <p:cNvSpPr/>
          <p:nvPr/>
        </p:nvSpPr>
        <p:spPr>
          <a:xfrm>
            <a:off x="3017520" y="3657600"/>
            <a:ext cx="2011680" cy="457200"/>
          </a:xfrm>
          <a:prstGeom prst="rect">
            <a:avLst/>
          </a:prstGeom>
          <a:solidFill>
            <a:srgbClr val="97BC62"/>
          </a:solidFill>
          <a:ln/>
        </p:spPr>
      </p:sp>
      <p:sp>
        <p:nvSpPr>
          <p:cNvPr id="26" name="Text 23"/>
          <p:cNvSpPr/>
          <p:nvPr/>
        </p:nvSpPr>
        <p:spPr>
          <a:xfrm>
            <a:off x="3108960" y="3703320"/>
            <a:ext cx="18288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Resilience</a:t>
            </a:r>
            <a:endParaRPr lang="en-US" sz="1200" dirty="0"/>
          </a:p>
        </p:txBody>
      </p:sp>
      <p:sp>
        <p:nvSpPr>
          <p:cNvPr id="27" name="Text 24"/>
          <p:cNvSpPr/>
          <p:nvPr/>
        </p:nvSpPr>
        <p:spPr>
          <a:xfrm>
            <a:off x="5166360" y="3703320"/>
            <a:ext cx="274320" cy="365760"/>
          </a:xfrm>
          <a:prstGeom prst="rect">
            <a:avLst/>
          </a:prstGeom>
          <a:noFill/>
          <a:ln/>
        </p:spPr>
        <p:txBody>
          <a:bodyPr wrap="square" rtlCol="0" anchor="ctr"/>
          <a:lstStyle/>
          <a:p>
            <a:pPr algn="ctr" indent="0" marL="0">
              <a:buNone/>
            </a:pPr>
            <a:r>
              <a:rPr lang="en-US" sz="1800" b="1" dirty="0">
                <a:solidFill>
                  <a:srgbClr val="D4A574"/>
                </a:solidFill>
                <a:latin typeface="Arial" pitchFamily="34" charset="0"/>
                <a:ea typeface="Arial" pitchFamily="34" charset="-122"/>
                <a:cs typeface="Arial" pitchFamily="34" charset="-120"/>
              </a:rPr>
              <a:t>=</a:t>
            </a:r>
            <a:endParaRPr lang="en-US" sz="1800" dirty="0"/>
          </a:p>
        </p:txBody>
      </p:sp>
      <p:sp>
        <p:nvSpPr>
          <p:cNvPr id="28" name="Text 25"/>
          <p:cNvSpPr/>
          <p:nvPr/>
        </p:nvSpPr>
        <p:spPr>
          <a:xfrm>
            <a:off x="5577840" y="3703320"/>
            <a:ext cx="292608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You view setbacks as learning opportunities and bounce back stronger</a:t>
            </a:r>
            <a:endParaRPr lang="en-US" sz="1100" dirty="0"/>
          </a:p>
        </p:txBody>
      </p:sp>
      <p:sp>
        <p:nvSpPr>
          <p:cNvPr id="29" name="Shape 26"/>
          <p:cNvSpPr/>
          <p:nvPr/>
        </p:nvSpPr>
        <p:spPr>
          <a:xfrm>
            <a:off x="457200" y="4206240"/>
            <a:ext cx="8229600" cy="4572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Shape 27"/>
          <p:cNvSpPr/>
          <p:nvPr/>
        </p:nvSpPr>
        <p:spPr>
          <a:xfrm>
            <a:off x="457200" y="4206240"/>
            <a:ext cx="2011680" cy="457200"/>
          </a:xfrm>
          <a:prstGeom prst="rect">
            <a:avLst/>
          </a:prstGeom>
          <a:solidFill>
            <a:srgbClr val="2C5F2D"/>
          </a:solidFill>
          <a:ln/>
        </p:spPr>
      </p:sp>
      <p:sp>
        <p:nvSpPr>
          <p:cNvPr id="31" name="Text 28"/>
          <p:cNvSpPr/>
          <p:nvPr/>
        </p:nvSpPr>
        <p:spPr>
          <a:xfrm>
            <a:off x="548640" y="4251960"/>
            <a:ext cx="18288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Teamwork</a:t>
            </a:r>
            <a:endParaRPr lang="en-US" sz="1200" dirty="0"/>
          </a:p>
        </p:txBody>
      </p:sp>
      <p:sp>
        <p:nvSpPr>
          <p:cNvPr id="32" name="Text 29"/>
          <p:cNvSpPr/>
          <p:nvPr/>
        </p:nvSpPr>
        <p:spPr>
          <a:xfrm>
            <a:off x="2606040" y="4251960"/>
            <a:ext cx="274320" cy="365760"/>
          </a:xfrm>
          <a:prstGeom prst="rect">
            <a:avLst/>
          </a:prstGeom>
          <a:noFill/>
          <a:ln/>
        </p:spPr>
        <p:txBody>
          <a:bodyPr wrap="square" rtlCol="0" anchor="ctr"/>
          <a:lstStyle/>
          <a:p>
            <a:pPr algn="ctr" indent="0" marL="0">
              <a:buNone/>
            </a:pPr>
            <a:r>
              <a:rPr lang="en-US" sz="1800" b="1" dirty="0">
                <a:solidFill>
                  <a:srgbClr val="97BC62"/>
                </a:solidFill>
                <a:latin typeface="Arial" pitchFamily="34" charset="0"/>
                <a:ea typeface="Arial" pitchFamily="34" charset="-122"/>
                <a:cs typeface="Arial" pitchFamily="34" charset="-120"/>
              </a:rPr>
              <a:t>+</a:t>
            </a:r>
            <a:endParaRPr lang="en-US" sz="1800" dirty="0"/>
          </a:p>
        </p:txBody>
      </p:sp>
      <p:sp>
        <p:nvSpPr>
          <p:cNvPr id="33" name="Shape 30"/>
          <p:cNvSpPr/>
          <p:nvPr/>
        </p:nvSpPr>
        <p:spPr>
          <a:xfrm>
            <a:off x="3017520" y="4206240"/>
            <a:ext cx="2011680" cy="457200"/>
          </a:xfrm>
          <a:prstGeom prst="rect">
            <a:avLst/>
          </a:prstGeom>
          <a:solidFill>
            <a:srgbClr val="97BC62"/>
          </a:solidFill>
          <a:ln/>
        </p:spPr>
      </p:sp>
      <p:sp>
        <p:nvSpPr>
          <p:cNvPr id="34" name="Text 31"/>
          <p:cNvSpPr/>
          <p:nvPr/>
        </p:nvSpPr>
        <p:spPr>
          <a:xfrm>
            <a:off x="3108960" y="4251960"/>
            <a:ext cx="182880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Stress Management</a:t>
            </a:r>
            <a:endParaRPr lang="en-US" sz="1200" dirty="0"/>
          </a:p>
        </p:txBody>
      </p:sp>
      <p:sp>
        <p:nvSpPr>
          <p:cNvPr id="35" name="Text 32"/>
          <p:cNvSpPr/>
          <p:nvPr/>
        </p:nvSpPr>
        <p:spPr>
          <a:xfrm>
            <a:off x="5166360" y="4251960"/>
            <a:ext cx="274320" cy="365760"/>
          </a:xfrm>
          <a:prstGeom prst="rect">
            <a:avLst/>
          </a:prstGeom>
          <a:noFill/>
          <a:ln/>
        </p:spPr>
        <p:txBody>
          <a:bodyPr wrap="square" rtlCol="0" anchor="ctr"/>
          <a:lstStyle/>
          <a:p>
            <a:pPr algn="ctr" indent="0" marL="0">
              <a:buNone/>
            </a:pPr>
            <a:r>
              <a:rPr lang="en-US" sz="1800" b="1" dirty="0">
                <a:solidFill>
                  <a:srgbClr val="D4A574"/>
                </a:solidFill>
                <a:latin typeface="Arial" pitchFamily="34" charset="0"/>
                <a:ea typeface="Arial" pitchFamily="34" charset="-122"/>
                <a:cs typeface="Arial" pitchFamily="34" charset="-120"/>
              </a:rPr>
              <a:t>=</a:t>
            </a:r>
            <a:endParaRPr lang="en-US" sz="1800" dirty="0"/>
          </a:p>
        </p:txBody>
      </p:sp>
      <p:sp>
        <p:nvSpPr>
          <p:cNvPr id="36" name="Text 33"/>
          <p:cNvSpPr/>
          <p:nvPr/>
        </p:nvSpPr>
        <p:spPr>
          <a:xfrm>
            <a:off x="5577840" y="4251960"/>
            <a:ext cx="292608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You collaborate effectively without burning out or overwhelming your teammates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YOUR 30-DAY ACTION PLAN</a:t>
            </a:r>
            <a:endParaRPr lang="en-US" sz="3600" dirty="0"/>
          </a:p>
        </p:txBody>
      </p:sp>
      <p:sp>
        <p:nvSpPr>
          <p:cNvPr id="3" name="Text 1"/>
          <p:cNvSpPr/>
          <p:nvPr/>
        </p:nvSpPr>
        <p:spPr>
          <a:xfrm>
            <a:off x="731520" y="1097280"/>
            <a:ext cx="7680960" cy="365760"/>
          </a:xfrm>
          <a:prstGeom prst="rect">
            <a:avLst/>
          </a:prstGeom>
          <a:noFill/>
          <a:ln/>
        </p:spPr>
        <p:txBody>
          <a:bodyPr wrap="square" rtlCol="0" anchor="ctr"/>
          <a:lstStyle/>
          <a:p>
            <a:pPr indent="0" marL="0">
              <a:buNone/>
            </a:pPr>
            <a:r>
              <a:rPr lang="en-US" sz="1400" dirty="0">
                <a:solidFill>
                  <a:srgbClr val="2D3436"/>
                </a:solidFill>
                <a:latin typeface="Calibri" pitchFamily="34" charset="0"/>
                <a:ea typeface="Calibri" pitchFamily="34" charset="-122"/>
                <a:cs typeface="Calibri" pitchFamily="34" charset="-120"/>
              </a:rPr>
              <a:t>Start developing these skills today. Here's a structured plan to guide your first month:</a:t>
            </a:r>
            <a:endParaRPr lang="en-US" sz="1400" dirty="0"/>
          </a:p>
        </p:txBody>
      </p:sp>
      <p:sp>
        <p:nvSpPr>
          <p:cNvPr id="4" name="Shape 2"/>
          <p:cNvSpPr/>
          <p:nvPr/>
        </p:nvSpPr>
        <p:spPr>
          <a:xfrm>
            <a:off x="457200" y="1645920"/>
            <a:ext cx="4206240" cy="11430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1645920"/>
            <a:ext cx="4206240" cy="365760"/>
          </a:xfrm>
          <a:prstGeom prst="rect">
            <a:avLst/>
          </a:prstGeom>
          <a:solidFill>
            <a:srgbClr val="2C5F2D"/>
          </a:solidFill>
          <a:ln/>
        </p:spPr>
      </p:sp>
      <p:sp>
        <p:nvSpPr>
          <p:cNvPr id="6" name="Text 4"/>
          <p:cNvSpPr/>
          <p:nvPr/>
        </p:nvSpPr>
        <p:spPr>
          <a:xfrm>
            <a:off x="640080" y="1691640"/>
            <a:ext cx="384048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Week 1</a:t>
            </a:r>
            <a:endParaRPr lang="en-US" sz="1600" dirty="0"/>
          </a:p>
        </p:txBody>
      </p:sp>
      <p:sp>
        <p:nvSpPr>
          <p:cNvPr id="7" name="Text 5"/>
          <p:cNvSpPr/>
          <p:nvPr/>
        </p:nvSpPr>
        <p:spPr>
          <a:xfrm>
            <a:off x="640080" y="2103120"/>
            <a:ext cx="3840480" cy="228600"/>
          </a:xfrm>
          <a:prstGeom prst="rect">
            <a:avLst/>
          </a:prstGeom>
          <a:noFill/>
          <a:ln/>
        </p:spPr>
        <p:txBody>
          <a:bodyPr wrap="square" rtlCol="0" anchor="ctr"/>
          <a:lstStyle/>
          <a:p>
            <a:pPr indent="0" marL="0">
              <a:buNone/>
            </a:pPr>
            <a:r>
              <a:rPr lang="en-US" sz="1300" b="1" i="1" dirty="0">
                <a:solidFill>
                  <a:srgbClr val="97BC62"/>
                </a:solidFill>
                <a:latin typeface="Arial" pitchFamily="34" charset="0"/>
                <a:ea typeface="Arial" pitchFamily="34" charset="-122"/>
                <a:cs typeface="Arial" pitchFamily="34" charset="-120"/>
              </a:rPr>
              <a:t>Self-Awareness</a:t>
            </a:r>
            <a:endParaRPr lang="en-US" sz="1300" dirty="0"/>
          </a:p>
        </p:txBody>
      </p:sp>
      <p:sp>
        <p:nvSpPr>
          <p:cNvPr id="8" name="Text 6"/>
          <p:cNvSpPr/>
          <p:nvPr/>
        </p:nvSpPr>
        <p:spPr>
          <a:xfrm>
            <a:off x="640080" y="2377440"/>
            <a:ext cx="384048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Start a daily journal (10 mins/day)</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Take one personality assessment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Ask 2 trusted people for feedback</a:t>
            </a:r>
            <a:endParaRPr lang="en-US" sz="1100" dirty="0"/>
          </a:p>
        </p:txBody>
      </p:sp>
      <p:sp>
        <p:nvSpPr>
          <p:cNvPr id="9" name="Shape 7"/>
          <p:cNvSpPr/>
          <p:nvPr/>
        </p:nvSpPr>
        <p:spPr>
          <a:xfrm>
            <a:off x="4937760" y="1645920"/>
            <a:ext cx="4206240" cy="11430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937760" y="1645920"/>
            <a:ext cx="4206240" cy="365760"/>
          </a:xfrm>
          <a:prstGeom prst="rect">
            <a:avLst/>
          </a:prstGeom>
          <a:solidFill>
            <a:srgbClr val="2C5F2D"/>
          </a:solidFill>
          <a:ln/>
        </p:spPr>
      </p:sp>
      <p:sp>
        <p:nvSpPr>
          <p:cNvPr id="11" name="Text 9"/>
          <p:cNvSpPr/>
          <p:nvPr/>
        </p:nvSpPr>
        <p:spPr>
          <a:xfrm>
            <a:off x="5120640" y="1691640"/>
            <a:ext cx="384048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Week 2</a:t>
            </a:r>
            <a:endParaRPr lang="en-US" sz="1600" dirty="0"/>
          </a:p>
        </p:txBody>
      </p:sp>
      <p:sp>
        <p:nvSpPr>
          <p:cNvPr id="12" name="Text 10"/>
          <p:cNvSpPr/>
          <p:nvPr/>
        </p:nvSpPr>
        <p:spPr>
          <a:xfrm>
            <a:off x="5120640" y="2103120"/>
            <a:ext cx="3840480" cy="228600"/>
          </a:xfrm>
          <a:prstGeom prst="rect">
            <a:avLst/>
          </a:prstGeom>
          <a:noFill/>
          <a:ln/>
        </p:spPr>
        <p:txBody>
          <a:bodyPr wrap="square" rtlCol="0" anchor="ctr"/>
          <a:lstStyle/>
          <a:p>
            <a:pPr indent="0" marL="0">
              <a:buNone/>
            </a:pPr>
            <a:r>
              <a:rPr lang="en-US" sz="1300" b="1" i="1" dirty="0">
                <a:solidFill>
                  <a:srgbClr val="97BC62"/>
                </a:solidFill>
                <a:latin typeface="Arial" pitchFamily="34" charset="0"/>
                <a:ea typeface="Arial" pitchFamily="34" charset="-122"/>
                <a:cs typeface="Arial" pitchFamily="34" charset="-120"/>
              </a:rPr>
              <a:t>Emotional Intelligence &amp; Empathy</a:t>
            </a:r>
            <a:endParaRPr lang="en-US" sz="1300" dirty="0"/>
          </a:p>
        </p:txBody>
      </p:sp>
      <p:sp>
        <p:nvSpPr>
          <p:cNvPr id="13" name="Text 11"/>
          <p:cNvSpPr/>
          <p:nvPr/>
        </p:nvSpPr>
        <p:spPr>
          <a:xfrm>
            <a:off x="5120640" y="2377440"/>
            <a:ext cx="384048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Practice active listening in 3 conversations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Identify your emotional triggers</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Use 'I feel...' statements when upset</a:t>
            </a:r>
            <a:endParaRPr lang="en-US" sz="1100" dirty="0"/>
          </a:p>
        </p:txBody>
      </p:sp>
      <p:sp>
        <p:nvSpPr>
          <p:cNvPr id="14" name="Shape 12"/>
          <p:cNvSpPr/>
          <p:nvPr/>
        </p:nvSpPr>
        <p:spPr>
          <a:xfrm>
            <a:off x="457200" y="2926080"/>
            <a:ext cx="4206240" cy="11430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5" name="Shape 13"/>
          <p:cNvSpPr/>
          <p:nvPr/>
        </p:nvSpPr>
        <p:spPr>
          <a:xfrm>
            <a:off x="457200" y="2926080"/>
            <a:ext cx="4206240" cy="365760"/>
          </a:xfrm>
          <a:prstGeom prst="rect">
            <a:avLst/>
          </a:prstGeom>
          <a:solidFill>
            <a:srgbClr val="2C5F2D"/>
          </a:solidFill>
          <a:ln/>
        </p:spPr>
      </p:sp>
      <p:sp>
        <p:nvSpPr>
          <p:cNvPr id="16" name="Text 14"/>
          <p:cNvSpPr/>
          <p:nvPr/>
        </p:nvSpPr>
        <p:spPr>
          <a:xfrm>
            <a:off x="640080" y="2971800"/>
            <a:ext cx="384048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Week 3</a:t>
            </a:r>
            <a:endParaRPr lang="en-US" sz="1600" dirty="0"/>
          </a:p>
        </p:txBody>
      </p:sp>
      <p:sp>
        <p:nvSpPr>
          <p:cNvPr id="17" name="Text 15"/>
          <p:cNvSpPr/>
          <p:nvPr/>
        </p:nvSpPr>
        <p:spPr>
          <a:xfrm>
            <a:off x="640080" y="3383280"/>
            <a:ext cx="3840480" cy="228600"/>
          </a:xfrm>
          <a:prstGeom prst="rect">
            <a:avLst/>
          </a:prstGeom>
          <a:noFill/>
          <a:ln/>
        </p:spPr>
        <p:txBody>
          <a:bodyPr wrap="square" rtlCol="0" anchor="ctr"/>
          <a:lstStyle/>
          <a:p>
            <a:pPr indent="0" marL="0">
              <a:buNone/>
            </a:pPr>
            <a:r>
              <a:rPr lang="en-US" sz="1300" b="1" i="1" dirty="0">
                <a:solidFill>
                  <a:srgbClr val="97BC62"/>
                </a:solidFill>
                <a:latin typeface="Arial" pitchFamily="34" charset="0"/>
                <a:ea typeface="Arial" pitchFamily="34" charset="-122"/>
                <a:cs typeface="Arial" pitchFamily="34" charset="-120"/>
              </a:rPr>
              <a:t>Teamwork &amp; Collaboration</a:t>
            </a:r>
            <a:endParaRPr lang="en-US" sz="1300" dirty="0"/>
          </a:p>
        </p:txBody>
      </p:sp>
      <p:sp>
        <p:nvSpPr>
          <p:cNvPr id="18" name="Text 16"/>
          <p:cNvSpPr/>
          <p:nvPr/>
        </p:nvSpPr>
        <p:spPr>
          <a:xfrm>
            <a:off x="640080" y="3657600"/>
            <a:ext cx="384048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Initiate a team check-in meeting</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Delegate one task you usually do alone</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Practice collaborative decision-making</a:t>
            </a:r>
            <a:endParaRPr lang="en-US" sz="1100" dirty="0"/>
          </a:p>
        </p:txBody>
      </p:sp>
      <p:sp>
        <p:nvSpPr>
          <p:cNvPr id="19" name="Shape 17"/>
          <p:cNvSpPr/>
          <p:nvPr/>
        </p:nvSpPr>
        <p:spPr>
          <a:xfrm>
            <a:off x="4937760" y="2926080"/>
            <a:ext cx="4206240" cy="11430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4937760" y="2926080"/>
            <a:ext cx="4206240" cy="365760"/>
          </a:xfrm>
          <a:prstGeom prst="rect">
            <a:avLst/>
          </a:prstGeom>
          <a:solidFill>
            <a:srgbClr val="2C5F2D"/>
          </a:solidFill>
          <a:ln/>
        </p:spPr>
      </p:sp>
      <p:sp>
        <p:nvSpPr>
          <p:cNvPr id="21" name="Text 19"/>
          <p:cNvSpPr/>
          <p:nvPr/>
        </p:nvSpPr>
        <p:spPr>
          <a:xfrm>
            <a:off x="5120640" y="2971800"/>
            <a:ext cx="3840480" cy="27432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Week 4</a:t>
            </a:r>
            <a:endParaRPr lang="en-US" sz="1600" dirty="0"/>
          </a:p>
        </p:txBody>
      </p:sp>
      <p:sp>
        <p:nvSpPr>
          <p:cNvPr id="22" name="Text 20"/>
          <p:cNvSpPr/>
          <p:nvPr/>
        </p:nvSpPr>
        <p:spPr>
          <a:xfrm>
            <a:off x="5120640" y="3383280"/>
            <a:ext cx="3840480" cy="228600"/>
          </a:xfrm>
          <a:prstGeom prst="rect">
            <a:avLst/>
          </a:prstGeom>
          <a:noFill/>
          <a:ln/>
        </p:spPr>
        <p:txBody>
          <a:bodyPr wrap="square" rtlCol="0" anchor="ctr"/>
          <a:lstStyle/>
          <a:p>
            <a:pPr indent="0" marL="0">
              <a:buNone/>
            </a:pPr>
            <a:r>
              <a:rPr lang="en-US" sz="1300" b="1" i="1" dirty="0">
                <a:solidFill>
                  <a:srgbClr val="97BC62"/>
                </a:solidFill>
                <a:latin typeface="Arial" pitchFamily="34" charset="0"/>
                <a:ea typeface="Arial" pitchFamily="34" charset="-122"/>
                <a:cs typeface="Arial" pitchFamily="34" charset="-120"/>
              </a:rPr>
              <a:t>Resilience &amp; Growth Mindset</a:t>
            </a:r>
            <a:endParaRPr lang="en-US" sz="1300" dirty="0"/>
          </a:p>
        </p:txBody>
      </p:sp>
      <p:sp>
        <p:nvSpPr>
          <p:cNvPr id="23" name="Text 21"/>
          <p:cNvSpPr/>
          <p:nvPr/>
        </p:nvSpPr>
        <p:spPr>
          <a:xfrm>
            <a:off x="5120640" y="3657600"/>
            <a:ext cx="3840480" cy="365760"/>
          </a:xfrm>
          <a:prstGeom prst="rect">
            <a:avLst/>
          </a:prstGeom>
          <a:noFill/>
          <a:ln/>
        </p:spPr>
        <p:txBody>
          <a:bodyPr wrap="square" rtlCol="0" anchor="ctr"/>
          <a:lstStyle/>
          <a:p>
            <a:pPr indent="0" marL="0">
              <a:buNone/>
            </a:pPr>
            <a:r>
              <a:rPr lang="en-US" sz="1100" dirty="0">
                <a:solidFill>
                  <a:srgbClr val="2D3436"/>
                </a:solidFill>
                <a:latin typeface="Calibri" pitchFamily="34" charset="0"/>
                <a:ea typeface="Calibri" pitchFamily="34" charset="-122"/>
                <a:cs typeface="Calibri" pitchFamily="34" charset="-120"/>
              </a:rPr>
              <a:t>✓ Reflect on a recent setback—what did you learn?</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Replace one negative script with 'yet'</a:t>
            </a:r>
            <a:endParaRPr lang="en-US" sz="1100" dirty="0"/>
          </a:p>
          <a:p>
            <a:pPr indent="0" marL="0">
              <a:buNone/>
            </a:pPr>
            <a:r>
              <a:rPr lang="en-US" sz="1100" dirty="0">
                <a:solidFill>
                  <a:srgbClr val="2D3436"/>
                </a:solidFill>
                <a:latin typeface="Calibri" pitchFamily="34" charset="0"/>
                <a:ea typeface="Calibri" pitchFamily="34" charset="-122"/>
                <a:cs typeface="Calibri" pitchFamily="34" charset="-120"/>
              </a:rPr>
              <a:t>✓ Celebrate effort in yourself and teammates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indent="0" marL="0">
              <a:buNone/>
            </a:pPr>
            <a:r>
              <a:rPr lang="en-US" sz="3600" b="1" dirty="0">
                <a:solidFill>
                  <a:srgbClr val="1A3A1B"/>
                </a:solidFill>
                <a:latin typeface="Arial Black" pitchFamily="34" charset="0"/>
                <a:ea typeface="Arial Black" pitchFamily="34" charset="-122"/>
                <a:cs typeface="Arial Black" pitchFamily="34" charset="-120"/>
              </a:rPr>
              <a:t>KEY TAKEAWAYS</a:t>
            </a:r>
            <a:endParaRPr lang="en-US" sz="3600" dirty="0"/>
          </a:p>
        </p:txBody>
      </p:sp>
      <p:sp>
        <p:nvSpPr>
          <p:cNvPr id="3" name="Shape 1"/>
          <p:cNvSpPr/>
          <p:nvPr/>
        </p:nvSpPr>
        <p:spPr>
          <a:xfrm>
            <a:off x="731520" y="1234440"/>
            <a:ext cx="365760" cy="365760"/>
          </a:xfrm>
          <a:prstGeom prst="ellipse">
            <a:avLst/>
          </a:prstGeom>
          <a:solidFill>
            <a:srgbClr val="97BC62"/>
          </a:solidFill>
          <a:ln/>
        </p:spPr>
      </p:sp>
      <p:sp>
        <p:nvSpPr>
          <p:cNvPr id="4" name="Text 2"/>
          <p:cNvSpPr/>
          <p:nvPr/>
        </p:nvSpPr>
        <p:spPr>
          <a:xfrm>
            <a:off x="731520" y="12344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5" name="Text 3"/>
          <p:cNvSpPr/>
          <p:nvPr/>
        </p:nvSpPr>
        <p:spPr>
          <a:xfrm>
            <a:off x="1234440" y="12344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Soft skills are learnable—you're not born with them, you develop them through practice</a:t>
            </a:r>
            <a:endParaRPr lang="en-US" sz="1300" dirty="0"/>
          </a:p>
        </p:txBody>
      </p:sp>
      <p:sp>
        <p:nvSpPr>
          <p:cNvPr id="6" name="Shape 4"/>
          <p:cNvSpPr/>
          <p:nvPr/>
        </p:nvSpPr>
        <p:spPr>
          <a:xfrm>
            <a:off x="731520" y="1691640"/>
            <a:ext cx="365760" cy="365760"/>
          </a:xfrm>
          <a:prstGeom prst="ellipse">
            <a:avLst/>
          </a:prstGeom>
          <a:solidFill>
            <a:srgbClr val="97BC62"/>
          </a:solidFill>
          <a:ln/>
        </p:spPr>
      </p:sp>
      <p:sp>
        <p:nvSpPr>
          <p:cNvPr id="7" name="Text 5"/>
          <p:cNvSpPr/>
          <p:nvPr/>
        </p:nvSpPr>
        <p:spPr>
          <a:xfrm>
            <a:off x="731520" y="16916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8" name="Text 6"/>
          <p:cNvSpPr/>
          <p:nvPr/>
        </p:nvSpPr>
        <p:spPr>
          <a:xfrm>
            <a:off x="1234440" y="16916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Emotional intelligence helps you understand yourself and connect with others authentically</a:t>
            </a:r>
            <a:endParaRPr lang="en-US" sz="1300" dirty="0"/>
          </a:p>
        </p:txBody>
      </p:sp>
      <p:sp>
        <p:nvSpPr>
          <p:cNvPr id="9" name="Shape 7"/>
          <p:cNvSpPr/>
          <p:nvPr/>
        </p:nvSpPr>
        <p:spPr>
          <a:xfrm>
            <a:off x="731520" y="2148840"/>
            <a:ext cx="365760" cy="365760"/>
          </a:xfrm>
          <a:prstGeom prst="ellipse">
            <a:avLst/>
          </a:prstGeom>
          <a:solidFill>
            <a:srgbClr val="97BC62"/>
          </a:solidFill>
          <a:ln/>
        </p:spPr>
      </p:sp>
      <p:sp>
        <p:nvSpPr>
          <p:cNvPr id="10" name="Text 8"/>
          <p:cNvSpPr/>
          <p:nvPr/>
        </p:nvSpPr>
        <p:spPr>
          <a:xfrm>
            <a:off x="731520" y="21488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 name="Text 9"/>
          <p:cNvSpPr/>
          <p:nvPr/>
        </p:nvSpPr>
        <p:spPr>
          <a:xfrm>
            <a:off x="1234440" y="21488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Empathy and active listening build trust and strengthen your advocacy impact</a:t>
            </a:r>
            <a:endParaRPr lang="en-US" sz="1300" dirty="0"/>
          </a:p>
        </p:txBody>
      </p:sp>
      <p:sp>
        <p:nvSpPr>
          <p:cNvPr id="12" name="Shape 10"/>
          <p:cNvSpPr/>
          <p:nvPr/>
        </p:nvSpPr>
        <p:spPr>
          <a:xfrm>
            <a:off x="731520" y="2606040"/>
            <a:ext cx="365760" cy="365760"/>
          </a:xfrm>
          <a:prstGeom prst="ellipse">
            <a:avLst/>
          </a:prstGeom>
          <a:solidFill>
            <a:srgbClr val="97BC62"/>
          </a:solidFill>
          <a:ln/>
        </p:spPr>
      </p:sp>
      <p:sp>
        <p:nvSpPr>
          <p:cNvPr id="13" name="Text 11"/>
          <p:cNvSpPr/>
          <p:nvPr/>
        </p:nvSpPr>
        <p:spPr>
          <a:xfrm>
            <a:off x="731520" y="26060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4" name="Text 12"/>
          <p:cNvSpPr/>
          <p:nvPr/>
        </p:nvSpPr>
        <p:spPr>
          <a:xfrm>
            <a:off x="1234440" y="26060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Teamwork and collaborative leadership create sustainable, community-owned change</a:t>
            </a:r>
            <a:endParaRPr lang="en-US" sz="1300" dirty="0"/>
          </a:p>
        </p:txBody>
      </p:sp>
      <p:sp>
        <p:nvSpPr>
          <p:cNvPr id="15" name="Shape 13"/>
          <p:cNvSpPr/>
          <p:nvPr/>
        </p:nvSpPr>
        <p:spPr>
          <a:xfrm>
            <a:off x="731520" y="3063240"/>
            <a:ext cx="365760" cy="365760"/>
          </a:xfrm>
          <a:prstGeom prst="ellipse">
            <a:avLst/>
          </a:prstGeom>
          <a:solidFill>
            <a:srgbClr val="97BC62"/>
          </a:solidFill>
          <a:ln/>
        </p:spPr>
      </p:sp>
      <p:sp>
        <p:nvSpPr>
          <p:cNvPr id="16" name="Text 14"/>
          <p:cNvSpPr/>
          <p:nvPr/>
        </p:nvSpPr>
        <p:spPr>
          <a:xfrm>
            <a:off x="731520" y="30632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7" name="Text 15"/>
          <p:cNvSpPr/>
          <p:nvPr/>
        </p:nvSpPr>
        <p:spPr>
          <a:xfrm>
            <a:off x="1234440" y="30632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Personal resilience and stress management protect your wellbeing in demanding work</a:t>
            </a:r>
            <a:endParaRPr lang="en-US" sz="1300" dirty="0"/>
          </a:p>
        </p:txBody>
      </p:sp>
      <p:sp>
        <p:nvSpPr>
          <p:cNvPr id="18" name="Shape 16"/>
          <p:cNvSpPr/>
          <p:nvPr/>
        </p:nvSpPr>
        <p:spPr>
          <a:xfrm>
            <a:off x="731520" y="3520440"/>
            <a:ext cx="365760" cy="365760"/>
          </a:xfrm>
          <a:prstGeom prst="ellipse">
            <a:avLst/>
          </a:prstGeom>
          <a:solidFill>
            <a:srgbClr val="97BC62"/>
          </a:solidFill>
          <a:ln/>
        </p:spPr>
      </p:sp>
      <p:sp>
        <p:nvSpPr>
          <p:cNvPr id="19" name="Text 17"/>
          <p:cNvSpPr/>
          <p:nvPr/>
        </p:nvSpPr>
        <p:spPr>
          <a:xfrm>
            <a:off x="731520" y="35204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0" name="Text 18"/>
          <p:cNvSpPr/>
          <p:nvPr/>
        </p:nvSpPr>
        <p:spPr>
          <a:xfrm>
            <a:off x="1234440" y="35204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Self-awareness reveals your strengths, blind spots, and growth opportunities</a:t>
            </a:r>
            <a:endParaRPr lang="en-US" sz="1300" dirty="0"/>
          </a:p>
        </p:txBody>
      </p:sp>
      <p:sp>
        <p:nvSpPr>
          <p:cNvPr id="21" name="Shape 19"/>
          <p:cNvSpPr/>
          <p:nvPr/>
        </p:nvSpPr>
        <p:spPr>
          <a:xfrm>
            <a:off x="731520" y="3977640"/>
            <a:ext cx="365760" cy="365760"/>
          </a:xfrm>
          <a:prstGeom prst="ellipse">
            <a:avLst/>
          </a:prstGeom>
          <a:solidFill>
            <a:srgbClr val="97BC62"/>
          </a:solidFill>
          <a:ln/>
        </p:spPr>
      </p:sp>
      <p:sp>
        <p:nvSpPr>
          <p:cNvPr id="22" name="Text 20"/>
          <p:cNvSpPr/>
          <p:nvPr/>
        </p:nvSpPr>
        <p:spPr>
          <a:xfrm>
            <a:off x="731520" y="39776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23" name="Text 21"/>
          <p:cNvSpPr/>
          <p:nvPr/>
        </p:nvSpPr>
        <p:spPr>
          <a:xfrm>
            <a:off x="1234440" y="39776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A growth mindset turns challenges into learning experiences and fuels continuous improvement</a:t>
            </a:r>
            <a:endParaRPr lang="en-US" sz="1300" dirty="0"/>
          </a:p>
        </p:txBody>
      </p:sp>
      <p:sp>
        <p:nvSpPr>
          <p:cNvPr id="24" name="Shape 22"/>
          <p:cNvSpPr/>
          <p:nvPr/>
        </p:nvSpPr>
        <p:spPr>
          <a:xfrm>
            <a:off x="731520" y="4434840"/>
            <a:ext cx="365760" cy="365760"/>
          </a:xfrm>
          <a:prstGeom prst="ellipse">
            <a:avLst/>
          </a:prstGeom>
          <a:solidFill>
            <a:srgbClr val="97BC62"/>
          </a:solidFill>
          <a:ln/>
        </p:spPr>
      </p:sp>
      <p:sp>
        <p:nvSpPr>
          <p:cNvPr id="25" name="Text 23"/>
          <p:cNvSpPr/>
          <p:nvPr/>
        </p:nvSpPr>
        <p:spPr>
          <a:xfrm>
            <a:off x="731520" y="4434840"/>
            <a:ext cx="36576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26" name="Text 24"/>
          <p:cNvSpPr/>
          <p:nvPr/>
        </p:nvSpPr>
        <p:spPr>
          <a:xfrm>
            <a:off x="1234440" y="4434840"/>
            <a:ext cx="7223760" cy="365760"/>
          </a:xfrm>
          <a:prstGeom prst="rect">
            <a:avLst/>
          </a:prstGeom>
          <a:noFill/>
          <a:ln/>
        </p:spPr>
        <p:txBody>
          <a:bodyPr wrap="square" rtlCol="0" anchor="ctr"/>
          <a:lstStyle/>
          <a:p>
            <a:pPr indent="0" marL="0">
              <a:buNone/>
            </a:pPr>
            <a:r>
              <a:rPr lang="en-US" sz="1300" dirty="0">
                <a:solidFill>
                  <a:srgbClr val="2D3436"/>
                </a:solidFill>
                <a:latin typeface="Calibri" pitchFamily="34" charset="0"/>
                <a:ea typeface="Calibri" pitchFamily="34" charset="-122"/>
                <a:cs typeface="Calibri" pitchFamily="34" charset="-120"/>
              </a:rPr>
              <a:t>These skills work together—strengthening one enhances all the others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3A1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1097280"/>
            <a:ext cx="1097280" cy="1097280"/>
          </a:xfrm>
          <a:prstGeom prst="rect">
            <a:avLst/>
          </a:prstGeom>
        </p:spPr>
      </p:pic>
      <p:sp>
        <p:nvSpPr>
          <p:cNvPr id="3" name="Text 0"/>
          <p:cNvSpPr/>
          <p:nvPr/>
        </p:nvSpPr>
        <p:spPr>
          <a:xfrm>
            <a:off x="457200" y="2377440"/>
            <a:ext cx="8229600" cy="548640"/>
          </a:xfrm>
          <a:prstGeom prst="rect">
            <a:avLst/>
          </a:prstGeom>
          <a:noFill/>
          <a:ln/>
        </p:spPr>
        <p:txBody>
          <a:bodyPr wrap="square" rtlCol="0" anchor="ctr"/>
          <a:lstStyle/>
          <a:p>
            <a:pPr algn="ctr" indent="0" marL="0">
              <a:buNone/>
            </a:pPr>
            <a:r>
              <a:rPr lang="en-US" sz="4400" b="1" dirty="0">
                <a:solidFill>
                  <a:srgbClr val="97BC62"/>
                </a:solidFill>
                <a:latin typeface="Arial Black" pitchFamily="34" charset="0"/>
                <a:ea typeface="Arial Black" pitchFamily="34" charset="-122"/>
                <a:cs typeface="Arial Black" pitchFamily="34" charset="-120"/>
              </a:rPr>
              <a:t>YOU ARE CAPABLE</a:t>
            </a:r>
            <a:endParaRPr lang="en-US" sz="4400" dirty="0"/>
          </a:p>
        </p:txBody>
      </p:sp>
      <p:sp>
        <p:nvSpPr>
          <p:cNvPr id="4" name="Text 1"/>
          <p:cNvSpPr/>
          <p:nvPr/>
        </p:nvSpPr>
        <p:spPr>
          <a:xfrm>
            <a:off x="457200" y="3017520"/>
            <a:ext cx="8229600" cy="365760"/>
          </a:xfrm>
          <a:prstGeom prst="rect">
            <a:avLst/>
          </a:prstGeom>
          <a:noFill/>
          <a:ln/>
        </p:spPr>
        <p:txBody>
          <a:bodyPr wrap="square" rtlCol="0" anchor="ctr"/>
          <a:lstStyle/>
          <a:p>
            <a:pPr algn="ctr" indent="0" marL="0">
              <a:buNone/>
            </a:pPr>
            <a:r>
              <a:rPr lang="en-US" sz="1800" i="1" dirty="0">
                <a:solidFill>
                  <a:srgbClr val="F5F5F5"/>
                </a:solidFill>
                <a:latin typeface="Georgia" pitchFamily="34" charset="0"/>
                <a:ea typeface="Georgia" pitchFamily="34" charset="-122"/>
                <a:cs typeface="Georgia" pitchFamily="34" charset="-120"/>
              </a:rPr>
              <a:t>Soft skills are the foundation of effective advocacy.</a:t>
            </a:r>
            <a:endParaRPr lang="en-US" sz="1800" dirty="0"/>
          </a:p>
        </p:txBody>
      </p:sp>
      <p:sp>
        <p:nvSpPr>
          <p:cNvPr id="5" name="Text 2"/>
          <p:cNvSpPr/>
          <p:nvPr/>
        </p:nvSpPr>
        <p:spPr>
          <a:xfrm>
            <a:off x="457200" y="3520440"/>
            <a:ext cx="8229600" cy="274320"/>
          </a:xfrm>
          <a:prstGeom prst="rect">
            <a:avLst/>
          </a:prstGeom>
          <a:noFill/>
          <a:ln/>
        </p:spPr>
        <p:txBody>
          <a:bodyPr wrap="square" rtlCol="0" anchor="ctr"/>
          <a:lstStyle/>
          <a:p>
            <a:pPr algn="ctr" indent="0" marL="0">
              <a:buNone/>
            </a:pPr>
            <a:r>
              <a:rPr lang="en-US" sz="1500" dirty="0">
                <a:solidFill>
                  <a:srgbClr val="F5F5F5"/>
                </a:solidFill>
                <a:latin typeface="Calibri" pitchFamily="34" charset="0"/>
                <a:ea typeface="Calibri" pitchFamily="34" charset="-122"/>
                <a:cs typeface="Calibri" pitchFamily="34" charset="-120"/>
              </a:rPr>
              <a:t>Practice them daily, be patient with yourself, and watch</a:t>
            </a:r>
            <a:endParaRPr lang="en-US" sz="1500" dirty="0"/>
          </a:p>
        </p:txBody>
      </p:sp>
      <p:sp>
        <p:nvSpPr>
          <p:cNvPr id="6" name="Text 3"/>
          <p:cNvSpPr/>
          <p:nvPr/>
        </p:nvSpPr>
        <p:spPr>
          <a:xfrm>
            <a:off x="457200" y="3794760"/>
            <a:ext cx="8229600" cy="274320"/>
          </a:xfrm>
          <a:prstGeom prst="rect">
            <a:avLst/>
          </a:prstGeom>
          <a:noFill/>
          <a:ln/>
        </p:spPr>
        <p:txBody>
          <a:bodyPr wrap="square" rtlCol="0" anchor="ctr"/>
          <a:lstStyle/>
          <a:p>
            <a:pPr algn="ctr" indent="0" marL="0">
              <a:buNone/>
            </a:pPr>
            <a:r>
              <a:rPr lang="en-US" sz="1500" b="1" dirty="0">
                <a:solidFill>
                  <a:srgbClr val="97BC62"/>
                </a:solidFill>
                <a:latin typeface="Calibri" pitchFamily="34" charset="0"/>
                <a:ea typeface="Calibri" pitchFamily="34" charset="-122"/>
                <a:cs typeface="Calibri" pitchFamily="34" charset="-120"/>
              </a:rPr>
              <a:t>your impact grow.</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 Skills &amp; Self-Management</dc:title>
  <dc:subject>PptxGenJS Presentation</dc:subject>
  <dc:creator>Youth Advocate Network Rwanda</dc:creator>
  <cp:lastModifiedBy>Youth Advocate Network Rwanda</cp:lastModifiedBy>
  <cp:revision>1</cp:revision>
  <dcterms:created xsi:type="dcterms:W3CDTF">2026-02-12T08:52:09Z</dcterms:created>
  <dcterms:modified xsi:type="dcterms:W3CDTF">2026-02-12T08:52:09Z</dcterms:modified>
</cp:coreProperties>
</file>