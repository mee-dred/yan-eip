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668D"/>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5200" b="1" dirty="0">
                <a:solidFill>
                  <a:srgbClr val="F5F5F5"/>
                </a:solidFill>
                <a:latin typeface="Arial Black" pitchFamily="34" charset="0"/>
                <a:ea typeface="Arial Black" pitchFamily="34" charset="-122"/>
                <a:cs typeface="Arial Black" pitchFamily="34" charset="-120"/>
              </a:rPr>
              <a:t>RESILIENCE &amp;</a:t>
            </a:r>
            <a:endParaRPr lang="en-US" sz="52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5200" b="1" dirty="0">
                <a:solidFill>
                  <a:srgbClr val="02C39A"/>
                </a:solidFill>
                <a:latin typeface="Arial Black" pitchFamily="34" charset="0"/>
                <a:ea typeface="Arial Black" pitchFamily="34" charset="-122"/>
                <a:cs typeface="Arial Black" pitchFamily="34" charset="-120"/>
              </a:rPr>
              <a:t>ADAPTIVE MINDSET</a:t>
            </a:r>
            <a:endParaRPr lang="en-US" sz="5200" dirty="0"/>
          </a:p>
        </p:txBody>
      </p:sp>
      <p:sp>
        <p:nvSpPr>
          <p:cNvPr id="4" name="Text 2"/>
          <p:cNvSpPr/>
          <p:nvPr/>
        </p:nvSpPr>
        <p:spPr>
          <a:xfrm>
            <a:off x="457200" y="329184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Thriving Through Challenges in Advocacy Work</a:t>
            </a:r>
            <a:endParaRPr lang="en-US" sz="1800" dirty="0"/>
          </a:p>
        </p:txBody>
      </p:sp>
      <p:sp>
        <p:nvSpPr>
          <p:cNvPr id="5" name="Text 3"/>
          <p:cNvSpPr/>
          <p:nvPr/>
        </p:nvSpPr>
        <p:spPr>
          <a:xfrm>
            <a:off x="457200" y="4389120"/>
            <a:ext cx="8229600" cy="274320"/>
          </a:xfrm>
          <a:prstGeom prst="rect">
            <a:avLst/>
          </a:prstGeom>
          <a:noFill/>
          <a:ln/>
        </p:spPr>
        <p:txBody>
          <a:bodyPr wrap="square" rtlCol="0" anchor="ctr"/>
          <a:lstStyle/>
          <a:p>
            <a:pPr algn="ctr" indent="0" marL="0">
              <a:buNone/>
            </a:pPr>
            <a:r>
              <a:rPr lang="en-US" sz="1400" dirty="0">
                <a:solidFill>
                  <a:srgbClr val="636E72"/>
                </a:solidFill>
                <a:latin typeface="Calibri" pitchFamily="34" charset="0"/>
                <a:ea typeface="Calibri" pitchFamily="34" charset="-122"/>
                <a:cs typeface="Calibri" pitchFamily="34" charset="-120"/>
              </a:rPr>
              <a:t>Youth Advocate Networks | Rwanda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WORKSHOP OBJECTIVES</a:t>
            </a:r>
            <a:endParaRPr lang="en-US" sz="3600" dirty="0"/>
          </a:p>
        </p:txBody>
      </p:sp>
      <p:pic>
        <p:nvPicPr>
          <p:cNvPr id="3" name="Image 0" descr="preencoded.png">    </p:cNvPr>
          <p:cNvPicPr>
            <a:picLocks noChangeAspect="1"/>
          </p:cNvPicPr>
          <p:nvPr/>
        </p:nvPicPr>
        <p:blipFill>
          <a:blip r:embed="rId1"/>
          <a:stretch>
            <a:fillRect/>
          </a:stretch>
        </p:blipFill>
        <p:spPr>
          <a:xfrm>
            <a:off x="640080" y="1298448"/>
            <a:ext cx="320040" cy="320040"/>
          </a:xfrm>
          <a:prstGeom prst="rect">
            <a:avLst/>
          </a:prstGeom>
        </p:spPr>
      </p:pic>
      <p:sp>
        <p:nvSpPr>
          <p:cNvPr id="4" name="Text 1"/>
          <p:cNvSpPr/>
          <p:nvPr/>
        </p:nvSpPr>
        <p:spPr>
          <a:xfrm>
            <a:off x="1097280" y="128016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Understand common challenges facing youth-led NGOs in Rwanda (funding, political/social risks)</a:t>
            </a:r>
            <a:endParaRPr lang="en-US" sz="1600" dirty="0"/>
          </a:p>
        </p:txBody>
      </p:sp>
      <p:pic>
        <p:nvPicPr>
          <p:cNvPr id="5" name="Image 1" descr="preencoded.png">    </p:cNvPr>
          <p:cNvPicPr>
            <a:picLocks noChangeAspect="1"/>
          </p:cNvPicPr>
          <p:nvPr/>
        </p:nvPicPr>
        <p:blipFill>
          <a:blip r:embed="rId2"/>
          <a:stretch>
            <a:fillRect/>
          </a:stretch>
        </p:blipFill>
        <p:spPr>
          <a:xfrm>
            <a:off x="640080" y="1892808"/>
            <a:ext cx="320040" cy="320040"/>
          </a:xfrm>
          <a:prstGeom prst="rect">
            <a:avLst/>
          </a:prstGeom>
        </p:spPr>
      </p:pic>
      <p:sp>
        <p:nvSpPr>
          <p:cNvPr id="6" name="Text 2"/>
          <p:cNvSpPr/>
          <p:nvPr/>
        </p:nvSpPr>
        <p:spPr>
          <a:xfrm>
            <a:off x="1097280" y="187452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Recognize signs of stress and burnout, and develop prevention strategies</a:t>
            </a:r>
            <a:endParaRPr lang="en-US" sz="1600" dirty="0"/>
          </a:p>
        </p:txBody>
      </p:sp>
      <p:pic>
        <p:nvPicPr>
          <p:cNvPr id="7" name="Image 2" descr="preencoded.png">    </p:cNvPr>
          <p:cNvPicPr>
            <a:picLocks noChangeAspect="1"/>
          </p:cNvPicPr>
          <p:nvPr/>
        </p:nvPicPr>
        <p:blipFill>
          <a:blip r:embed="rId3"/>
          <a:stretch>
            <a:fillRect/>
          </a:stretch>
        </p:blipFill>
        <p:spPr>
          <a:xfrm>
            <a:off x="640080" y="2487168"/>
            <a:ext cx="320040" cy="320040"/>
          </a:xfrm>
          <a:prstGeom prst="rect">
            <a:avLst/>
          </a:prstGeom>
        </p:spPr>
      </p:pic>
      <p:sp>
        <p:nvSpPr>
          <p:cNvPr id="8" name="Text 3"/>
          <p:cNvSpPr/>
          <p:nvPr/>
        </p:nvSpPr>
        <p:spPr>
          <a:xfrm>
            <a:off x="1097280" y="246888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Build mental health awareness and self-care practices</a:t>
            </a:r>
            <a:endParaRPr lang="en-US" sz="1600" dirty="0"/>
          </a:p>
        </p:txBody>
      </p:sp>
      <p:pic>
        <p:nvPicPr>
          <p:cNvPr id="9" name="Image 3" descr="preencoded.png">    </p:cNvPr>
          <p:cNvPicPr>
            <a:picLocks noChangeAspect="1"/>
          </p:cNvPicPr>
          <p:nvPr/>
        </p:nvPicPr>
        <p:blipFill>
          <a:blip r:embed="rId4"/>
          <a:stretch>
            <a:fillRect/>
          </a:stretch>
        </p:blipFill>
        <p:spPr>
          <a:xfrm>
            <a:off x="640080" y="3081528"/>
            <a:ext cx="320040" cy="320040"/>
          </a:xfrm>
          <a:prstGeom prst="rect">
            <a:avLst/>
          </a:prstGeom>
        </p:spPr>
      </p:pic>
      <p:sp>
        <p:nvSpPr>
          <p:cNvPr id="10" name="Text 4"/>
          <p:cNvSpPr/>
          <p:nvPr/>
        </p:nvSpPr>
        <p:spPr>
          <a:xfrm>
            <a:off x="1097280" y="306324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Develop adaptive thinking and problem-solving skills for uncertain situations</a:t>
            </a:r>
            <a:endParaRPr lang="en-US" sz="1600" dirty="0"/>
          </a:p>
        </p:txBody>
      </p:sp>
      <p:pic>
        <p:nvPicPr>
          <p:cNvPr id="11" name="Image 4" descr="preencoded.png">    </p:cNvPr>
          <p:cNvPicPr>
            <a:picLocks noChangeAspect="1"/>
          </p:cNvPicPr>
          <p:nvPr/>
        </p:nvPicPr>
        <p:blipFill>
          <a:blip r:embed="rId5"/>
          <a:stretch>
            <a:fillRect/>
          </a:stretch>
        </p:blipFill>
        <p:spPr>
          <a:xfrm>
            <a:off x="640080" y="3675888"/>
            <a:ext cx="320040" cy="320040"/>
          </a:xfrm>
          <a:prstGeom prst="rect">
            <a:avLst/>
          </a:prstGeom>
        </p:spPr>
      </p:pic>
      <p:sp>
        <p:nvSpPr>
          <p:cNvPr id="12" name="Text 5"/>
          <p:cNvSpPr/>
          <p:nvPr/>
        </p:nvSpPr>
        <p:spPr>
          <a:xfrm>
            <a:off x="1097280" y="365760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Cultivate learning agility through openness to feedback and continuous improvement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WHY RESILIENCE MATTERS IN ADVOCACY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Advocacy work is demanding. You face rejection, resource constraints, slow progress, and external pressures. Resilience—the ability to recover from setbacks and adapt to change—is what allows you to sustain your impact over the long term.</a:t>
            </a:r>
            <a:endParaRPr lang="en-US" sz="1400" dirty="0"/>
          </a:p>
        </p:txBody>
      </p:sp>
      <p:sp>
        <p:nvSpPr>
          <p:cNvPr id="5" name="Shape 2"/>
          <p:cNvSpPr/>
          <p:nvPr/>
        </p:nvSpPr>
        <p:spPr>
          <a:xfrm>
            <a:off x="457200" y="2011680"/>
            <a:ext cx="8229600" cy="457200"/>
          </a:xfrm>
          <a:prstGeom prst="rect">
            <a:avLst/>
          </a:prstGeom>
          <a:solidFill>
            <a:srgbClr val="028090"/>
          </a:solidFill>
          <a:ln/>
        </p:spPr>
      </p:sp>
      <p:sp>
        <p:nvSpPr>
          <p:cNvPr id="6" name="Text 3"/>
          <p:cNvSpPr/>
          <p:nvPr/>
        </p:nvSpPr>
        <p:spPr>
          <a:xfrm>
            <a:off x="731520" y="2057400"/>
            <a:ext cx="768096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REALITY FOR YOUTH-LED NGOS IN RWANDA</a:t>
            </a:r>
            <a:endParaRPr lang="en-US" sz="1800" dirty="0"/>
          </a:p>
        </p:txBody>
      </p:sp>
      <p:pic>
        <p:nvPicPr>
          <p:cNvPr id="7" name="Image 1" descr="preencoded.png">    </p:cNvPr>
          <p:cNvPicPr>
            <a:picLocks noChangeAspect="1"/>
          </p:cNvPicPr>
          <p:nvPr/>
        </p:nvPicPr>
        <p:blipFill>
          <a:blip r:embed="rId2"/>
          <a:stretch>
            <a:fillRect/>
          </a:stretch>
        </p:blipFill>
        <p:spPr>
          <a:xfrm>
            <a:off x="731520" y="2624328"/>
            <a:ext cx="274320" cy="274320"/>
          </a:xfrm>
          <a:prstGeom prst="rect">
            <a:avLst/>
          </a:prstGeom>
        </p:spPr>
      </p:pic>
      <p:sp>
        <p:nvSpPr>
          <p:cNvPr id="8" name="Text 4"/>
          <p:cNvSpPr/>
          <p:nvPr/>
        </p:nvSpPr>
        <p:spPr>
          <a:xfrm>
            <a:off x="1097280" y="2606040"/>
            <a:ext cx="7406640" cy="32004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Limited Resources: </a:t>
            </a:r>
            <a:pPr indent="0" marL="0">
              <a:buNone/>
            </a:pPr>
            <a:r>
              <a:rPr lang="en-US" sz="1300" dirty="0">
                <a:solidFill>
                  <a:srgbClr val="2D3436"/>
                </a:solidFill>
                <a:latin typeface="Calibri" pitchFamily="34" charset="0"/>
                <a:ea typeface="Calibri" pitchFamily="34" charset="-122"/>
                <a:cs typeface="Calibri" pitchFamily="34" charset="-120"/>
              </a:rPr>
              <a:t>Competing for scarce funding with established organizations</a:t>
            </a:r>
            <a:endParaRPr lang="en-US" sz="1300" dirty="0"/>
          </a:p>
        </p:txBody>
      </p:sp>
      <p:pic>
        <p:nvPicPr>
          <p:cNvPr id="9" name="Image 2" descr="preencoded.png">    </p:cNvPr>
          <p:cNvPicPr>
            <a:picLocks noChangeAspect="1"/>
          </p:cNvPicPr>
          <p:nvPr/>
        </p:nvPicPr>
        <p:blipFill>
          <a:blip r:embed="rId3"/>
          <a:stretch>
            <a:fillRect/>
          </a:stretch>
        </p:blipFill>
        <p:spPr>
          <a:xfrm>
            <a:off x="731520" y="3035808"/>
            <a:ext cx="274320" cy="274320"/>
          </a:xfrm>
          <a:prstGeom prst="rect">
            <a:avLst/>
          </a:prstGeom>
        </p:spPr>
      </p:pic>
      <p:sp>
        <p:nvSpPr>
          <p:cNvPr id="10" name="Text 5"/>
          <p:cNvSpPr/>
          <p:nvPr/>
        </p:nvSpPr>
        <p:spPr>
          <a:xfrm>
            <a:off x="1097280" y="3017520"/>
            <a:ext cx="7406640" cy="32004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Credibility Gaps: </a:t>
            </a:r>
            <a:pPr indent="0" marL="0">
              <a:buNone/>
            </a:pPr>
            <a:r>
              <a:rPr lang="en-US" sz="1300" dirty="0">
                <a:solidFill>
                  <a:srgbClr val="2D3436"/>
                </a:solidFill>
                <a:latin typeface="Calibri" pitchFamily="34" charset="0"/>
                <a:ea typeface="Calibri" pitchFamily="34" charset="-122"/>
                <a:cs typeface="Calibri" pitchFamily="34" charset="-120"/>
              </a:rPr>
              <a:t>Being taken less seriously due to youth/inexperience perceptions</a:t>
            </a:r>
            <a:endParaRPr lang="en-US" sz="1300" dirty="0"/>
          </a:p>
        </p:txBody>
      </p:sp>
      <p:pic>
        <p:nvPicPr>
          <p:cNvPr id="11" name="Image 3" descr="preencoded.png">    </p:cNvPr>
          <p:cNvPicPr>
            <a:picLocks noChangeAspect="1"/>
          </p:cNvPicPr>
          <p:nvPr/>
        </p:nvPicPr>
        <p:blipFill>
          <a:blip r:embed="rId4"/>
          <a:stretch>
            <a:fillRect/>
          </a:stretch>
        </p:blipFill>
        <p:spPr>
          <a:xfrm>
            <a:off x="731520" y="3447288"/>
            <a:ext cx="274320" cy="274320"/>
          </a:xfrm>
          <a:prstGeom prst="rect">
            <a:avLst/>
          </a:prstGeom>
        </p:spPr>
      </p:pic>
      <p:sp>
        <p:nvSpPr>
          <p:cNvPr id="12" name="Text 6"/>
          <p:cNvSpPr/>
          <p:nvPr/>
        </p:nvSpPr>
        <p:spPr>
          <a:xfrm>
            <a:off x="1097280" y="3429000"/>
            <a:ext cx="7406640" cy="32004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High Expectations: </a:t>
            </a:r>
            <a:pPr indent="0" marL="0">
              <a:buNone/>
            </a:pPr>
            <a:r>
              <a:rPr lang="en-US" sz="1300" dirty="0">
                <a:solidFill>
                  <a:srgbClr val="2D3436"/>
                </a:solidFill>
                <a:latin typeface="Calibri" pitchFamily="34" charset="0"/>
                <a:ea typeface="Calibri" pitchFamily="34" charset="-122"/>
                <a:cs typeface="Calibri" pitchFamily="34" charset="-120"/>
              </a:rPr>
              <a:t>Pressure to deliver immediate, measurable impact with minimal support</a:t>
            </a:r>
            <a:endParaRPr lang="en-US" sz="1300" dirty="0"/>
          </a:p>
        </p:txBody>
      </p:sp>
      <p:pic>
        <p:nvPicPr>
          <p:cNvPr id="13" name="Image 4" descr="preencoded.png">    </p:cNvPr>
          <p:cNvPicPr>
            <a:picLocks noChangeAspect="1"/>
          </p:cNvPicPr>
          <p:nvPr/>
        </p:nvPicPr>
        <p:blipFill>
          <a:blip r:embed="rId5"/>
          <a:stretch>
            <a:fillRect/>
          </a:stretch>
        </p:blipFill>
        <p:spPr>
          <a:xfrm>
            <a:off x="731520" y="3858768"/>
            <a:ext cx="274320" cy="274320"/>
          </a:xfrm>
          <a:prstGeom prst="rect">
            <a:avLst/>
          </a:prstGeom>
        </p:spPr>
      </p:pic>
      <p:sp>
        <p:nvSpPr>
          <p:cNvPr id="14" name="Text 7"/>
          <p:cNvSpPr/>
          <p:nvPr/>
        </p:nvSpPr>
        <p:spPr>
          <a:xfrm>
            <a:off x="1097280" y="3840480"/>
            <a:ext cx="7406640" cy="32004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Emotional Labor: </a:t>
            </a:r>
            <a:pPr indent="0" marL="0">
              <a:buNone/>
            </a:pPr>
            <a:r>
              <a:rPr lang="en-US" sz="1300" dirty="0">
                <a:solidFill>
                  <a:srgbClr val="2D3436"/>
                </a:solidFill>
                <a:latin typeface="Calibri" pitchFamily="34" charset="0"/>
                <a:ea typeface="Calibri" pitchFamily="34" charset="-122"/>
                <a:cs typeface="Calibri" pitchFamily="34" charset="-120"/>
              </a:rPr>
              <a:t>Working closely with communities facing difficult circumstances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CHALLENGE 1: FUNDING UNCERTAINTY</a:t>
            </a:r>
            <a:endParaRPr lang="en-US" sz="3600" dirty="0"/>
          </a:p>
        </p:txBody>
      </p:sp>
      <p:sp>
        <p:nvSpPr>
          <p:cNvPr id="3" name="Shape 1"/>
          <p:cNvSpPr/>
          <p:nvPr/>
        </p:nvSpPr>
        <p:spPr>
          <a:xfrm>
            <a:off x="457200" y="1097280"/>
            <a:ext cx="4023360" cy="32918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73152" cy="3291840"/>
          </a:xfrm>
          <a:prstGeom prst="rect">
            <a:avLst/>
          </a:prstGeom>
          <a:solidFill>
            <a:srgbClr val="E63946"/>
          </a:solidFill>
          <a:ln/>
        </p:spPr>
      </p:sp>
      <p:sp>
        <p:nvSpPr>
          <p:cNvPr id="5" name="Text 3"/>
          <p:cNvSpPr/>
          <p:nvPr/>
        </p:nvSpPr>
        <p:spPr>
          <a:xfrm>
            <a:off x="731520" y="1234440"/>
            <a:ext cx="3566160" cy="320040"/>
          </a:xfrm>
          <a:prstGeom prst="rect">
            <a:avLst/>
          </a:prstGeom>
          <a:noFill/>
          <a:ln/>
        </p:spPr>
        <p:txBody>
          <a:bodyPr wrap="square" rtlCol="0" anchor="ctr"/>
          <a:lstStyle/>
          <a:p>
            <a:pPr indent="0" marL="0">
              <a:buNone/>
            </a:pPr>
            <a:r>
              <a:rPr lang="en-US" sz="1600" b="1" dirty="0">
                <a:solidFill>
                  <a:srgbClr val="E63946"/>
                </a:solidFill>
                <a:latin typeface="Arial" pitchFamily="34" charset="0"/>
                <a:ea typeface="Arial" pitchFamily="34" charset="-122"/>
                <a:cs typeface="Arial" pitchFamily="34" charset="-120"/>
              </a:rPr>
              <a:t>COMMON SCENARIOS</a:t>
            </a:r>
            <a:endParaRPr lang="en-US" sz="1600" dirty="0"/>
          </a:p>
        </p:txBody>
      </p:sp>
      <p:sp>
        <p:nvSpPr>
          <p:cNvPr id="6" name="Text 4"/>
          <p:cNvSpPr/>
          <p:nvPr/>
        </p:nvSpPr>
        <p:spPr>
          <a:xfrm>
            <a:off x="731520" y="1645920"/>
            <a:ext cx="3566160" cy="2560320"/>
          </a:xfrm>
          <a:prstGeom prst="rect">
            <a:avLst/>
          </a:prstGeom>
          <a:noFill/>
          <a:ln/>
        </p:spPr>
        <p:txBody>
          <a:bodyPr wrap="square" rtlCol="0" anchor="ctr"/>
          <a:lstStyle/>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Delayed donor decisions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Projects halt mid-implementation</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Grant rejections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Months of proposal work yielding no funding</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Shifting donor priorities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Previously funded areas lose support</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Short funding cycles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6-12 month grants for long-term problems</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Resource scarcity</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Operating on volunteer energy with no salaries</a:t>
            </a:r>
            <a:endParaRPr lang="en-US" sz="1200" dirty="0"/>
          </a:p>
        </p:txBody>
      </p:sp>
      <p:sp>
        <p:nvSpPr>
          <p:cNvPr id="7" name="Shape 5"/>
          <p:cNvSpPr/>
          <p:nvPr/>
        </p:nvSpPr>
        <p:spPr>
          <a:xfrm>
            <a:off x="4663440" y="1097280"/>
            <a:ext cx="4023360" cy="32918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8" name="Shape 6"/>
          <p:cNvSpPr/>
          <p:nvPr/>
        </p:nvSpPr>
        <p:spPr>
          <a:xfrm>
            <a:off x="4663440" y="1097280"/>
            <a:ext cx="73152" cy="3291840"/>
          </a:xfrm>
          <a:prstGeom prst="rect">
            <a:avLst/>
          </a:prstGeom>
          <a:solidFill>
            <a:srgbClr val="02C39A"/>
          </a:solidFill>
          <a:ln/>
        </p:spPr>
      </p:sp>
      <p:sp>
        <p:nvSpPr>
          <p:cNvPr id="9" name="Text 7"/>
          <p:cNvSpPr/>
          <p:nvPr/>
        </p:nvSpPr>
        <p:spPr>
          <a:xfrm>
            <a:off x="4937760" y="1234440"/>
            <a:ext cx="3566160" cy="320040"/>
          </a:xfrm>
          <a:prstGeom prst="rect">
            <a:avLst/>
          </a:prstGeom>
          <a:noFill/>
          <a:ln/>
        </p:spPr>
        <p:txBody>
          <a:bodyPr wrap="square" rtlCol="0" anchor="ctr"/>
          <a:lstStyle/>
          <a:p>
            <a:pPr indent="0" marL="0">
              <a:buNone/>
            </a:pPr>
            <a:r>
              <a:rPr lang="en-US" sz="1600" b="1" dirty="0">
                <a:solidFill>
                  <a:srgbClr val="02C39A"/>
                </a:solidFill>
                <a:latin typeface="Arial" pitchFamily="34" charset="0"/>
                <a:ea typeface="Arial" pitchFamily="34" charset="-122"/>
                <a:cs typeface="Arial" pitchFamily="34" charset="-120"/>
              </a:rPr>
              <a:t>RESILIENT RESPONSES</a:t>
            </a:r>
            <a:endParaRPr lang="en-US" sz="1600" dirty="0"/>
          </a:p>
        </p:txBody>
      </p:sp>
      <p:sp>
        <p:nvSpPr>
          <p:cNvPr id="10" name="Text 8"/>
          <p:cNvSpPr/>
          <p:nvPr/>
        </p:nvSpPr>
        <p:spPr>
          <a:xfrm>
            <a:off x="4937760" y="1645920"/>
            <a:ext cx="3566160" cy="2560320"/>
          </a:xfrm>
          <a:prstGeom prst="rect">
            <a:avLst/>
          </a:prstGeom>
          <a:noFill/>
          <a:ln/>
        </p:spPr>
        <p:txBody>
          <a:bodyPr wrap="square" rtlCol="0" anchor="ctr"/>
          <a:lstStyle/>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Diversify funding sources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Don't rely on one donor; pursue grants, crowdfunding, social enterprise</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Build financial reserves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Save small amounts to buffer gaps</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Develop low-cost programs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Design impactful work that doesn't require huge budgets</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Build partnerships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Share resources and expertise with other organizations</a:t>
            </a:r>
            <a:endParaRPr lang="en-US" sz="1200" dirty="0"/>
          </a:p>
          <a:p>
            <a:pPr indent="0" marL="0">
              <a:buNone/>
            </a:pPr>
            <a:endParaRPr lang="en-US" sz="1200" dirty="0"/>
          </a:p>
          <a:p>
            <a:pPr marL="342900" indent="-342900">
              <a:buSzPct val="100000"/>
              <a:buChar char="•"/>
            </a:pPr>
            <a:r>
              <a:rPr lang="en-US" sz="1200" dirty="0">
                <a:solidFill>
                  <a:srgbClr val="2D3436"/>
                </a:solidFill>
                <a:latin typeface="Calibri" pitchFamily="34" charset="0"/>
                <a:ea typeface="Calibri" pitchFamily="34" charset="-122"/>
                <a:cs typeface="Calibri" pitchFamily="34" charset="-120"/>
              </a:rPr>
              <a:t>Celebrate non-monetary wins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Recognize volunteer contributions and community engagement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CHALLENGE 2: POLITICAL &amp; SOCIAL RISKS</a:t>
            </a:r>
            <a:endParaRPr lang="en-US" sz="3600" dirty="0"/>
          </a:p>
        </p:txBody>
      </p:sp>
      <p:sp>
        <p:nvSpPr>
          <p:cNvPr id="3" name="Shape 1"/>
          <p:cNvSpPr/>
          <p:nvPr/>
        </p:nvSpPr>
        <p:spPr>
          <a:xfrm>
            <a:off x="457200" y="1188720"/>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188720"/>
            <a:ext cx="73152" cy="1051560"/>
          </a:xfrm>
          <a:prstGeom prst="rect">
            <a:avLst/>
          </a:prstGeom>
          <a:solidFill>
            <a:srgbClr val="F77F00"/>
          </a:solidFill>
          <a:ln/>
        </p:spPr>
      </p:sp>
      <p:sp>
        <p:nvSpPr>
          <p:cNvPr id="5" name="Text 3"/>
          <p:cNvSpPr/>
          <p:nvPr/>
        </p:nvSpPr>
        <p:spPr>
          <a:xfrm>
            <a:off x="731520" y="1280160"/>
            <a:ext cx="7772400" cy="274320"/>
          </a:xfrm>
          <a:prstGeom prst="rect">
            <a:avLst/>
          </a:prstGeom>
          <a:noFill/>
          <a:ln/>
        </p:spPr>
        <p:txBody>
          <a:bodyPr wrap="square" rtlCol="0" anchor="ctr"/>
          <a:lstStyle/>
          <a:p>
            <a:pPr indent="0" marL="0">
              <a:buNone/>
            </a:pPr>
            <a:r>
              <a:rPr lang="en-US" sz="1500" b="1" dirty="0">
                <a:solidFill>
                  <a:srgbClr val="05668D"/>
                </a:solidFill>
                <a:latin typeface="Arial" pitchFamily="34" charset="0"/>
                <a:ea typeface="Arial" pitchFamily="34" charset="-122"/>
                <a:cs typeface="Arial" pitchFamily="34" charset="-120"/>
              </a:rPr>
              <a:t>Regulatory Constraints</a:t>
            </a:r>
            <a:endParaRPr lang="en-US" sz="1500" dirty="0"/>
          </a:p>
        </p:txBody>
      </p:sp>
      <p:sp>
        <p:nvSpPr>
          <p:cNvPr id="6" name="Text 4"/>
          <p:cNvSpPr/>
          <p:nvPr/>
        </p:nvSpPr>
        <p:spPr>
          <a:xfrm>
            <a:off x="731520" y="1572768"/>
            <a:ext cx="7772400" cy="22860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Examples: </a:t>
            </a:r>
            <a:pPr indent="0" marL="0">
              <a:buNone/>
            </a:pPr>
            <a:r>
              <a:rPr lang="en-US" sz="1100" i="1" dirty="0">
                <a:solidFill>
                  <a:srgbClr val="2D3436"/>
                </a:solidFill>
                <a:latin typeface="Calibri" pitchFamily="34" charset="0"/>
                <a:ea typeface="Calibri" pitchFamily="34" charset="-122"/>
                <a:cs typeface="Calibri" pitchFamily="34" charset="-120"/>
              </a:rPr>
              <a:t>Bureaucratic hurdles for NGO registration, reporting requirements, restrictions on certain advocacy topics</a:t>
            </a:r>
            <a:endParaRPr lang="en-US" sz="1100" dirty="0"/>
          </a:p>
        </p:txBody>
      </p:sp>
      <p:sp>
        <p:nvSpPr>
          <p:cNvPr id="7" name="Text 5"/>
          <p:cNvSpPr/>
          <p:nvPr/>
        </p:nvSpPr>
        <p:spPr>
          <a:xfrm>
            <a:off x="731520" y="1828800"/>
            <a:ext cx="7772400" cy="32004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Resilient Response: </a:t>
            </a:r>
            <a:pPr indent="0" marL="0">
              <a:buNone/>
            </a:pPr>
            <a:r>
              <a:rPr lang="en-US" sz="1100" dirty="0">
                <a:solidFill>
                  <a:srgbClr val="2D3436"/>
                </a:solidFill>
                <a:latin typeface="Calibri" pitchFamily="34" charset="0"/>
                <a:ea typeface="Calibri" pitchFamily="34" charset="-122"/>
                <a:cs typeface="Calibri" pitchFamily="34" charset="-120"/>
              </a:rPr>
              <a:t>Stay informed on legal requirements, maintain transparent documentation, build relationships with regulatory bodies</a:t>
            </a:r>
            <a:endParaRPr lang="en-US" sz="1100" dirty="0"/>
          </a:p>
        </p:txBody>
      </p:sp>
      <p:sp>
        <p:nvSpPr>
          <p:cNvPr id="8" name="Shape 6"/>
          <p:cNvSpPr/>
          <p:nvPr/>
        </p:nvSpPr>
        <p:spPr>
          <a:xfrm>
            <a:off x="457200" y="2359152"/>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57200" y="2359152"/>
            <a:ext cx="73152" cy="1051560"/>
          </a:xfrm>
          <a:prstGeom prst="rect">
            <a:avLst/>
          </a:prstGeom>
          <a:solidFill>
            <a:srgbClr val="F77F00"/>
          </a:solidFill>
          <a:ln/>
        </p:spPr>
      </p:sp>
      <p:sp>
        <p:nvSpPr>
          <p:cNvPr id="10" name="Text 8"/>
          <p:cNvSpPr/>
          <p:nvPr/>
        </p:nvSpPr>
        <p:spPr>
          <a:xfrm>
            <a:off x="731520" y="2450592"/>
            <a:ext cx="7772400" cy="274320"/>
          </a:xfrm>
          <a:prstGeom prst="rect">
            <a:avLst/>
          </a:prstGeom>
          <a:noFill/>
          <a:ln/>
        </p:spPr>
        <p:txBody>
          <a:bodyPr wrap="square" rtlCol="0" anchor="ctr"/>
          <a:lstStyle/>
          <a:p>
            <a:pPr indent="0" marL="0">
              <a:buNone/>
            </a:pPr>
            <a:r>
              <a:rPr lang="en-US" sz="1500" b="1" dirty="0">
                <a:solidFill>
                  <a:srgbClr val="05668D"/>
                </a:solidFill>
                <a:latin typeface="Arial" pitchFamily="34" charset="0"/>
                <a:ea typeface="Arial" pitchFamily="34" charset="-122"/>
                <a:cs typeface="Arial" pitchFamily="34" charset="-120"/>
              </a:rPr>
              <a:t>Community Resistance</a:t>
            </a:r>
            <a:endParaRPr lang="en-US" sz="1500" dirty="0"/>
          </a:p>
        </p:txBody>
      </p:sp>
      <p:sp>
        <p:nvSpPr>
          <p:cNvPr id="11" name="Text 9"/>
          <p:cNvSpPr/>
          <p:nvPr/>
        </p:nvSpPr>
        <p:spPr>
          <a:xfrm>
            <a:off x="731520" y="2743200"/>
            <a:ext cx="7772400" cy="22860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Examples: </a:t>
            </a:r>
            <a:pPr indent="0" marL="0">
              <a:buNone/>
            </a:pPr>
            <a:r>
              <a:rPr lang="en-US" sz="1100" i="1" dirty="0">
                <a:solidFill>
                  <a:srgbClr val="2D3436"/>
                </a:solidFill>
                <a:latin typeface="Calibri" pitchFamily="34" charset="0"/>
                <a:ea typeface="Calibri" pitchFamily="34" charset="-122"/>
                <a:cs typeface="Calibri" pitchFamily="34" charset="-120"/>
              </a:rPr>
              <a:t>Skepticism about youth-led initiatives, cultural norms conflicting with your mission, misinformation about your work</a:t>
            </a:r>
            <a:endParaRPr lang="en-US" sz="1100" dirty="0"/>
          </a:p>
        </p:txBody>
      </p:sp>
      <p:sp>
        <p:nvSpPr>
          <p:cNvPr id="12" name="Text 10"/>
          <p:cNvSpPr/>
          <p:nvPr/>
        </p:nvSpPr>
        <p:spPr>
          <a:xfrm>
            <a:off x="731520" y="2999232"/>
            <a:ext cx="7772400" cy="32004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Resilient Response: </a:t>
            </a:r>
            <a:pPr indent="0" marL="0">
              <a:buNone/>
            </a:pPr>
            <a:r>
              <a:rPr lang="en-US" sz="1100" dirty="0">
                <a:solidFill>
                  <a:srgbClr val="2D3436"/>
                </a:solidFill>
                <a:latin typeface="Calibri" pitchFamily="34" charset="0"/>
                <a:ea typeface="Calibri" pitchFamily="34" charset="-122"/>
                <a:cs typeface="Calibri" pitchFamily="34" charset="-120"/>
              </a:rPr>
              <a:t>Engage community leaders early, communicate clearly and respectfully, demonstrate impact through pilot projects</a:t>
            </a:r>
            <a:endParaRPr lang="en-US" sz="1100" dirty="0"/>
          </a:p>
        </p:txBody>
      </p:sp>
      <p:sp>
        <p:nvSpPr>
          <p:cNvPr id="13" name="Shape 11"/>
          <p:cNvSpPr/>
          <p:nvPr/>
        </p:nvSpPr>
        <p:spPr>
          <a:xfrm>
            <a:off x="457200" y="3529584"/>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3529584"/>
            <a:ext cx="73152" cy="1051560"/>
          </a:xfrm>
          <a:prstGeom prst="rect">
            <a:avLst/>
          </a:prstGeom>
          <a:solidFill>
            <a:srgbClr val="F77F00"/>
          </a:solidFill>
          <a:ln/>
        </p:spPr>
      </p:sp>
      <p:sp>
        <p:nvSpPr>
          <p:cNvPr id="15" name="Text 13"/>
          <p:cNvSpPr/>
          <p:nvPr/>
        </p:nvSpPr>
        <p:spPr>
          <a:xfrm>
            <a:off x="731520" y="3621024"/>
            <a:ext cx="7772400" cy="274320"/>
          </a:xfrm>
          <a:prstGeom prst="rect">
            <a:avLst/>
          </a:prstGeom>
          <a:noFill/>
          <a:ln/>
        </p:spPr>
        <p:txBody>
          <a:bodyPr wrap="square" rtlCol="0" anchor="ctr"/>
          <a:lstStyle/>
          <a:p>
            <a:pPr indent="0" marL="0">
              <a:buNone/>
            </a:pPr>
            <a:r>
              <a:rPr lang="en-US" sz="1500" b="1" dirty="0">
                <a:solidFill>
                  <a:srgbClr val="05668D"/>
                </a:solidFill>
                <a:latin typeface="Arial" pitchFamily="34" charset="0"/>
                <a:ea typeface="Arial" pitchFamily="34" charset="-122"/>
                <a:cs typeface="Arial" pitchFamily="34" charset="-120"/>
              </a:rPr>
              <a:t>Political Sensitivity</a:t>
            </a:r>
            <a:endParaRPr lang="en-US" sz="1500" dirty="0"/>
          </a:p>
        </p:txBody>
      </p:sp>
      <p:sp>
        <p:nvSpPr>
          <p:cNvPr id="16" name="Text 14"/>
          <p:cNvSpPr/>
          <p:nvPr/>
        </p:nvSpPr>
        <p:spPr>
          <a:xfrm>
            <a:off x="731520" y="3913632"/>
            <a:ext cx="7772400" cy="22860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Examples: </a:t>
            </a:r>
            <a:pPr indent="0" marL="0">
              <a:buNone/>
            </a:pPr>
            <a:r>
              <a:rPr lang="en-US" sz="1100" i="1" dirty="0">
                <a:solidFill>
                  <a:srgbClr val="2D3436"/>
                </a:solidFill>
                <a:latin typeface="Calibri" pitchFamily="34" charset="0"/>
                <a:ea typeface="Calibri" pitchFamily="34" charset="-122"/>
                <a:cs typeface="Calibri" pitchFamily="34" charset="-120"/>
              </a:rPr>
              <a:t>Advocacy topics seen as challenging government policies, pressure to align with political agendas</a:t>
            </a:r>
            <a:endParaRPr lang="en-US" sz="1100" dirty="0"/>
          </a:p>
        </p:txBody>
      </p:sp>
      <p:sp>
        <p:nvSpPr>
          <p:cNvPr id="17" name="Text 15"/>
          <p:cNvSpPr/>
          <p:nvPr/>
        </p:nvSpPr>
        <p:spPr>
          <a:xfrm>
            <a:off x="731520" y="4169664"/>
            <a:ext cx="7772400" cy="320040"/>
          </a:xfrm>
          <a:prstGeom prst="rect">
            <a:avLst/>
          </a:prstGeom>
          <a:noFill/>
          <a:ln/>
        </p:spPr>
        <p:txBody>
          <a:bodyPr wrap="square"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Resilient Response: </a:t>
            </a:r>
            <a:pPr indent="0" marL="0">
              <a:buNone/>
            </a:pPr>
            <a:r>
              <a:rPr lang="en-US" sz="1100" dirty="0">
                <a:solidFill>
                  <a:srgbClr val="2D3436"/>
                </a:solidFill>
                <a:latin typeface="Calibri" pitchFamily="34" charset="0"/>
                <a:ea typeface="Calibri" pitchFamily="34" charset="-122"/>
                <a:cs typeface="Calibri" pitchFamily="34" charset="-120"/>
              </a:rPr>
              <a:t>Frame work as community development (not opposition), use data and evidence, focus on shared goals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UNDERSTANDING STRESS</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Stress is your body's natural response to demands or threats. Not all stress is bad—short-term stress can motivate action. But chronic, unmanaged stress damages your health, relationships, and work quality.</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TYPES OF STRESS IN ADVOCACY WORK</a:t>
            </a:r>
            <a:endParaRPr lang="en-US" sz="1600" dirty="0"/>
          </a:p>
        </p:txBody>
      </p:sp>
      <p:sp>
        <p:nvSpPr>
          <p:cNvPr id="6" name="Shape 3"/>
          <p:cNvSpPr/>
          <p:nvPr/>
        </p:nvSpPr>
        <p:spPr>
          <a:xfrm>
            <a:off x="457200" y="237744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2011680" cy="548640"/>
          </a:xfrm>
          <a:prstGeom prst="rect">
            <a:avLst/>
          </a:prstGeom>
          <a:solidFill>
            <a:srgbClr val="E63946"/>
          </a:solidFill>
          <a:ln/>
        </p:spPr>
      </p:sp>
      <p:sp>
        <p:nvSpPr>
          <p:cNvPr id="8" name="Text 5"/>
          <p:cNvSpPr/>
          <p:nvPr/>
        </p:nvSpPr>
        <p:spPr>
          <a:xfrm>
            <a:off x="548640" y="2423160"/>
            <a:ext cx="182880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Acute Stress</a:t>
            </a:r>
            <a:endParaRPr lang="en-US" sz="1300" dirty="0"/>
          </a:p>
        </p:txBody>
      </p:sp>
      <p:sp>
        <p:nvSpPr>
          <p:cNvPr id="9" name="Text 6"/>
          <p:cNvSpPr/>
          <p:nvPr/>
        </p:nvSpPr>
        <p:spPr>
          <a:xfrm>
            <a:off x="2651760" y="2468880"/>
            <a:ext cx="585216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Short-term pressure from specific events </a:t>
            </a:r>
            <a:pPr indent="0" marL="0">
              <a:buNone/>
            </a:pPr>
            <a:r>
              <a:rPr lang="en-US" sz="1100" b="1" dirty="0">
                <a:solidFill>
                  <a:srgbClr val="028090"/>
                </a:solidFill>
                <a:latin typeface="Calibri" pitchFamily="34" charset="0"/>
                <a:ea typeface="Calibri" pitchFamily="34" charset="-122"/>
                <a:cs typeface="Calibri" pitchFamily="34" charset="-120"/>
              </a:rPr>
              <a:t>→ Example: </a:t>
            </a:r>
            <a:pPr indent="0" marL="0">
              <a:buNone/>
            </a:pPr>
            <a:r>
              <a:rPr lang="en-US" sz="1100" i="1" dirty="0">
                <a:solidFill>
                  <a:srgbClr val="2D3436"/>
                </a:solidFill>
                <a:latin typeface="Calibri" pitchFamily="34" charset="0"/>
                <a:ea typeface="Calibri" pitchFamily="34" charset="-122"/>
                <a:cs typeface="Calibri" pitchFamily="34" charset="-120"/>
              </a:rPr>
              <a:t>Deadline for a grant proposal, difficult community meeting</a:t>
            </a:r>
            <a:endParaRPr lang="en-US" sz="1100" dirty="0"/>
          </a:p>
        </p:txBody>
      </p:sp>
      <p:sp>
        <p:nvSpPr>
          <p:cNvPr id="10" name="Shape 7"/>
          <p:cNvSpPr/>
          <p:nvPr/>
        </p:nvSpPr>
        <p:spPr>
          <a:xfrm>
            <a:off x="457200" y="301752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57200" y="3017520"/>
            <a:ext cx="2011680" cy="548640"/>
          </a:xfrm>
          <a:prstGeom prst="rect">
            <a:avLst/>
          </a:prstGeom>
          <a:solidFill>
            <a:srgbClr val="E63946"/>
          </a:solidFill>
          <a:ln/>
        </p:spPr>
      </p:sp>
      <p:sp>
        <p:nvSpPr>
          <p:cNvPr id="12" name="Text 9"/>
          <p:cNvSpPr/>
          <p:nvPr/>
        </p:nvSpPr>
        <p:spPr>
          <a:xfrm>
            <a:off x="548640" y="3063240"/>
            <a:ext cx="182880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Chronic Stress</a:t>
            </a:r>
            <a:endParaRPr lang="en-US" sz="1300" dirty="0"/>
          </a:p>
        </p:txBody>
      </p:sp>
      <p:sp>
        <p:nvSpPr>
          <p:cNvPr id="13" name="Text 10"/>
          <p:cNvSpPr/>
          <p:nvPr/>
        </p:nvSpPr>
        <p:spPr>
          <a:xfrm>
            <a:off x="2651760" y="3108960"/>
            <a:ext cx="585216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Long-term pressure from ongoing situations </a:t>
            </a:r>
            <a:pPr indent="0" marL="0">
              <a:buNone/>
            </a:pPr>
            <a:r>
              <a:rPr lang="en-US" sz="1100" b="1" dirty="0">
                <a:solidFill>
                  <a:srgbClr val="028090"/>
                </a:solidFill>
                <a:latin typeface="Calibri" pitchFamily="34" charset="0"/>
                <a:ea typeface="Calibri" pitchFamily="34" charset="-122"/>
                <a:cs typeface="Calibri" pitchFamily="34" charset="-120"/>
              </a:rPr>
              <a:t>→ Example: </a:t>
            </a:r>
            <a:pPr indent="0" marL="0">
              <a:buNone/>
            </a:pPr>
            <a:r>
              <a:rPr lang="en-US" sz="1100" i="1" dirty="0">
                <a:solidFill>
                  <a:srgbClr val="2D3436"/>
                </a:solidFill>
                <a:latin typeface="Calibri" pitchFamily="34" charset="0"/>
                <a:ea typeface="Calibri" pitchFamily="34" charset="-122"/>
                <a:cs typeface="Calibri" pitchFamily="34" charset="-120"/>
              </a:rPr>
              <a:t>Persistent funding insecurity, prolonged organizational conflict</a:t>
            </a:r>
            <a:endParaRPr lang="en-US" sz="1100" dirty="0"/>
          </a:p>
        </p:txBody>
      </p:sp>
      <p:sp>
        <p:nvSpPr>
          <p:cNvPr id="14" name="Shape 11"/>
          <p:cNvSpPr/>
          <p:nvPr/>
        </p:nvSpPr>
        <p:spPr>
          <a:xfrm>
            <a:off x="457200" y="3657600"/>
            <a:ext cx="8229600" cy="5486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2"/>
          <p:cNvSpPr/>
          <p:nvPr/>
        </p:nvSpPr>
        <p:spPr>
          <a:xfrm>
            <a:off x="457200" y="3657600"/>
            <a:ext cx="2011680" cy="548640"/>
          </a:xfrm>
          <a:prstGeom prst="rect">
            <a:avLst/>
          </a:prstGeom>
          <a:solidFill>
            <a:srgbClr val="E63946"/>
          </a:solidFill>
          <a:ln/>
        </p:spPr>
      </p:sp>
      <p:sp>
        <p:nvSpPr>
          <p:cNvPr id="16" name="Text 13"/>
          <p:cNvSpPr/>
          <p:nvPr/>
        </p:nvSpPr>
        <p:spPr>
          <a:xfrm>
            <a:off x="548640" y="3703320"/>
            <a:ext cx="182880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Compassion Fatigue</a:t>
            </a:r>
            <a:endParaRPr lang="en-US" sz="1300" dirty="0"/>
          </a:p>
        </p:txBody>
      </p:sp>
      <p:sp>
        <p:nvSpPr>
          <p:cNvPr id="17" name="Text 14"/>
          <p:cNvSpPr/>
          <p:nvPr/>
        </p:nvSpPr>
        <p:spPr>
          <a:xfrm>
            <a:off x="2651760" y="3749040"/>
            <a:ext cx="585216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Emotional exhaustion from helping others in distress </a:t>
            </a:r>
            <a:pPr indent="0" marL="0">
              <a:buNone/>
            </a:pPr>
            <a:r>
              <a:rPr lang="en-US" sz="1100" b="1" dirty="0">
                <a:solidFill>
                  <a:srgbClr val="028090"/>
                </a:solidFill>
                <a:latin typeface="Calibri" pitchFamily="34" charset="0"/>
                <a:ea typeface="Calibri" pitchFamily="34" charset="-122"/>
                <a:cs typeface="Calibri" pitchFamily="34" charset="-120"/>
              </a:rPr>
              <a:t>→ Example: </a:t>
            </a:r>
            <a:pPr indent="0" marL="0">
              <a:buNone/>
            </a:pPr>
            <a:r>
              <a:rPr lang="en-US" sz="1100" i="1" dirty="0">
                <a:solidFill>
                  <a:srgbClr val="2D3436"/>
                </a:solidFill>
                <a:latin typeface="Calibri" pitchFamily="34" charset="0"/>
                <a:ea typeface="Calibri" pitchFamily="34" charset="-122"/>
                <a:cs typeface="Calibri" pitchFamily="34" charset="-120"/>
              </a:rPr>
              <a:t>Working with trauma survivors, witnessing community suffering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RECOGNIZING YOUR STRESS SIGNALS</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Pay attention to these warning signs in yourself and your teammates:</a:t>
            </a:r>
            <a:endParaRPr lang="en-US" sz="1400" dirty="0"/>
          </a:p>
        </p:txBody>
      </p:sp>
      <p:sp>
        <p:nvSpPr>
          <p:cNvPr id="4" name="Shape 2"/>
          <p:cNvSpPr/>
          <p:nvPr/>
        </p:nvSpPr>
        <p:spPr>
          <a:xfrm>
            <a:off x="457200" y="1600200"/>
            <a:ext cx="4206240" cy="12801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00200"/>
            <a:ext cx="4206240" cy="365760"/>
          </a:xfrm>
          <a:prstGeom prst="rect">
            <a:avLst/>
          </a:prstGeom>
          <a:solidFill>
            <a:srgbClr val="E63946"/>
          </a:solidFill>
          <a:ln/>
        </p:spPr>
      </p:sp>
      <p:sp>
        <p:nvSpPr>
          <p:cNvPr id="6" name="Text 4"/>
          <p:cNvSpPr/>
          <p:nvPr/>
        </p:nvSpPr>
        <p:spPr>
          <a:xfrm>
            <a:off x="640080" y="1645920"/>
            <a:ext cx="3840480" cy="2743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Physical</a:t>
            </a:r>
            <a:endParaRPr lang="en-US" sz="1500" dirty="0"/>
          </a:p>
        </p:txBody>
      </p:sp>
      <p:sp>
        <p:nvSpPr>
          <p:cNvPr id="7" name="Text 5"/>
          <p:cNvSpPr/>
          <p:nvPr/>
        </p:nvSpPr>
        <p:spPr>
          <a:xfrm>
            <a:off x="640080" y="2057400"/>
            <a:ext cx="3840480" cy="7772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Headaches or muscle tension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Fatigue despite rest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Sleep problems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Digestive issues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Weakened immune system</a:t>
            </a:r>
            <a:endParaRPr lang="en-US" sz="1100" dirty="0"/>
          </a:p>
        </p:txBody>
      </p:sp>
      <p:sp>
        <p:nvSpPr>
          <p:cNvPr id="8" name="Shape 6"/>
          <p:cNvSpPr/>
          <p:nvPr/>
        </p:nvSpPr>
        <p:spPr>
          <a:xfrm>
            <a:off x="4937760" y="1600200"/>
            <a:ext cx="4206240" cy="12801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937760" y="1600200"/>
            <a:ext cx="4206240" cy="365760"/>
          </a:xfrm>
          <a:prstGeom prst="rect">
            <a:avLst/>
          </a:prstGeom>
          <a:solidFill>
            <a:srgbClr val="F77F00"/>
          </a:solidFill>
          <a:ln/>
        </p:spPr>
      </p:sp>
      <p:sp>
        <p:nvSpPr>
          <p:cNvPr id="10" name="Text 8"/>
          <p:cNvSpPr/>
          <p:nvPr/>
        </p:nvSpPr>
        <p:spPr>
          <a:xfrm>
            <a:off x="5120640" y="1645920"/>
            <a:ext cx="3840480" cy="2743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Emotional</a:t>
            </a:r>
            <a:endParaRPr lang="en-US" sz="1500" dirty="0"/>
          </a:p>
        </p:txBody>
      </p:sp>
      <p:sp>
        <p:nvSpPr>
          <p:cNvPr id="11" name="Text 9"/>
          <p:cNvSpPr/>
          <p:nvPr/>
        </p:nvSpPr>
        <p:spPr>
          <a:xfrm>
            <a:off x="5120640" y="2057400"/>
            <a:ext cx="3840480" cy="7772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Irritability or anger</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Feeling overwhelmed</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Anxiety or worry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Depression or sadness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Emotional numbness</a:t>
            </a:r>
            <a:endParaRPr lang="en-US" sz="1100" dirty="0"/>
          </a:p>
        </p:txBody>
      </p:sp>
      <p:sp>
        <p:nvSpPr>
          <p:cNvPr id="12" name="Shape 10"/>
          <p:cNvSpPr/>
          <p:nvPr/>
        </p:nvSpPr>
        <p:spPr>
          <a:xfrm>
            <a:off x="457200" y="3017520"/>
            <a:ext cx="4206240" cy="12801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457200" y="3017520"/>
            <a:ext cx="4206240" cy="365760"/>
          </a:xfrm>
          <a:prstGeom prst="rect">
            <a:avLst/>
          </a:prstGeom>
          <a:solidFill>
            <a:srgbClr val="028090"/>
          </a:solidFill>
          <a:ln/>
        </p:spPr>
      </p:sp>
      <p:sp>
        <p:nvSpPr>
          <p:cNvPr id="14" name="Text 12"/>
          <p:cNvSpPr/>
          <p:nvPr/>
        </p:nvSpPr>
        <p:spPr>
          <a:xfrm>
            <a:off x="640080" y="3063240"/>
            <a:ext cx="3840480" cy="2743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Cognitive</a:t>
            </a:r>
            <a:endParaRPr lang="en-US" sz="1500" dirty="0"/>
          </a:p>
        </p:txBody>
      </p:sp>
      <p:sp>
        <p:nvSpPr>
          <p:cNvPr id="15" name="Text 13"/>
          <p:cNvSpPr/>
          <p:nvPr/>
        </p:nvSpPr>
        <p:spPr>
          <a:xfrm>
            <a:off x="640080" y="3474720"/>
            <a:ext cx="3840480" cy="7772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Difficulty concentrating</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Racing thoughts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Forgetfulness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Poor judgment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Negative thinking patterns</a:t>
            </a:r>
            <a:endParaRPr lang="en-US" sz="1100" dirty="0"/>
          </a:p>
        </p:txBody>
      </p:sp>
      <p:sp>
        <p:nvSpPr>
          <p:cNvPr id="16" name="Shape 14"/>
          <p:cNvSpPr/>
          <p:nvPr/>
        </p:nvSpPr>
        <p:spPr>
          <a:xfrm>
            <a:off x="4937760" y="3017520"/>
            <a:ext cx="4206240" cy="12801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5"/>
          <p:cNvSpPr/>
          <p:nvPr/>
        </p:nvSpPr>
        <p:spPr>
          <a:xfrm>
            <a:off x="4937760" y="3017520"/>
            <a:ext cx="4206240" cy="365760"/>
          </a:xfrm>
          <a:prstGeom prst="rect">
            <a:avLst/>
          </a:prstGeom>
          <a:solidFill>
            <a:srgbClr val="02C39A"/>
          </a:solidFill>
          <a:ln/>
        </p:spPr>
      </p:sp>
      <p:sp>
        <p:nvSpPr>
          <p:cNvPr id="18" name="Text 16"/>
          <p:cNvSpPr/>
          <p:nvPr/>
        </p:nvSpPr>
        <p:spPr>
          <a:xfrm>
            <a:off x="5120640" y="3063240"/>
            <a:ext cx="3840480" cy="2743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Behavioral</a:t>
            </a:r>
            <a:endParaRPr lang="en-US" sz="1500" dirty="0"/>
          </a:p>
        </p:txBody>
      </p:sp>
      <p:sp>
        <p:nvSpPr>
          <p:cNvPr id="19" name="Text 17"/>
          <p:cNvSpPr/>
          <p:nvPr/>
        </p:nvSpPr>
        <p:spPr>
          <a:xfrm>
            <a:off x="5120640" y="3474720"/>
            <a:ext cx="3840480" cy="7772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Withdrawing from others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Procrastination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Changes in eating habits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Increased conflict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Substance use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BURNOUT: WHAT IT IS &amp; HOW TO PREVENT IT</a:t>
            </a:r>
            <a:endParaRPr lang="en-US" sz="3600" dirty="0"/>
          </a:p>
        </p:txBody>
      </p:sp>
      <p:sp>
        <p:nvSpPr>
          <p:cNvPr id="3" name="Shape 1"/>
          <p:cNvSpPr/>
          <p:nvPr/>
        </p:nvSpPr>
        <p:spPr>
          <a:xfrm>
            <a:off x="457200" y="1097280"/>
            <a:ext cx="822960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73152" cy="914400"/>
          </a:xfrm>
          <a:prstGeom prst="rect">
            <a:avLst/>
          </a:prstGeom>
          <a:solidFill>
            <a:srgbClr val="E63946"/>
          </a:solidFill>
          <a:ln/>
        </p:spPr>
      </p:sp>
      <p:sp>
        <p:nvSpPr>
          <p:cNvPr id="5" name="Text 3"/>
          <p:cNvSpPr/>
          <p:nvPr/>
        </p:nvSpPr>
        <p:spPr>
          <a:xfrm>
            <a:off x="731520" y="1234440"/>
            <a:ext cx="7772400" cy="274320"/>
          </a:xfrm>
          <a:prstGeom prst="rect">
            <a:avLst/>
          </a:prstGeom>
          <a:noFill/>
          <a:ln/>
        </p:spPr>
        <p:txBody>
          <a:bodyPr wrap="square" rtlCol="0" anchor="ctr"/>
          <a:lstStyle/>
          <a:p>
            <a:pPr indent="0" marL="0">
              <a:buNone/>
            </a:pPr>
            <a:r>
              <a:rPr lang="en-US" sz="1600" b="1" dirty="0">
                <a:solidFill>
                  <a:srgbClr val="E63946"/>
                </a:solidFill>
                <a:latin typeface="Arial" pitchFamily="34" charset="0"/>
                <a:ea typeface="Arial" pitchFamily="34" charset="-122"/>
                <a:cs typeface="Arial" pitchFamily="34" charset="-120"/>
              </a:rPr>
              <a:t>WHAT IS BURNOUT?</a:t>
            </a:r>
            <a:endParaRPr lang="en-US" sz="1600" dirty="0"/>
          </a:p>
        </p:txBody>
      </p:sp>
      <p:sp>
        <p:nvSpPr>
          <p:cNvPr id="6" name="Text 4"/>
          <p:cNvSpPr/>
          <p:nvPr/>
        </p:nvSpPr>
        <p:spPr>
          <a:xfrm>
            <a:off x="731520" y="1554480"/>
            <a:ext cx="777240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Burnout is a state of physical, emotional, and mental exhaustion caused by prolonged stress. It's characterized by three dimensions: exhaustion (feeling drained), cynicism (detachment from work), and reduced effectiveness (feeling ineffective or unaccomplished).</a:t>
            </a:r>
            <a:endParaRPr lang="en-US" sz="1300" dirty="0"/>
          </a:p>
        </p:txBody>
      </p:sp>
      <p:sp>
        <p:nvSpPr>
          <p:cNvPr id="7" name="Text 5"/>
          <p:cNvSpPr/>
          <p:nvPr/>
        </p:nvSpPr>
        <p:spPr>
          <a:xfrm>
            <a:off x="731520" y="2194560"/>
            <a:ext cx="768096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PREVENTION STRATEGIES</a:t>
            </a:r>
            <a:endParaRPr lang="en-US" sz="1600" dirty="0"/>
          </a:p>
        </p:txBody>
      </p:sp>
      <p:sp>
        <p:nvSpPr>
          <p:cNvPr id="8" name="Shape 6"/>
          <p:cNvSpPr/>
          <p:nvPr/>
        </p:nvSpPr>
        <p:spPr>
          <a:xfrm>
            <a:off x="457200" y="2606040"/>
            <a:ext cx="2743200" cy="868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57200" y="2606040"/>
            <a:ext cx="2743200" cy="320040"/>
          </a:xfrm>
          <a:prstGeom prst="rect">
            <a:avLst/>
          </a:prstGeom>
          <a:solidFill>
            <a:srgbClr val="028090"/>
          </a:solidFill>
          <a:ln/>
        </p:spPr>
      </p:sp>
      <p:sp>
        <p:nvSpPr>
          <p:cNvPr id="10" name="Text 8"/>
          <p:cNvSpPr/>
          <p:nvPr/>
        </p:nvSpPr>
        <p:spPr>
          <a:xfrm>
            <a:off x="594360" y="2651760"/>
            <a:ext cx="2468880" cy="2286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Set Boundaries</a:t>
            </a:r>
            <a:endParaRPr lang="en-US" sz="1200" dirty="0"/>
          </a:p>
        </p:txBody>
      </p:sp>
      <p:sp>
        <p:nvSpPr>
          <p:cNvPr id="11" name="Text 9"/>
          <p:cNvSpPr/>
          <p:nvPr/>
        </p:nvSpPr>
        <p:spPr>
          <a:xfrm>
            <a:off x="594360" y="2990088"/>
            <a:ext cx="2468880" cy="438912"/>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Define work hours and stick to them</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Learn to say 'no' to requests beyond capacity</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Turn off notifications during rest time</a:t>
            </a:r>
            <a:endParaRPr lang="en-US" sz="1000" dirty="0"/>
          </a:p>
        </p:txBody>
      </p:sp>
      <p:sp>
        <p:nvSpPr>
          <p:cNvPr id="12" name="Shape 10"/>
          <p:cNvSpPr/>
          <p:nvPr/>
        </p:nvSpPr>
        <p:spPr>
          <a:xfrm>
            <a:off x="3474720" y="2606040"/>
            <a:ext cx="2743200" cy="868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Shape 11"/>
          <p:cNvSpPr/>
          <p:nvPr/>
        </p:nvSpPr>
        <p:spPr>
          <a:xfrm>
            <a:off x="3474720" y="2606040"/>
            <a:ext cx="2743200" cy="320040"/>
          </a:xfrm>
          <a:prstGeom prst="rect">
            <a:avLst/>
          </a:prstGeom>
          <a:solidFill>
            <a:srgbClr val="028090"/>
          </a:solidFill>
          <a:ln/>
        </p:spPr>
      </p:sp>
      <p:sp>
        <p:nvSpPr>
          <p:cNvPr id="14" name="Text 12"/>
          <p:cNvSpPr/>
          <p:nvPr/>
        </p:nvSpPr>
        <p:spPr>
          <a:xfrm>
            <a:off x="3611880" y="2651760"/>
            <a:ext cx="2468880" cy="2286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Prioritize Self-Care</a:t>
            </a:r>
            <a:endParaRPr lang="en-US" sz="1200" dirty="0"/>
          </a:p>
        </p:txBody>
      </p:sp>
      <p:sp>
        <p:nvSpPr>
          <p:cNvPr id="15" name="Text 13"/>
          <p:cNvSpPr/>
          <p:nvPr/>
        </p:nvSpPr>
        <p:spPr>
          <a:xfrm>
            <a:off x="3611880" y="2990088"/>
            <a:ext cx="2468880" cy="438912"/>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Schedule rest and recreation like you schedule meetings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Maintain physical health (sleep, nutrition, exercise)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Engage in activities that bring joy</a:t>
            </a:r>
            <a:endParaRPr lang="en-US" sz="1000" dirty="0"/>
          </a:p>
        </p:txBody>
      </p:sp>
      <p:sp>
        <p:nvSpPr>
          <p:cNvPr id="16" name="Shape 14"/>
          <p:cNvSpPr/>
          <p:nvPr/>
        </p:nvSpPr>
        <p:spPr>
          <a:xfrm>
            <a:off x="6492240" y="2606040"/>
            <a:ext cx="2743200" cy="868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5"/>
          <p:cNvSpPr/>
          <p:nvPr/>
        </p:nvSpPr>
        <p:spPr>
          <a:xfrm>
            <a:off x="6492240" y="2606040"/>
            <a:ext cx="2743200" cy="320040"/>
          </a:xfrm>
          <a:prstGeom prst="rect">
            <a:avLst/>
          </a:prstGeom>
          <a:solidFill>
            <a:srgbClr val="028090"/>
          </a:solidFill>
          <a:ln/>
        </p:spPr>
      </p:sp>
      <p:sp>
        <p:nvSpPr>
          <p:cNvPr id="18" name="Text 16"/>
          <p:cNvSpPr/>
          <p:nvPr/>
        </p:nvSpPr>
        <p:spPr>
          <a:xfrm>
            <a:off x="6629400" y="2651760"/>
            <a:ext cx="2468880" cy="2286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Delegate &amp; Share Load</a:t>
            </a:r>
            <a:endParaRPr lang="en-US" sz="1200" dirty="0"/>
          </a:p>
        </p:txBody>
      </p:sp>
      <p:sp>
        <p:nvSpPr>
          <p:cNvPr id="19" name="Text 17"/>
          <p:cNvSpPr/>
          <p:nvPr/>
        </p:nvSpPr>
        <p:spPr>
          <a:xfrm>
            <a:off x="6629400" y="2990088"/>
            <a:ext cx="2468880" cy="438912"/>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Distribute responsibilities across the team</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Ask for help when needed</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Rotate demanding tasks</a:t>
            </a:r>
            <a:endParaRPr lang="en-US" sz="1000" dirty="0"/>
          </a:p>
        </p:txBody>
      </p:sp>
      <p:sp>
        <p:nvSpPr>
          <p:cNvPr id="20" name="Shape 18"/>
          <p:cNvSpPr/>
          <p:nvPr/>
        </p:nvSpPr>
        <p:spPr>
          <a:xfrm>
            <a:off x="457200" y="3566160"/>
            <a:ext cx="2743200" cy="868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457200" y="3566160"/>
            <a:ext cx="2743200" cy="320040"/>
          </a:xfrm>
          <a:prstGeom prst="rect">
            <a:avLst/>
          </a:prstGeom>
          <a:solidFill>
            <a:srgbClr val="028090"/>
          </a:solidFill>
          <a:ln/>
        </p:spPr>
      </p:sp>
      <p:sp>
        <p:nvSpPr>
          <p:cNvPr id="22" name="Text 20"/>
          <p:cNvSpPr/>
          <p:nvPr/>
        </p:nvSpPr>
        <p:spPr>
          <a:xfrm>
            <a:off x="594360" y="3611880"/>
            <a:ext cx="2468880" cy="2286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Connect with Purpose</a:t>
            </a:r>
            <a:endParaRPr lang="en-US" sz="1200" dirty="0"/>
          </a:p>
        </p:txBody>
      </p:sp>
      <p:sp>
        <p:nvSpPr>
          <p:cNvPr id="23" name="Text 21"/>
          <p:cNvSpPr/>
          <p:nvPr/>
        </p:nvSpPr>
        <p:spPr>
          <a:xfrm>
            <a:off x="594360" y="3950208"/>
            <a:ext cx="2468880" cy="438912"/>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Regularly remind yourself why this work matters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Celebrate small wins and progress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Share stories of impact with your team</a:t>
            </a:r>
            <a:endParaRPr lang="en-US" sz="1000" dirty="0"/>
          </a:p>
        </p:txBody>
      </p:sp>
      <p:sp>
        <p:nvSpPr>
          <p:cNvPr id="24" name="Shape 22"/>
          <p:cNvSpPr/>
          <p:nvPr/>
        </p:nvSpPr>
        <p:spPr>
          <a:xfrm>
            <a:off x="3474720" y="3566160"/>
            <a:ext cx="2743200" cy="868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Shape 23"/>
          <p:cNvSpPr/>
          <p:nvPr/>
        </p:nvSpPr>
        <p:spPr>
          <a:xfrm>
            <a:off x="3474720" y="3566160"/>
            <a:ext cx="2743200" cy="320040"/>
          </a:xfrm>
          <a:prstGeom prst="rect">
            <a:avLst/>
          </a:prstGeom>
          <a:solidFill>
            <a:srgbClr val="028090"/>
          </a:solidFill>
          <a:ln/>
        </p:spPr>
      </p:sp>
      <p:sp>
        <p:nvSpPr>
          <p:cNvPr id="26" name="Text 24"/>
          <p:cNvSpPr/>
          <p:nvPr/>
        </p:nvSpPr>
        <p:spPr>
          <a:xfrm>
            <a:off x="3611880" y="3611880"/>
            <a:ext cx="2468880" cy="2286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Seek Support</a:t>
            </a:r>
            <a:endParaRPr lang="en-US" sz="1200" dirty="0"/>
          </a:p>
        </p:txBody>
      </p:sp>
      <p:sp>
        <p:nvSpPr>
          <p:cNvPr id="27" name="Text 25"/>
          <p:cNvSpPr/>
          <p:nvPr/>
        </p:nvSpPr>
        <p:spPr>
          <a:xfrm>
            <a:off x="3611880" y="3950208"/>
            <a:ext cx="2468880" cy="438912"/>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Talk to trusted friends, mentors, or counselors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Join peer support groups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Don't suffer in silence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MENTAL HEALTH AWARENESS</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Mental health is just as important as physical health. Good mental health isn't just the absence of mental illness—it's a state of wellbeing where you can cope with normal stresses, work productively, and contribute to your community.</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BREAKING THE STIGMA</a:t>
            </a:r>
            <a:endParaRPr lang="en-US" sz="1600" dirty="0"/>
          </a:p>
        </p:txBody>
      </p:sp>
      <p:pic>
        <p:nvPicPr>
          <p:cNvPr id="6" name="Image 1" descr="preencoded.png">    </p:cNvPr>
          <p:cNvPicPr>
            <a:picLocks noChangeAspect="1"/>
          </p:cNvPicPr>
          <p:nvPr/>
        </p:nvPicPr>
        <p:blipFill>
          <a:blip r:embed="rId2"/>
          <a:stretch>
            <a:fillRect/>
          </a:stretch>
        </p:blipFill>
        <p:spPr>
          <a:xfrm>
            <a:off x="731520" y="2395728"/>
            <a:ext cx="274320" cy="274320"/>
          </a:xfrm>
          <a:prstGeom prst="rect">
            <a:avLst/>
          </a:prstGeom>
        </p:spPr>
      </p:pic>
      <p:sp>
        <p:nvSpPr>
          <p:cNvPr id="7" name="Text 3"/>
          <p:cNvSpPr/>
          <p:nvPr/>
        </p:nvSpPr>
        <p:spPr>
          <a:xfrm>
            <a:off x="1097280" y="237744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Mental health challenges are common—you're not alone or weak for experiencing them</a:t>
            </a:r>
            <a:endParaRPr lang="en-US" sz="1300" dirty="0"/>
          </a:p>
        </p:txBody>
      </p:sp>
      <p:pic>
        <p:nvPicPr>
          <p:cNvPr id="8" name="Image 2" descr="preencoded.png">    </p:cNvPr>
          <p:cNvPicPr>
            <a:picLocks noChangeAspect="1"/>
          </p:cNvPicPr>
          <p:nvPr/>
        </p:nvPicPr>
        <p:blipFill>
          <a:blip r:embed="rId3"/>
          <a:stretch>
            <a:fillRect/>
          </a:stretch>
        </p:blipFill>
        <p:spPr>
          <a:xfrm>
            <a:off x="731520" y="2807208"/>
            <a:ext cx="274320" cy="274320"/>
          </a:xfrm>
          <a:prstGeom prst="rect">
            <a:avLst/>
          </a:prstGeom>
        </p:spPr>
      </p:pic>
      <p:sp>
        <p:nvSpPr>
          <p:cNvPr id="9" name="Text 4"/>
          <p:cNvSpPr/>
          <p:nvPr/>
        </p:nvSpPr>
        <p:spPr>
          <a:xfrm>
            <a:off x="1097280" y="278892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Seeking help is a sign of strength, not weakness</a:t>
            </a:r>
            <a:endParaRPr lang="en-US" sz="1300" dirty="0"/>
          </a:p>
        </p:txBody>
      </p:sp>
      <p:pic>
        <p:nvPicPr>
          <p:cNvPr id="10" name="Image 3" descr="preencoded.png">    </p:cNvPr>
          <p:cNvPicPr>
            <a:picLocks noChangeAspect="1"/>
          </p:cNvPicPr>
          <p:nvPr/>
        </p:nvPicPr>
        <p:blipFill>
          <a:blip r:embed="rId4"/>
          <a:stretch>
            <a:fillRect/>
          </a:stretch>
        </p:blipFill>
        <p:spPr>
          <a:xfrm>
            <a:off x="731520" y="3218688"/>
            <a:ext cx="274320" cy="274320"/>
          </a:xfrm>
          <a:prstGeom prst="rect">
            <a:avLst/>
          </a:prstGeom>
        </p:spPr>
      </p:pic>
      <p:sp>
        <p:nvSpPr>
          <p:cNvPr id="11" name="Text 5"/>
          <p:cNvSpPr/>
          <p:nvPr/>
        </p:nvSpPr>
        <p:spPr>
          <a:xfrm>
            <a:off x="1097280" y="320040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Talk openly about mental health in your organization to normalize it</a:t>
            </a:r>
            <a:endParaRPr lang="en-US" sz="1300" dirty="0"/>
          </a:p>
        </p:txBody>
      </p:sp>
      <p:pic>
        <p:nvPicPr>
          <p:cNvPr id="12" name="Image 4" descr="preencoded.png">    </p:cNvPr>
          <p:cNvPicPr>
            <a:picLocks noChangeAspect="1"/>
          </p:cNvPicPr>
          <p:nvPr/>
        </p:nvPicPr>
        <p:blipFill>
          <a:blip r:embed="rId5"/>
          <a:stretch>
            <a:fillRect/>
          </a:stretch>
        </p:blipFill>
        <p:spPr>
          <a:xfrm>
            <a:off x="731520" y="3630168"/>
            <a:ext cx="274320" cy="274320"/>
          </a:xfrm>
          <a:prstGeom prst="rect">
            <a:avLst/>
          </a:prstGeom>
        </p:spPr>
      </p:pic>
      <p:sp>
        <p:nvSpPr>
          <p:cNvPr id="13" name="Text 6"/>
          <p:cNvSpPr/>
          <p:nvPr/>
        </p:nvSpPr>
        <p:spPr>
          <a:xfrm>
            <a:off x="1097280" y="361188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Support teammates who are struggling without judgment</a:t>
            </a:r>
            <a:endParaRPr lang="en-US" sz="1300" dirty="0"/>
          </a:p>
        </p:txBody>
      </p:sp>
      <p:pic>
        <p:nvPicPr>
          <p:cNvPr id="14" name="Image 5" descr="preencoded.png">    </p:cNvPr>
          <p:cNvPicPr>
            <a:picLocks noChangeAspect="1"/>
          </p:cNvPicPr>
          <p:nvPr/>
        </p:nvPicPr>
        <p:blipFill>
          <a:blip r:embed="rId6"/>
          <a:stretch>
            <a:fillRect/>
          </a:stretch>
        </p:blipFill>
        <p:spPr>
          <a:xfrm>
            <a:off x="731520" y="4041648"/>
            <a:ext cx="274320" cy="274320"/>
          </a:xfrm>
          <a:prstGeom prst="rect">
            <a:avLst/>
          </a:prstGeom>
        </p:spPr>
      </p:pic>
      <p:sp>
        <p:nvSpPr>
          <p:cNvPr id="15" name="Text 7"/>
          <p:cNvSpPr/>
          <p:nvPr/>
        </p:nvSpPr>
        <p:spPr>
          <a:xfrm>
            <a:off x="1097280" y="4023360"/>
            <a:ext cx="7406640" cy="32004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Mental health is part of overall health—treat it with the same seriousness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MENTAL HEALTH SELF-CARE PRACTICES</a:t>
            </a:r>
            <a:endParaRPr lang="en-US" sz="3600" dirty="0"/>
          </a:p>
        </p:txBody>
      </p:sp>
      <p:sp>
        <p:nvSpPr>
          <p:cNvPr id="3" name="Shape 1"/>
          <p:cNvSpPr/>
          <p:nvPr/>
        </p:nvSpPr>
        <p:spPr>
          <a:xfrm>
            <a:off x="457200" y="109728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4206240" cy="320040"/>
          </a:xfrm>
          <a:prstGeom prst="rect">
            <a:avLst/>
          </a:prstGeom>
          <a:solidFill>
            <a:srgbClr val="02C39A"/>
          </a:solidFill>
          <a:ln/>
        </p:spPr>
      </p:sp>
      <p:sp>
        <p:nvSpPr>
          <p:cNvPr id="5" name="Text 3"/>
          <p:cNvSpPr/>
          <p:nvPr/>
        </p:nvSpPr>
        <p:spPr>
          <a:xfrm>
            <a:off x="640080" y="11430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Mindfulness &amp; Meditation</a:t>
            </a:r>
            <a:endParaRPr lang="en-US" sz="1300" dirty="0"/>
          </a:p>
        </p:txBody>
      </p:sp>
      <p:sp>
        <p:nvSpPr>
          <p:cNvPr id="6" name="Text 4"/>
          <p:cNvSpPr/>
          <p:nvPr/>
        </p:nvSpPr>
        <p:spPr>
          <a:xfrm>
            <a:off x="640080" y="150876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5-10 minutes daily of focused breathing or body scans</a:t>
            </a:r>
            <a:endParaRPr lang="en-US" sz="1100" dirty="0"/>
          </a:p>
        </p:txBody>
      </p:sp>
      <p:sp>
        <p:nvSpPr>
          <p:cNvPr id="7" name="Text 5"/>
          <p:cNvSpPr/>
          <p:nvPr/>
        </p:nvSpPr>
        <p:spPr>
          <a:xfrm>
            <a:off x="640080" y="181051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Reduces anxiety, improves focus, builds emotional regulation</a:t>
            </a:r>
            <a:endParaRPr lang="en-US" sz="1000" dirty="0"/>
          </a:p>
        </p:txBody>
      </p:sp>
      <p:sp>
        <p:nvSpPr>
          <p:cNvPr id="8" name="Shape 6"/>
          <p:cNvSpPr/>
          <p:nvPr/>
        </p:nvSpPr>
        <p:spPr>
          <a:xfrm>
            <a:off x="4937760" y="109728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937760" y="1097280"/>
            <a:ext cx="4206240" cy="320040"/>
          </a:xfrm>
          <a:prstGeom prst="rect">
            <a:avLst/>
          </a:prstGeom>
          <a:solidFill>
            <a:srgbClr val="02C39A"/>
          </a:solidFill>
          <a:ln/>
        </p:spPr>
      </p:sp>
      <p:sp>
        <p:nvSpPr>
          <p:cNvPr id="10" name="Text 8"/>
          <p:cNvSpPr/>
          <p:nvPr/>
        </p:nvSpPr>
        <p:spPr>
          <a:xfrm>
            <a:off x="5120640" y="11430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Physical Activity</a:t>
            </a:r>
            <a:endParaRPr lang="en-US" sz="1300" dirty="0"/>
          </a:p>
        </p:txBody>
      </p:sp>
      <p:sp>
        <p:nvSpPr>
          <p:cNvPr id="11" name="Text 9"/>
          <p:cNvSpPr/>
          <p:nvPr/>
        </p:nvSpPr>
        <p:spPr>
          <a:xfrm>
            <a:off x="5120640" y="150876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30 minutes of movement (walking, dancing, sports) most days</a:t>
            </a:r>
            <a:endParaRPr lang="en-US" sz="1100" dirty="0"/>
          </a:p>
        </p:txBody>
      </p:sp>
      <p:sp>
        <p:nvSpPr>
          <p:cNvPr id="12" name="Text 10"/>
          <p:cNvSpPr/>
          <p:nvPr/>
        </p:nvSpPr>
        <p:spPr>
          <a:xfrm>
            <a:off x="5120640" y="181051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Releases endorphins, reduces stress hormones, improves mood</a:t>
            </a:r>
            <a:endParaRPr lang="en-US" sz="1000" dirty="0"/>
          </a:p>
        </p:txBody>
      </p:sp>
      <p:sp>
        <p:nvSpPr>
          <p:cNvPr id="13" name="Shape 11"/>
          <p:cNvSpPr/>
          <p:nvPr/>
        </p:nvSpPr>
        <p:spPr>
          <a:xfrm>
            <a:off x="457200" y="228600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2286000"/>
            <a:ext cx="4206240" cy="320040"/>
          </a:xfrm>
          <a:prstGeom prst="rect">
            <a:avLst/>
          </a:prstGeom>
          <a:solidFill>
            <a:srgbClr val="02C39A"/>
          </a:solidFill>
          <a:ln/>
        </p:spPr>
      </p:sp>
      <p:sp>
        <p:nvSpPr>
          <p:cNvPr id="15" name="Text 13"/>
          <p:cNvSpPr/>
          <p:nvPr/>
        </p:nvSpPr>
        <p:spPr>
          <a:xfrm>
            <a:off x="640080" y="233172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Social Connection</a:t>
            </a:r>
            <a:endParaRPr lang="en-US" sz="1300" dirty="0"/>
          </a:p>
        </p:txBody>
      </p:sp>
      <p:sp>
        <p:nvSpPr>
          <p:cNvPr id="16" name="Text 14"/>
          <p:cNvSpPr/>
          <p:nvPr/>
        </p:nvSpPr>
        <p:spPr>
          <a:xfrm>
            <a:off x="640080" y="269748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Regular contact with friends, family, and supportive communities</a:t>
            </a:r>
            <a:endParaRPr lang="en-US" sz="1100" dirty="0"/>
          </a:p>
        </p:txBody>
      </p:sp>
      <p:sp>
        <p:nvSpPr>
          <p:cNvPr id="17" name="Text 15"/>
          <p:cNvSpPr/>
          <p:nvPr/>
        </p:nvSpPr>
        <p:spPr>
          <a:xfrm>
            <a:off x="640080" y="299923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Prevents isolation, provides emotional support, increases belonging</a:t>
            </a:r>
            <a:endParaRPr lang="en-US" sz="1000" dirty="0"/>
          </a:p>
        </p:txBody>
      </p:sp>
      <p:sp>
        <p:nvSpPr>
          <p:cNvPr id="18" name="Shape 16"/>
          <p:cNvSpPr/>
          <p:nvPr/>
        </p:nvSpPr>
        <p:spPr>
          <a:xfrm>
            <a:off x="4937760" y="228600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937760" y="2286000"/>
            <a:ext cx="4206240" cy="320040"/>
          </a:xfrm>
          <a:prstGeom prst="rect">
            <a:avLst/>
          </a:prstGeom>
          <a:solidFill>
            <a:srgbClr val="02C39A"/>
          </a:solidFill>
          <a:ln/>
        </p:spPr>
      </p:sp>
      <p:sp>
        <p:nvSpPr>
          <p:cNvPr id="20" name="Text 18"/>
          <p:cNvSpPr/>
          <p:nvPr/>
        </p:nvSpPr>
        <p:spPr>
          <a:xfrm>
            <a:off x="5120640" y="233172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Sleep Hygiene</a:t>
            </a:r>
            <a:endParaRPr lang="en-US" sz="1300" dirty="0"/>
          </a:p>
        </p:txBody>
      </p:sp>
      <p:sp>
        <p:nvSpPr>
          <p:cNvPr id="21" name="Text 19"/>
          <p:cNvSpPr/>
          <p:nvPr/>
        </p:nvSpPr>
        <p:spPr>
          <a:xfrm>
            <a:off x="5120640" y="269748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7-9 hours nightly, consistent schedule, screen-free before bed</a:t>
            </a:r>
            <a:endParaRPr lang="en-US" sz="1100" dirty="0"/>
          </a:p>
        </p:txBody>
      </p:sp>
      <p:sp>
        <p:nvSpPr>
          <p:cNvPr id="22" name="Text 20"/>
          <p:cNvSpPr/>
          <p:nvPr/>
        </p:nvSpPr>
        <p:spPr>
          <a:xfrm>
            <a:off x="5120640" y="299923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Restores energy, improves cognition, regulates emotions</a:t>
            </a:r>
            <a:endParaRPr lang="en-US" sz="1000" dirty="0"/>
          </a:p>
        </p:txBody>
      </p:sp>
      <p:sp>
        <p:nvSpPr>
          <p:cNvPr id="23" name="Shape 21"/>
          <p:cNvSpPr/>
          <p:nvPr/>
        </p:nvSpPr>
        <p:spPr>
          <a:xfrm>
            <a:off x="457200" y="347472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57200" y="3474720"/>
            <a:ext cx="4206240" cy="320040"/>
          </a:xfrm>
          <a:prstGeom prst="rect">
            <a:avLst/>
          </a:prstGeom>
          <a:solidFill>
            <a:srgbClr val="02C39A"/>
          </a:solidFill>
          <a:ln/>
        </p:spPr>
      </p:sp>
      <p:sp>
        <p:nvSpPr>
          <p:cNvPr id="25" name="Text 23"/>
          <p:cNvSpPr/>
          <p:nvPr/>
        </p:nvSpPr>
        <p:spPr>
          <a:xfrm>
            <a:off x="640080" y="35204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Creative Expression</a:t>
            </a:r>
            <a:endParaRPr lang="en-US" sz="1300" dirty="0"/>
          </a:p>
        </p:txBody>
      </p:sp>
      <p:sp>
        <p:nvSpPr>
          <p:cNvPr id="26" name="Text 24"/>
          <p:cNvSpPr/>
          <p:nvPr/>
        </p:nvSpPr>
        <p:spPr>
          <a:xfrm>
            <a:off x="640080" y="388620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Art, music, writing, or other outlets for emotions</a:t>
            </a:r>
            <a:endParaRPr lang="en-US" sz="1100" dirty="0"/>
          </a:p>
        </p:txBody>
      </p:sp>
      <p:sp>
        <p:nvSpPr>
          <p:cNvPr id="27" name="Text 25"/>
          <p:cNvSpPr/>
          <p:nvPr/>
        </p:nvSpPr>
        <p:spPr>
          <a:xfrm>
            <a:off x="640080" y="418795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Processes difficult feelings, provides joy, reduces rumination</a:t>
            </a:r>
            <a:endParaRPr lang="en-US" sz="1000" dirty="0"/>
          </a:p>
        </p:txBody>
      </p:sp>
      <p:sp>
        <p:nvSpPr>
          <p:cNvPr id="28" name="Shape 26"/>
          <p:cNvSpPr/>
          <p:nvPr/>
        </p:nvSpPr>
        <p:spPr>
          <a:xfrm>
            <a:off x="4937760" y="347472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9" name="Shape 27"/>
          <p:cNvSpPr/>
          <p:nvPr/>
        </p:nvSpPr>
        <p:spPr>
          <a:xfrm>
            <a:off x="4937760" y="3474720"/>
            <a:ext cx="4206240" cy="320040"/>
          </a:xfrm>
          <a:prstGeom prst="rect">
            <a:avLst/>
          </a:prstGeom>
          <a:solidFill>
            <a:srgbClr val="02C39A"/>
          </a:solidFill>
          <a:ln/>
        </p:spPr>
      </p:sp>
      <p:sp>
        <p:nvSpPr>
          <p:cNvPr id="30" name="Text 28"/>
          <p:cNvSpPr/>
          <p:nvPr/>
        </p:nvSpPr>
        <p:spPr>
          <a:xfrm>
            <a:off x="5120640" y="35204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Professional Help</a:t>
            </a:r>
            <a:endParaRPr lang="en-US" sz="1300" dirty="0"/>
          </a:p>
        </p:txBody>
      </p:sp>
      <p:sp>
        <p:nvSpPr>
          <p:cNvPr id="31" name="Text 29"/>
          <p:cNvSpPr/>
          <p:nvPr/>
        </p:nvSpPr>
        <p:spPr>
          <a:xfrm>
            <a:off x="5120640" y="388620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Counseling or therapy when self-care isn't enough</a:t>
            </a:r>
            <a:endParaRPr lang="en-US" sz="1100" dirty="0"/>
          </a:p>
        </p:txBody>
      </p:sp>
      <p:sp>
        <p:nvSpPr>
          <p:cNvPr id="32" name="Text 30"/>
          <p:cNvSpPr/>
          <p:nvPr/>
        </p:nvSpPr>
        <p:spPr>
          <a:xfrm>
            <a:off x="5120640" y="4187952"/>
            <a:ext cx="3840480" cy="274320"/>
          </a:xfrm>
          <a:prstGeom prst="rect">
            <a:avLst/>
          </a:prstGeom>
          <a:noFill/>
          <a:ln/>
        </p:spPr>
        <p:txBody>
          <a:bodyPr wrap="square" rtlCol="0" anchor="ctr"/>
          <a:lstStyle/>
          <a:p>
            <a:pPr indent="0" marL="0">
              <a:buNone/>
            </a:pPr>
            <a:r>
              <a:rPr lang="en-US" sz="1000" b="1" dirty="0">
                <a:solidFill>
                  <a:srgbClr val="028090"/>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Expert support for persistent challenges, trauma, or mental illness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ADAPTIVE THINKING</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Adaptive thinking is the ability to adjust your strategies and perspectives in response to changing circumstances. In advocacy, where conditions are rarely stable, this flexibility is essential for finding solutions and maintaining momentum.</a:t>
            </a:r>
            <a:endParaRPr lang="en-US" sz="1400" dirty="0"/>
          </a:p>
        </p:txBody>
      </p:sp>
      <p:sp>
        <p:nvSpPr>
          <p:cNvPr id="5" name="Shape 2"/>
          <p:cNvSpPr/>
          <p:nvPr/>
        </p:nvSpPr>
        <p:spPr>
          <a:xfrm>
            <a:off x="731520" y="1965960"/>
            <a:ext cx="3657600" cy="320040"/>
          </a:xfrm>
          <a:prstGeom prst="rect">
            <a:avLst/>
          </a:prstGeom>
          <a:solidFill>
            <a:srgbClr val="636E72"/>
          </a:solidFill>
          <a:ln/>
        </p:spPr>
      </p:sp>
      <p:sp>
        <p:nvSpPr>
          <p:cNvPr id="6" name="Text 3"/>
          <p:cNvSpPr/>
          <p:nvPr/>
        </p:nvSpPr>
        <p:spPr>
          <a:xfrm>
            <a:off x="731520" y="2011680"/>
            <a:ext cx="3657600" cy="2286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RIGID THINKING</a:t>
            </a:r>
            <a:endParaRPr lang="en-US" sz="1400" dirty="0"/>
          </a:p>
        </p:txBody>
      </p:sp>
      <p:sp>
        <p:nvSpPr>
          <p:cNvPr id="7" name="Shape 4"/>
          <p:cNvSpPr/>
          <p:nvPr/>
        </p:nvSpPr>
        <p:spPr>
          <a:xfrm>
            <a:off x="4754880" y="1965960"/>
            <a:ext cx="3657600" cy="320040"/>
          </a:xfrm>
          <a:prstGeom prst="rect">
            <a:avLst/>
          </a:prstGeom>
          <a:solidFill>
            <a:srgbClr val="028090"/>
          </a:solidFill>
          <a:ln/>
        </p:spPr>
      </p:sp>
      <p:sp>
        <p:nvSpPr>
          <p:cNvPr id="8" name="Text 5"/>
          <p:cNvSpPr/>
          <p:nvPr/>
        </p:nvSpPr>
        <p:spPr>
          <a:xfrm>
            <a:off x="4754880" y="2011680"/>
            <a:ext cx="3657600" cy="2286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ADAPTIVE THINKING</a:t>
            </a:r>
            <a:endParaRPr lang="en-US" sz="1400" dirty="0"/>
          </a:p>
        </p:txBody>
      </p:sp>
      <p:sp>
        <p:nvSpPr>
          <p:cNvPr id="9" name="Shape 6"/>
          <p:cNvSpPr/>
          <p:nvPr/>
        </p:nvSpPr>
        <p:spPr>
          <a:xfrm>
            <a:off x="731520" y="237744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Text 7"/>
          <p:cNvSpPr/>
          <p:nvPr/>
        </p:nvSpPr>
        <p:spPr>
          <a:xfrm>
            <a:off x="822960" y="2423160"/>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"This is the only way to do it"</a:t>
            </a:r>
            <a:endParaRPr lang="en-US" sz="1100" dirty="0"/>
          </a:p>
        </p:txBody>
      </p:sp>
      <p:sp>
        <p:nvSpPr>
          <p:cNvPr id="11" name="Shape 8"/>
          <p:cNvSpPr/>
          <p:nvPr/>
        </p:nvSpPr>
        <p:spPr>
          <a:xfrm>
            <a:off x="4754880" y="237744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Text 9"/>
          <p:cNvSpPr/>
          <p:nvPr/>
        </p:nvSpPr>
        <p:spPr>
          <a:xfrm>
            <a:off x="4846320" y="2423160"/>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"What are alternative approaches?"</a:t>
            </a:r>
            <a:endParaRPr lang="en-US" sz="1100" dirty="0"/>
          </a:p>
        </p:txBody>
      </p:sp>
      <p:sp>
        <p:nvSpPr>
          <p:cNvPr id="13" name="Shape 10"/>
          <p:cNvSpPr/>
          <p:nvPr/>
        </p:nvSpPr>
        <p:spPr>
          <a:xfrm>
            <a:off x="731520" y="2807208"/>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Text 11"/>
          <p:cNvSpPr/>
          <p:nvPr/>
        </p:nvSpPr>
        <p:spPr>
          <a:xfrm>
            <a:off x="822960" y="2852928"/>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"If this fails, everything is ruined"</a:t>
            </a:r>
            <a:endParaRPr lang="en-US" sz="1100" dirty="0"/>
          </a:p>
        </p:txBody>
      </p:sp>
      <p:sp>
        <p:nvSpPr>
          <p:cNvPr id="15" name="Shape 12"/>
          <p:cNvSpPr/>
          <p:nvPr/>
        </p:nvSpPr>
        <p:spPr>
          <a:xfrm>
            <a:off x="4754880" y="2807208"/>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Text 13"/>
          <p:cNvSpPr/>
          <p:nvPr/>
        </p:nvSpPr>
        <p:spPr>
          <a:xfrm>
            <a:off x="4846320" y="2852928"/>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"What can we learn and try next?"</a:t>
            </a:r>
            <a:endParaRPr lang="en-US" sz="1100" dirty="0"/>
          </a:p>
        </p:txBody>
      </p:sp>
      <p:sp>
        <p:nvSpPr>
          <p:cNvPr id="17" name="Shape 14"/>
          <p:cNvSpPr/>
          <p:nvPr/>
        </p:nvSpPr>
        <p:spPr>
          <a:xfrm>
            <a:off x="731520" y="3236976"/>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Text 15"/>
          <p:cNvSpPr/>
          <p:nvPr/>
        </p:nvSpPr>
        <p:spPr>
          <a:xfrm>
            <a:off x="822960" y="3282696"/>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"We must stick to the original plan"</a:t>
            </a:r>
            <a:endParaRPr lang="en-US" sz="1100" dirty="0"/>
          </a:p>
        </p:txBody>
      </p:sp>
      <p:sp>
        <p:nvSpPr>
          <p:cNvPr id="19" name="Shape 16"/>
          <p:cNvSpPr/>
          <p:nvPr/>
        </p:nvSpPr>
        <p:spPr>
          <a:xfrm>
            <a:off x="4754880" y="3236976"/>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Text 17"/>
          <p:cNvSpPr/>
          <p:nvPr/>
        </p:nvSpPr>
        <p:spPr>
          <a:xfrm>
            <a:off x="4846320" y="3282696"/>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"Let's adjust based on what we're learning"</a:t>
            </a:r>
            <a:endParaRPr lang="en-US" sz="1100" dirty="0"/>
          </a:p>
        </p:txBody>
      </p:sp>
      <p:sp>
        <p:nvSpPr>
          <p:cNvPr id="21" name="Shape 18"/>
          <p:cNvSpPr/>
          <p:nvPr/>
        </p:nvSpPr>
        <p:spPr>
          <a:xfrm>
            <a:off x="731520" y="3666744"/>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Text 19"/>
          <p:cNvSpPr/>
          <p:nvPr/>
        </p:nvSpPr>
        <p:spPr>
          <a:xfrm>
            <a:off x="822960" y="3712464"/>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"This problem is insurmountable"</a:t>
            </a:r>
            <a:endParaRPr lang="en-US" sz="1100" dirty="0"/>
          </a:p>
        </p:txBody>
      </p:sp>
      <p:sp>
        <p:nvSpPr>
          <p:cNvPr id="23" name="Shape 20"/>
          <p:cNvSpPr/>
          <p:nvPr/>
        </p:nvSpPr>
        <p:spPr>
          <a:xfrm>
            <a:off x="4754880" y="3666744"/>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Text 21"/>
          <p:cNvSpPr/>
          <p:nvPr/>
        </p:nvSpPr>
        <p:spPr>
          <a:xfrm>
            <a:off x="4846320" y="3712464"/>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"How can we break this into smaller parts?"</a:t>
            </a:r>
            <a:endParaRPr lang="en-US" sz="1100" dirty="0"/>
          </a:p>
        </p:txBody>
      </p:sp>
      <p:sp>
        <p:nvSpPr>
          <p:cNvPr id="25" name="Shape 22"/>
          <p:cNvSpPr/>
          <p:nvPr/>
        </p:nvSpPr>
        <p:spPr>
          <a:xfrm>
            <a:off x="731520" y="4096512"/>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Text 23"/>
          <p:cNvSpPr/>
          <p:nvPr/>
        </p:nvSpPr>
        <p:spPr>
          <a:xfrm>
            <a:off x="822960" y="4142232"/>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"I need all resources to start"</a:t>
            </a:r>
            <a:endParaRPr lang="en-US" sz="1100" dirty="0"/>
          </a:p>
        </p:txBody>
      </p:sp>
      <p:sp>
        <p:nvSpPr>
          <p:cNvPr id="27" name="Shape 24"/>
          <p:cNvSpPr/>
          <p:nvPr/>
        </p:nvSpPr>
        <p:spPr>
          <a:xfrm>
            <a:off x="4754880" y="4096512"/>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Text 25"/>
          <p:cNvSpPr/>
          <p:nvPr/>
        </p:nvSpPr>
        <p:spPr>
          <a:xfrm>
            <a:off x="4846320" y="4142232"/>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"What can we do with what we have?"</a:t>
            </a:r>
            <a:endParaRPr lang="en-US" sz="1100" dirty="0"/>
          </a:p>
        </p:txBody>
      </p:sp>
      <p:sp>
        <p:nvSpPr>
          <p:cNvPr id="29" name="Shape 26"/>
          <p:cNvSpPr/>
          <p:nvPr/>
        </p:nvSpPr>
        <p:spPr>
          <a:xfrm>
            <a:off x="731520" y="452628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Text 27"/>
          <p:cNvSpPr/>
          <p:nvPr/>
        </p:nvSpPr>
        <p:spPr>
          <a:xfrm>
            <a:off x="822960" y="4572000"/>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"This setback means we're off track"</a:t>
            </a:r>
            <a:endParaRPr lang="en-US" sz="1100" dirty="0"/>
          </a:p>
        </p:txBody>
      </p:sp>
      <p:sp>
        <p:nvSpPr>
          <p:cNvPr id="31" name="Shape 28"/>
          <p:cNvSpPr/>
          <p:nvPr/>
        </p:nvSpPr>
        <p:spPr>
          <a:xfrm>
            <a:off x="4754880" y="452628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2" name="Text 29"/>
          <p:cNvSpPr/>
          <p:nvPr/>
        </p:nvSpPr>
        <p:spPr>
          <a:xfrm>
            <a:off x="4846320" y="4572000"/>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"This setback reveals new information"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PROBLEM-SOLVING MINDSET</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Effective problem-solving combines analytical thinking with creativity. Here's a framework for tackling complex advocacy challenges:</a:t>
            </a:r>
            <a:endParaRPr lang="en-US" sz="1400" dirty="0"/>
          </a:p>
        </p:txBody>
      </p:sp>
      <p:sp>
        <p:nvSpPr>
          <p:cNvPr id="4" name="Shape 2"/>
          <p:cNvSpPr/>
          <p:nvPr/>
        </p:nvSpPr>
        <p:spPr>
          <a:xfrm>
            <a:off x="457200" y="1600200"/>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00200"/>
            <a:ext cx="2286000" cy="594360"/>
          </a:xfrm>
          <a:prstGeom prst="rect">
            <a:avLst/>
          </a:prstGeom>
          <a:solidFill>
            <a:srgbClr val="028090"/>
          </a:solidFill>
          <a:ln/>
        </p:spPr>
      </p:sp>
      <p:sp>
        <p:nvSpPr>
          <p:cNvPr id="6" name="Text 4"/>
          <p:cNvSpPr/>
          <p:nvPr/>
        </p:nvSpPr>
        <p:spPr>
          <a:xfrm>
            <a:off x="548640" y="1691640"/>
            <a:ext cx="210312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1. DEFINE THE PROBLEM</a:t>
            </a:r>
            <a:endParaRPr lang="en-US" sz="1200" dirty="0"/>
          </a:p>
        </p:txBody>
      </p:sp>
      <p:sp>
        <p:nvSpPr>
          <p:cNvPr id="7" name="Text 5"/>
          <p:cNvSpPr/>
          <p:nvPr/>
        </p:nvSpPr>
        <p:spPr>
          <a:xfrm>
            <a:off x="2926080" y="1673352"/>
            <a:ext cx="347472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What exactly is the issue? • Who is affected? • What are the root causes, not just symptoms?</a:t>
            </a:r>
            <a:endParaRPr lang="en-US" sz="1000" dirty="0"/>
          </a:p>
        </p:txBody>
      </p:sp>
      <p:sp>
        <p:nvSpPr>
          <p:cNvPr id="8" name="Text 6"/>
          <p:cNvSpPr/>
          <p:nvPr/>
        </p:nvSpPr>
        <p:spPr>
          <a:xfrm>
            <a:off x="6583680" y="1673352"/>
            <a:ext cx="1920240" cy="457200"/>
          </a:xfrm>
          <a:prstGeom prst="rect">
            <a:avLst/>
          </a:prstGeom>
          <a:noFill/>
          <a:ln/>
        </p:spPr>
        <p:txBody>
          <a:bodyPr wrap="square" rtlCol="0" anchor="ctr"/>
          <a:lstStyle/>
          <a:p>
            <a:pPr indent="0" marL="0">
              <a:buNone/>
            </a:pPr>
            <a:r>
              <a:rPr lang="en-US" sz="900" dirty="0">
                <a:solidFill>
                  <a:srgbClr val="F77F00"/>
                </a:solidFill>
                <a:latin typeface="Calibri" pitchFamily="34" charset="0"/>
                <a:ea typeface="Calibri" pitchFamily="34" charset="-122"/>
                <a:cs typeface="Calibri" pitchFamily="34" charset="-120"/>
              </a:rPr>
              <a:t>💡 </a:t>
            </a:r>
            <a:pPr indent="0" marL="0">
              <a:buNone/>
            </a:pPr>
            <a:r>
              <a:rPr lang="en-US" sz="900" i="1" dirty="0">
                <a:solidFill>
                  <a:srgbClr val="F77F00"/>
                </a:solidFill>
                <a:latin typeface="Calibri" pitchFamily="34" charset="0"/>
                <a:ea typeface="Calibri" pitchFamily="34" charset="-122"/>
                <a:cs typeface="Calibri" pitchFamily="34" charset="-120"/>
              </a:rPr>
              <a:t>Be specific. 'Low funding' vs 'We need $5,000 for next quarter's activities'</a:t>
            </a:r>
            <a:endParaRPr lang="en-US" sz="900" dirty="0"/>
          </a:p>
        </p:txBody>
      </p:sp>
      <p:sp>
        <p:nvSpPr>
          <p:cNvPr id="9" name="Shape 7"/>
          <p:cNvSpPr/>
          <p:nvPr/>
        </p:nvSpPr>
        <p:spPr>
          <a:xfrm>
            <a:off x="457200" y="2267712"/>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267712"/>
            <a:ext cx="2286000" cy="594360"/>
          </a:xfrm>
          <a:prstGeom prst="rect">
            <a:avLst/>
          </a:prstGeom>
          <a:solidFill>
            <a:srgbClr val="028090"/>
          </a:solidFill>
          <a:ln/>
        </p:spPr>
      </p:sp>
      <p:sp>
        <p:nvSpPr>
          <p:cNvPr id="11" name="Text 9"/>
          <p:cNvSpPr/>
          <p:nvPr/>
        </p:nvSpPr>
        <p:spPr>
          <a:xfrm>
            <a:off x="548640" y="2359152"/>
            <a:ext cx="210312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2. GATHER INFORMATION</a:t>
            </a:r>
            <a:endParaRPr lang="en-US" sz="1200" dirty="0"/>
          </a:p>
        </p:txBody>
      </p:sp>
      <p:sp>
        <p:nvSpPr>
          <p:cNvPr id="12" name="Text 10"/>
          <p:cNvSpPr/>
          <p:nvPr/>
        </p:nvSpPr>
        <p:spPr>
          <a:xfrm>
            <a:off x="2926080" y="2340864"/>
            <a:ext cx="347472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What data or evidence do we have? • Who has faced similar challenges? • What context are we missing?</a:t>
            </a:r>
            <a:endParaRPr lang="en-US" sz="1000" dirty="0"/>
          </a:p>
        </p:txBody>
      </p:sp>
      <p:sp>
        <p:nvSpPr>
          <p:cNvPr id="13" name="Text 11"/>
          <p:cNvSpPr/>
          <p:nvPr/>
        </p:nvSpPr>
        <p:spPr>
          <a:xfrm>
            <a:off x="6583680" y="2340864"/>
            <a:ext cx="1920240" cy="457200"/>
          </a:xfrm>
          <a:prstGeom prst="rect">
            <a:avLst/>
          </a:prstGeom>
          <a:noFill/>
          <a:ln/>
        </p:spPr>
        <p:txBody>
          <a:bodyPr wrap="square" rtlCol="0" anchor="ctr"/>
          <a:lstStyle/>
          <a:p>
            <a:pPr indent="0" marL="0">
              <a:buNone/>
            </a:pPr>
            <a:r>
              <a:rPr lang="en-US" sz="900" dirty="0">
                <a:solidFill>
                  <a:srgbClr val="F77F00"/>
                </a:solidFill>
                <a:latin typeface="Calibri" pitchFamily="34" charset="0"/>
                <a:ea typeface="Calibri" pitchFamily="34" charset="-122"/>
                <a:cs typeface="Calibri" pitchFamily="34" charset="-120"/>
              </a:rPr>
              <a:t>💡 </a:t>
            </a:r>
            <a:pPr indent="0" marL="0">
              <a:buNone/>
            </a:pPr>
            <a:r>
              <a:rPr lang="en-US" sz="900" i="1" dirty="0">
                <a:solidFill>
                  <a:srgbClr val="F77F00"/>
                </a:solidFill>
                <a:latin typeface="Calibri" pitchFamily="34" charset="0"/>
                <a:ea typeface="Calibri" pitchFamily="34" charset="-122"/>
                <a:cs typeface="Calibri" pitchFamily="34" charset="-120"/>
              </a:rPr>
              <a:t>Talk to stakeholders, research similar cases, review your past experiences</a:t>
            </a:r>
            <a:endParaRPr lang="en-US" sz="900" dirty="0"/>
          </a:p>
        </p:txBody>
      </p:sp>
      <p:sp>
        <p:nvSpPr>
          <p:cNvPr id="14" name="Shape 12"/>
          <p:cNvSpPr/>
          <p:nvPr/>
        </p:nvSpPr>
        <p:spPr>
          <a:xfrm>
            <a:off x="457200" y="2935224"/>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2935224"/>
            <a:ext cx="2286000" cy="594360"/>
          </a:xfrm>
          <a:prstGeom prst="rect">
            <a:avLst/>
          </a:prstGeom>
          <a:solidFill>
            <a:srgbClr val="028090"/>
          </a:solidFill>
          <a:ln/>
        </p:spPr>
      </p:sp>
      <p:sp>
        <p:nvSpPr>
          <p:cNvPr id="16" name="Text 14"/>
          <p:cNvSpPr/>
          <p:nvPr/>
        </p:nvSpPr>
        <p:spPr>
          <a:xfrm>
            <a:off x="548640" y="3026664"/>
            <a:ext cx="210312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3. GENERATE OPTIONS</a:t>
            </a:r>
            <a:endParaRPr lang="en-US" sz="1200" dirty="0"/>
          </a:p>
        </p:txBody>
      </p:sp>
      <p:sp>
        <p:nvSpPr>
          <p:cNvPr id="17" name="Text 15"/>
          <p:cNvSpPr/>
          <p:nvPr/>
        </p:nvSpPr>
        <p:spPr>
          <a:xfrm>
            <a:off x="2926080" y="3008376"/>
            <a:ext cx="347472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What are all possible solutions (even imperfect ones)? • What would we do with unlimited resources? • What's the simplest approach?</a:t>
            </a:r>
            <a:endParaRPr lang="en-US" sz="1000" dirty="0"/>
          </a:p>
        </p:txBody>
      </p:sp>
      <p:sp>
        <p:nvSpPr>
          <p:cNvPr id="18" name="Text 16"/>
          <p:cNvSpPr/>
          <p:nvPr/>
        </p:nvSpPr>
        <p:spPr>
          <a:xfrm>
            <a:off x="6583680" y="3008376"/>
            <a:ext cx="1920240" cy="457200"/>
          </a:xfrm>
          <a:prstGeom prst="rect">
            <a:avLst/>
          </a:prstGeom>
          <a:noFill/>
          <a:ln/>
        </p:spPr>
        <p:txBody>
          <a:bodyPr wrap="square" rtlCol="0" anchor="ctr"/>
          <a:lstStyle/>
          <a:p>
            <a:pPr indent="0" marL="0">
              <a:buNone/>
            </a:pPr>
            <a:r>
              <a:rPr lang="en-US" sz="900" dirty="0">
                <a:solidFill>
                  <a:srgbClr val="F77F00"/>
                </a:solidFill>
                <a:latin typeface="Calibri" pitchFamily="34" charset="0"/>
                <a:ea typeface="Calibri" pitchFamily="34" charset="-122"/>
                <a:cs typeface="Calibri" pitchFamily="34" charset="-120"/>
              </a:rPr>
              <a:t>💡 </a:t>
            </a:r>
            <a:pPr indent="0" marL="0">
              <a:buNone/>
            </a:pPr>
            <a:r>
              <a:rPr lang="en-US" sz="900" i="1" dirty="0">
                <a:solidFill>
                  <a:srgbClr val="F77F00"/>
                </a:solidFill>
                <a:latin typeface="Calibri" pitchFamily="34" charset="0"/>
                <a:ea typeface="Calibri" pitchFamily="34" charset="-122"/>
                <a:cs typeface="Calibri" pitchFamily="34" charset="-120"/>
              </a:rPr>
              <a:t>Brainstorm without judgment first. Aim for quantity over quality initially</a:t>
            </a:r>
            <a:endParaRPr lang="en-US" sz="900" dirty="0"/>
          </a:p>
        </p:txBody>
      </p:sp>
      <p:sp>
        <p:nvSpPr>
          <p:cNvPr id="19" name="Shape 17"/>
          <p:cNvSpPr/>
          <p:nvPr/>
        </p:nvSpPr>
        <p:spPr>
          <a:xfrm>
            <a:off x="457200" y="3602736"/>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57200" y="3602736"/>
            <a:ext cx="2286000" cy="594360"/>
          </a:xfrm>
          <a:prstGeom prst="rect">
            <a:avLst/>
          </a:prstGeom>
          <a:solidFill>
            <a:srgbClr val="028090"/>
          </a:solidFill>
          <a:ln/>
        </p:spPr>
      </p:sp>
      <p:sp>
        <p:nvSpPr>
          <p:cNvPr id="21" name="Text 19"/>
          <p:cNvSpPr/>
          <p:nvPr/>
        </p:nvSpPr>
        <p:spPr>
          <a:xfrm>
            <a:off x="548640" y="3694176"/>
            <a:ext cx="210312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EVALUATE &amp; DECIDE</a:t>
            </a:r>
            <a:endParaRPr lang="en-US" sz="1200" dirty="0"/>
          </a:p>
        </p:txBody>
      </p:sp>
      <p:sp>
        <p:nvSpPr>
          <p:cNvPr id="22" name="Text 20"/>
          <p:cNvSpPr/>
          <p:nvPr/>
        </p:nvSpPr>
        <p:spPr>
          <a:xfrm>
            <a:off x="2926080" y="3675888"/>
            <a:ext cx="347472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What are pros/cons of each option? • What resources does each require? • Which aligns with our values and capacity?</a:t>
            </a:r>
            <a:endParaRPr lang="en-US" sz="1000" dirty="0"/>
          </a:p>
        </p:txBody>
      </p:sp>
      <p:sp>
        <p:nvSpPr>
          <p:cNvPr id="23" name="Text 21"/>
          <p:cNvSpPr/>
          <p:nvPr/>
        </p:nvSpPr>
        <p:spPr>
          <a:xfrm>
            <a:off x="6583680" y="3675888"/>
            <a:ext cx="1920240" cy="457200"/>
          </a:xfrm>
          <a:prstGeom prst="rect">
            <a:avLst/>
          </a:prstGeom>
          <a:noFill/>
          <a:ln/>
        </p:spPr>
        <p:txBody>
          <a:bodyPr wrap="square" rtlCol="0" anchor="ctr"/>
          <a:lstStyle/>
          <a:p>
            <a:pPr indent="0" marL="0">
              <a:buNone/>
            </a:pPr>
            <a:r>
              <a:rPr lang="en-US" sz="900" dirty="0">
                <a:solidFill>
                  <a:srgbClr val="F77F00"/>
                </a:solidFill>
                <a:latin typeface="Calibri" pitchFamily="34" charset="0"/>
                <a:ea typeface="Calibri" pitchFamily="34" charset="-122"/>
                <a:cs typeface="Calibri" pitchFamily="34" charset="-120"/>
              </a:rPr>
              <a:t>💡 </a:t>
            </a:r>
            <a:pPr indent="0" marL="0">
              <a:buNone/>
            </a:pPr>
            <a:r>
              <a:rPr lang="en-US" sz="900" i="1" dirty="0">
                <a:solidFill>
                  <a:srgbClr val="F77F00"/>
                </a:solidFill>
                <a:latin typeface="Calibri" pitchFamily="34" charset="0"/>
                <a:ea typeface="Calibri" pitchFamily="34" charset="-122"/>
                <a:cs typeface="Calibri" pitchFamily="34" charset="-120"/>
              </a:rPr>
              <a:t>Create a simple scoring system. Consider short-term AND long-term impact</a:t>
            </a:r>
            <a:endParaRPr lang="en-US" sz="900" dirty="0"/>
          </a:p>
        </p:txBody>
      </p:sp>
      <p:sp>
        <p:nvSpPr>
          <p:cNvPr id="24" name="Shape 22"/>
          <p:cNvSpPr/>
          <p:nvPr/>
        </p:nvSpPr>
        <p:spPr>
          <a:xfrm>
            <a:off x="457200" y="4270248"/>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Shape 23"/>
          <p:cNvSpPr/>
          <p:nvPr/>
        </p:nvSpPr>
        <p:spPr>
          <a:xfrm>
            <a:off x="457200" y="4270248"/>
            <a:ext cx="2286000" cy="594360"/>
          </a:xfrm>
          <a:prstGeom prst="rect">
            <a:avLst/>
          </a:prstGeom>
          <a:solidFill>
            <a:srgbClr val="028090"/>
          </a:solidFill>
          <a:ln/>
        </p:spPr>
      </p:sp>
      <p:sp>
        <p:nvSpPr>
          <p:cNvPr id="26" name="Text 24"/>
          <p:cNvSpPr/>
          <p:nvPr/>
        </p:nvSpPr>
        <p:spPr>
          <a:xfrm>
            <a:off x="548640" y="4361688"/>
            <a:ext cx="210312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5. ACT &amp; REFLECT</a:t>
            </a:r>
            <a:endParaRPr lang="en-US" sz="1200" dirty="0"/>
          </a:p>
        </p:txBody>
      </p:sp>
      <p:sp>
        <p:nvSpPr>
          <p:cNvPr id="27" name="Text 25"/>
          <p:cNvSpPr/>
          <p:nvPr/>
        </p:nvSpPr>
        <p:spPr>
          <a:xfrm>
            <a:off x="2926080" y="4343400"/>
            <a:ext cx="347472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How will we implement this? • What's our timeline? • How will we know if it's working?</a:t>
            </a:r>
            <a:endParaRPr lang="en-US" sz="1000" dirty="0"/>
          </a:p>
        </p:txBody>
      </p:sp>
      <p:sp>
        <p:nvSpPr>
          <p:cNvPr id="28" name="Text 26"/>
          <p:cNvSpPr/>
          <p:nvPr/>
        </p:nvSpPr>
        <p:spPr>
          <a:xfrm>
            <a:off x="6583680" y="4343400"/>
            <a:ext cx="1920240" cy="457200"/>
          </a:xfrm>
          <a:prstGeom prst="rect">
            <a:avLst/>
          </a:prstGeom>
          <a:noFill/>
          <a:ln/>
        </p:spPr>
        <p:txBody>
          <a:bodyPr wrap="square" rtlCol="0" anchor="ctr"/>
          <a:lstStyle/>
          <a:p>
            <a:pPr indent="0" marL="0">
              <a:buNone/>
            </a:pPr>
            <a:r>
              <a:rPr lang="en-US" sz="900" dirty="0">
                <a:solidFill>
                  <a:srgbClr val="F77F00"/>
                </a:solidFill>
                <a:latin typeface="Calibri" pitchFamily="34" charset="0"/>
                <a:ea typeface="Calibri" pitchFamily="34" charset="-122"/>
                <a:cs typeface="Calibri" pitchFamily="34" charset="-120"/>
              </a:rPr>
              <a:t>💡 </a:t>
            </a:r>
            <a:pPr indent="0" marL="0">
              <a:buNone/>
            </a:pPr>
            <a:r>
              <a:rPr lang="en-US" sz="900" i="1" dirty="0">
                <a:solidFill>
                  <a:srgbClr val="F77F00"/>
                </a:solidFill>
                <a:latin typeface="Calibri" pitchFamily="34" charset="0"/>
                <a:ea typeface="Calibri" pitchFamily="34" charset="-122"/>
                <a:cs typeface="Calibri" pitchFamily="34" charset="-120"/>
              </a:rPr>
              <a:t>Start small, measure progress, be willing to pivot if needed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PROBLEM-SOLVING IN ACTION</a:t>
            </a:r>
            <a:endParaRPr lang="en-US" sz="3600" dirty="0"/>
          </a:p>
        </p:txBody>
      </p:sp>
      <p:sp>
        <p:nvSpPr>
          <p:cNvPr id="3" name="Shape 1"/>
          <p:cNvSpPr/>
          <p:nvPr/>
        </p:nvSpPr>
        <p:spPr>
          <a:xfrm>
            <a:off x="457200" y="1097280"/>
            <a:ext cx="8229600" cy="548640"/>
          </a:xfrm>
          <a:prstGeom prst="rect">
            <a:avLst/>
          </a:prstGeom>
          <a:solidFill>
            <a:srgbClr val="F77F00"/>
          </a:solidFill>
          <a:ln/>
        </p:spPr>
      </p:sp>
      <p:sp>
        <p:nvSpPr>
          <p:cNvPr id="4" name="Text 2"/>
          <p:cNvSpPr/>
          <p:nvPr/>
        </p:nvSpPr>
        <p:spPr>
          <a:xfrm>
            <a:off x="731520" y="1234440"/>
            <a:ext cx="7680960" cy="27432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SCENARIO: Your youth employment program lost its main donor. You have 3 months of funding left.</a:t>
            </a:r>
            <a:endParaRPr lang="en-US" sz="1500" dirty="0"/>
          </a:p>
        </p:txBody>
      </p:sp>
      <p:sp>
        <p:nvSpPr>
          <p:cNvPr id="5" name="Shape 3"/>
          <p:cNvSpPr/>
          <p:nvPr/>
        </p:nvSpPr>
        <p:spPr>
          <a:xfrm>
            <a:off x="457200" y="1828800"/>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457200" y="1828800"/>
            <a:ext cx="1371600" cy="502920"/>
          </a:xfrm>
          <a:prstGeom prst="rect">
            <a:avLst/>
          </a:prstGeom>
          <a:solidFill>
            <a:srgbClr val="028090"/>
          </a:solidFill>
          <a:ln/>
        </p:spPr>
      </p:sp>
      <p:sp>
        <p:nvSpPr>
          <p:cNvPr id="7" name="Text 5"/>
          <p:cNvSpPr/>
          <p:nvPr/>
        </p:nvSpPr>
        <p:spPr>
          <a:xfrm>
            <a:off x="548640" y="1874520"/>
            <a:ext cx="118872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Define</a:t>
            </a:r>
            <a:endParaRPr lang="en-US" sz="1300" dirty="0"/>
          </a:p>
        </p:txBody>
      </p:sp>
      <p:sp>
        <p:nvSpPr>
          <p:cNvPr id="8" name="Text 6"/>
          <p:cNvSpPr/>
          <p:nvPr/>
        </p:nvSpPr>
        <p:spPr>
          <a:xfrm>
            <a:off x="2011680" y="1901952"/>
            <a:ext cx="649224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Problem: Need $10,000 to sustain 6-month cohort for 50 youth. Root cause: Over-reliance on single donor.</a:t>
            </a:r>
            <a:endParaRPr lang="en-US" sz="1100" dirty="0"/>
          </a:p>
        </p:txBody>
      </p:sp>
      <p:sp>
        <p:nvSpPr>
          <p:cNvPr id="9" name="Shape 7"/>
          <p:cNvSpPr/>
          <p:nvPr/>
        </p:nvSpPr>
        <p:spPr>
          <a:xfrm>
            <a:off x="457200" y="2404872"/>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57200" y="2404872"/>
            <a:ext cx="1371600" cy="502920"/>
          </a:xfrm>
          <a:prstGeom prst="rect">
            <a:avLst/>
          </a:prstGeom>
          <a:solidFill>
            <a:srgbClr val="028090"/>
          </a:solidFill>
          <a:ln/>
        </p:spPr>
      </p:sp>
      <p:sp>
        <p:nvSpPr>
          <p:cNvPr id="11" name="Text 9"/>
          <p:cNvSpPr/>
          <p:nvPr/>
        </p:nvSpPr>
        <p:spPr>
          <a:xfrm>
            <a:off x="548640" y="2450592"/>
            <a:ext cx="118872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Gather Info</a:t>
            </a:r>
            <a:endParaRPr lang="en-US" sz="1300" dirty="0"/>
          </a:p>
        </p:txBody>
      </p:sp>
      <p:sp>
        <p:nvSpPr>
          <p:cNvPr id="12" name="Text 10"/>
          <p:cNvSpPr/>
          <p:nvPr/>
        </p:nvSpPr>
        <p:spPr>
          <a:xfrm>
            <a:off x="2011680" y="2478024"/>
            <a:ext cx="649224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Research: Found 3 local grant opportunities, contacted alumni who now work in business, surveyed youth on fee-based skills training interest.</a:t>
            </a:r>
            <a:endParaRPr lang="en-US" sz="1100" dirty="0"/>
          </a:p>
        </p:txBody>
      </p:sp>
      <p:sp>
        <p:nvSpPr>
          <p:cNvPr id="13" name="Shape 11"/>
          <p:cNvSpPr/>
          <p:nvPr/>
        </p:nvSpPr>
        <p:spPr>
          <a:xfrm>
            <a:off x="457200" y="2980944"/>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2980944"/>
            <a:ext cx="1371600" cy="502920"/>
          </a:xfrm>
          <a:prstGeom prst="rect">
            <a:avLst/>
          </a:prstGeom>
          <a:solidFill>
            <a:srgbClr val="028090"/>
          </a:solidFill>
          <a:ln/>
        </p:spPr>
      </p:sp>
      <p:sp>
        <p:nvSpPr>
          <p:cNvPr id="15" name="Text 13"/>
          <p:cNvSpPr/>
          <p:nvPr/>
        </p:nvSpPr>
        <p:spPr>
          <a:xfrm>
            <a:off x="548640" y="3026664"/>
            <a:ext cx="118872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Generate Options</a:t>
            </a:r>
            <a:endParaRPr lang="en-US" sz="1300" dirty="0"/>
          </a:p>
        </p:txBody>
      </p:sp>
      <p:sp>
        <p:nvSpPr>
          <p:cNvPr id="16" name="Text 14"/>
          <p:cNvSpPr/>
          <p:nvPr/>
        </p:nvSpPr>
        <p:spPr>
          <a:xfrm>
            <a:off x="2011680" y="3054096"/>
            <a:ext cx="649224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Options: A) Apply to new grants B) Launch social enterprise (fee-based training) C) Partner with existing employer D) Crowdfunding campaign E) Scale down to 25 youth with current funds</a:t>
            </a:r>
            <a:endParaRPr lang="en-US" sz="1100" dirty="0"/>
          </a:p>
        </p:txBody>
      </p:sp>
      <p:sp>
        <p:nvSpPr>
          <p:cNvPr id="17" name="Shape 15"/>
          <p:cNvSpPr/>
          <p:nvPr/>
        </p:nvSpPr>
        <p:spPr>
          <a:xfrm>
            <a:off x="457200" y="3557016"/>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6"/>
          <p:cNvSpPr/>
          <p:nvPr/>
        </p:nvSpPr>
        <p:spPr>
          <a:xfrm>
            <a:off x="457200" y="3557016"/>
            <a:ext cx="1371600" cy="502920"/>
          </a:xfrm>
          <a:prstGeom prst="rect">
            <a:avLst/>
          </a:prstGeom>
          <a:solidFill>
            <a:srgbClr val="028090"/>
          </a:solidFill>
          <a:ln/>
        </p:spPr>
      </p:sp>
      <p:sp>
        <p:nvSpPr>
          <p:cNvPr id="19" name="Text 17"/>
          <p:cNvSpPr/>
          <p:nvPr/>
        </p:nvSpPr>
        <p:spPr>
          <a:xfrm>
            <a:off x="548640" y="3602736"/>
            <a:ext cx="118872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Evaluate</a:t>
            </a:r>
            <a:endParaRPr lang="en-US" sz="1300" dirty="0"/>
          </a:p>
        </p:txBody>
      </p:sp>
      <p:sp>
        <p:nvSpPr>
          <p:cNvPr id="20" name="Text 18"/>
          <p:cNvSpPr/>
          <p:nvPr/>
        </p:nvSpPr>
        <p:spPr>
          <a:xfrm>
            <a:off x="2011680" y="3630168"/>
            <a:ext cx="649224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Decision: Pursue B + D together. Social enterprise builds sustainability; crowdfunding buys time and engages alumni.</a:t>
            </a:r>
            <a:endParaRPr lang="en-US" sz="1100" dirty="0"/>
          </a:p>
        </p:txBody>
      </p:sp>
      <p:sp>
        <p:nvSpPr>
          <p:cNvPr id="21" name="Shape 19"/>
          <p:cNvSpPr/>
          <p:nvPr/>
        </p:nvSpPr>
        <p:spPr>
          <a:xfrm>
            <a:off x="457200" y="4133088"/>
            <a:ext cx="8229600" cy="502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20"/>
          <p:cNvSpPr/>
          <p:nvPr/>
        </p:nvSpPr>
        <p:spPr>
          <a:xfrm>
            <a:off x="457200" y="4133088"/>
            <a:ext cx="1371600" cy="502920"/>
          </a:xfrm>
          <a:prstGeom prst="rect">
            <a:avLst/>
          </a:prstGeom>
          <a:solidFill>
            <a:srgbClr val="028090"/>
          </a:solidFill>
          <a:ln/>
        </p:spPr>
      </p:sp>
      <p:sp>
        <p:nvSpPr>
          <p:cNvPr id="23" name="Text 21"/>
          <p:cNvSpPr/>
          <p:nvPr/>
        </p:nvSpPr>
        <p:spPr>
          <a:xfrm>
            <a:off x="548640" y="4178808"/>
            <a:ext cx="118872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Act &amp; Reflect</a:t>
            </a:r>
            <a:endParaRPr lang="en-US" sz="1300" dirty="0"/>
          </a:p>
        </p:txBody>
      </p:sp>
      <p:sp>
        <p:nvSpPr>
          <p:cNvPr id="24" name="Text 22"/>
          <p:cNvSpPr/>
          <p:nvPr/>
        </p:nvSpPr>
        <p:spPr>
          <a:xfrm>
            <a:off x="2011680" y="4206240"/>
            <a:ext cx="649224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Action: Piloted $20 weekend digital skills workshops. Raised $2,000 via crowdfunding. Enrolled 35 youth (scaled slightly). Review monthly to track revenue and adjust pricing.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LEARNING AGILITY</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Learning agility is the ability to learn from experiences and apply those lessons to new, unfamiliar situations. In a fast-changing advocacy landscape, your capacity to learn quickly is more valuable than any single skill or piece of knowledge.</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THE FOUR DIMENSIONS OF LEARNING AGILITY</a:t>
            </a:r>
            <a:endParaRPr lang="en-US" sz="1600" dirty="0"/>
          </a:p>
        </p:txBody>
      </p:sp>
      <p:sp>
        <p:nvSpPr>
          <p:cNvPr id="6" name="Shape 3"/>
          <p:cNvSpPr/>
          <p:nvPr/>
        </p:nvSpPr>
        <p:spPr>
          <a:xfrm>
            <a:off x="457200" y="237744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1828800" cy="457200"/>
          </a:xfrm>
          <a:prstGeom prst="rect">
            <a:avLst/>
          </a:prstGeom>
          <a:solidFill>
            <a:srgbClr val="02C39A"/>
          </a:solidFill>
          <a:ln/>
        </p:spPr>
      </p:sp>
      <p:sp>
        <p:nvSpPr>
          <p:cNvPr id="8" name="Text 5"/>
          <p:cNvSpPr/>
          <p:nvPr/>
        </p:nvSpPr>
        <p:spPr>
          <a:xfrm>
            <a:off x="548640" y="2423160"/>
            <a:ext cx="16459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Mental Agility</a:t>
            </a:r>
            <a:endParaRPr lang="en-US" sz="1200" dirty="0"/>
          </a:p>
        </p:txBody>
      </p:sp>
      <p:sp>
        <p:nvSpPr>
          <p:cNvPr id="9" name="Text 6"/>
          <p:cNvSpPr/>
          <p:nvPr/>
        </p:nvSpPr>
        <p:spPr>
          <a:xfrm>
            <a:off x="2468880" y="2423160"/>
            <a:ext cx="603504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Thinking through problems from multiple angles, being comfortable with complexity and ambiguity</a:t>
            </a:r>
            <a:endParaRPr lang="en-US" sz="1200" dirty="0"/>
          </a:p>
        </p:txBody>
      </p:sp>
      <p:sp>
        <p:nvSpPr>
          <p:cNvPr id="10" name="Shape 7"/>
          <p:cNvSpPr/>
          <p:nvPr/>
        </p:nvSpPr>
        <p:spPr>
          <a:xfrm>
            <a:off x="457200" y="2907792"/>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57200" y="2907792"/>
            <a:ext cx="1828800" cy="457200"/>
          </a:xfrm>
          <a:prstGeom prst="rect">
            <a:avLst/>
          </a:prstGeom>
          <a:solidFill>
            <a:srgbClr val="02C39A"/>
          </a:solidFill>
          <a:ln/>
        </p:spPr>
      </p:sp>
      <p:sp>
        <p:nvSpPr>
          <p:cNvPr id="12" name="Text 9"/>
          <p:cNvSpPr/>
          <p:nvPr/>
        </p:nvSpPr>
        <p:spPr>
          <a:xfrm>
            <a:off x="548640" y="2953512"/>
            <a:ext cx="16459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People Agility</a:t>
            </a:r>
            <a:endParaRPr lang="en-US" sz="1200" dirty="0"/>
          </a:p>
        </p:txBody>
      </p:sp>
      <p:sp>
        <p:nvSpPr>
          <p:cNvPr id="13" name="Text 10"/>
          <p:cNvSpPr/>
          <p:nvPr/>
        </p:nvSpPr>
        <p:spPr>
          <a:xfrm>
            <a:off x="2468880" y="2953512"/>
            <a:ext cx="603504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Understanding and working well with diverse people, being open to others' perspectives</a:t>
            </a:r>
            <a:endParaRPr lang="en-US" sz="1200" dirty="0"/>
          </a:p>
        </p:txBody>
      </p:sp>
      <p:sp>
        <p:nvSpPr>
          <p:cNvPr id="14" name="Shape 11"/>
          <p:cNvSpPr/>
          <p:nvPr/>
        </p:nvSpPr>
        <p:spPr>
          <a:xfrm>
            <a:off x="457200" y="3438144"/>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2"/>
          <p:cNvSpPr/>
          <p:nvPr/>
        </p:nvSpPr>
        <p:spPr>
          <a:xfrm>
            <a:off x="457200" y="3438144"/>
            <a:ext cx="1828800" cy="457200"/>
          </a:xfrm>
          <a:prstGeom prst="rect">
            <a:avLst/>
          </a:prstGeom>
          <a:solidFill>
            <a:srgbClr val="02C39A"/>
          </a:solidFill>
          <a:ln/>
        </p:spPr>
      </p:sp>
      <p:sp>
        <p:nvSpPr>
          <p:cNvPr id="16" name="Text 13"/>
          <p:cNvSpPr/>
          <p:nvPr/>
        </p:nvSpPr>
        <p:spPr>
          <a:xfrm>
            <a:off x="548640" y="3483864"/>
            <a:ext cx="16459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Change Agility</a:t>
            </a:r>
            <a:endParaRPr lang="en-US" sz="1200" dirty="0"/>
          </a:p>
        </p:txBody>
      </p:sp>
      <p:sp>
        <p:nvSpPr>
          <p:cNvPr id="17" name="Text 14"/>
          <p:cNvSpPr/>
          <p:nvPr/>
        </p:nvSpPr>
        <p:spPr>
          <a:xfrm>
            <a:off x="2468880" y="3483864"/>
            <a:ext cx="603504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Being curious about change, experimenting with new approaches, handling uncertainty</a:t>
            </a:r>
            <a:endParaRPr lang="en-US" sz="1200" dirty="0"/>
          </a:p>
        </p:txBody>
      </p:sp>
      <p:sp>
        <p:nvSpPr>
          <p:cNvPr id="18" name="Shape 15"/>
          <p:cNvSpPr/>
          <p:nvPr/>
        </p:nvSpPr>
        <p:spPr>
          <a:xfrm>
            <a:off x="457200" y="3968496"/>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6"/>
          <p:cNvSpPr/>
          <p:nvPr/>
        </p:nvSpPr>
        <p:spPr>
          <a:xfrm>
            <a:off x="457200" y="3968496"/>
            <a:ext cx="1828800" cy="457200"/>
          </a:xfrm>
          <a:prstGeom prst="rect">
            <a:avLst/>
          </a:prstGeom>
          <a:solidFill>
            <a:srgbClr val="02C39A"/>
          </a:solidFill>
          <a:ln/>
        </p:spPr>
      </p:sp>
      <p:sp>
        <p:nvSpPr>
          <p:cNvPr id="20" name="Text 17"/>
          <p:cNvSpPr/>
          <p:nvPr/>
        </p:nvSpPr>
        <p:spPr>
          <a:xfrm>
            <a:off x="548640" y="4014216"/>
            <a:ext cx="164592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Results Agility</a:t>
            </a:r>
            <a:endParaRPr lang="en-US" sz="1200" dirty="0"/>
          </a:p>
        </p:txBody>
      </p:sp>
      <p:sp>
        <p:nvSpPr>
          <p:cNvPr id="21" name="Text 18"/>
          <p:cNvSpPr/>
          <p:nvPr/>
        </p:nvSpPr>
        <p:spPr>
          <a:xfrm>
            <a:off x="2468880" y="4014216"/>
            <a:ext cx="6035040" cy="36576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Delivering results in first-time situations, inspiring others through difficult circumstances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OPENNESS TO FEEDBACK</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Feedback is essential for growth, but receiving it can feel uncomfortable or threatening. Learning to seek, receive, and act on feedback gracefully is a crucial skill for adaptive leaders.</a:t>
            </a:r>
            <a:endParaRPr lang="en-US" sz="1400" dirty="0"/>
          </a:p>
        </p:txBody>
      </p:sp>
      <p:sp>
        <p:nvSpPr>
          <p:cNvPr id="5" name="Shape 2"/>
          <p:cNvSpPr/>
          <p:nvPr/>
        </p:nvSpPr>
        <p:spPr>
          <a:xfrm>
            <a:off x="45720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73152" cy="2377440"/>
          </a:xfrm>
          <a:prstGeom prst="rect">
            <a:avLst/>
          </a:prstGeom>
          <a:solidFill>
            <a:srgbClr val="E63946"/>
          </a:solidFill>
          <a:ln/>
        </p:spPr>
      </p:sp>
      <p:sp>
        <p:nvSpPr>
          <p:cNvPr id="7" name="Text 4"/>
          <p:cNvSpPr/>
          <p:nvPr/>
        </p:nvSpPr>
        <p:spPr>
          <a:xfrm>
            <a:off x="731520" y="2148840"/>
            <a:ext cx="3566160" cy="320040"/>
          </a:xfrm>
          <a:prstGeom prst="rect">
            <a:avLst/>
          </a:prstGeom>
          <a:noFill/>
          <a:ln/>
        </p:spPr>
        <p:txBody>
          <a:bodyPr wrap="square" rtlCol="0" anchor="ctr"/>
          <a:lstStyle/>
          <a:p>
            <a:pPr indent="0" marL="0">
              <a:buNone/>
            </a:pPr>
            <a:r>
              <a:rPr lang="en-US" sz="1400" b="1" dirty="0">
                <a:solidFill>
                  <a:srgbClr val="E63946"/>
                </a:solidFill>
                <a:latin typeface="Arial" pitchFamily="34" charset="0"/>
                <a:ea typeface="Arial" pitchFamily="34" charset="-122"/>
                <a:cs typeface="Arial" pitchFamily="34" charset="-120"/>
              </a:rPr>
              <a:t>DEFENSIVE RESPONSES (AVOID)</a:t>
            </a:r>
            <a:endParaRPr lang="en-US" sz="1400" dirty="0"/>
          </a:p>
        </p:txBody>
      </p:sp>
      <p:sp>
        <p:nvSpPr>
          <p:cNvPr id="8" name="Text 5"/>
          <p:cNvSpPr/>
          <p:nvPr/>
        </p:nvSpPr>
        <p:spPr>
          <a:xfrm>
            <a:off x="73152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Denying: </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"That's not true" or "You're wrong"</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Deflecting: </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"But you also do X..."</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Justifying: </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"I had good reasons for that..."</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Dismissing: </a:t>
            </a:r>
            <a:endParaRPr lang="en-US" sz="1100" dirty="0"/>
          </a:p>
          <a:p>
            <a:pPr indent="0" marL="0">
              <a:buNone/>
            </a:pPr>
            <a:r>
              <a:rPr lang="en-US" sz="1100" i="1" dirty="0">
                <a:solidFill>
                  <a:srgbClr val="2D3436"/>
                </a:solidFill>
                <a:latin typeface="Calibri" pitchFamily="34" charset="0"/>
                <a:ea typeface="Calibri" pitchFamily="34" charset="-122"/>
                <a:cs typeface="Calibri" pitchFamily="34" charset="-120"/>
              </a:rPr>
              <a:t>"They don't understand the situation"</a:t>
            </a:r>
            <a:endParaRPr lang="en-US" sz="1100" dirty="0"/>
          </a:p>
        </p:txBody>
      </p:sp>
      <p:sp>
        <p:nvSpPr>
          <p:cNvPr id="9" name="Shape 6"/>
          <p:cNvSpPr/>
          <p:nvPr/>
        </p:nvSpPr>
        <p:spPr>
          <a:xfrm>
            <a:off x="466344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663440" y="2011680"/>
            <a:ext cx="73152" cy="2377440"/>
          </a:xfrm>
          <a:prstGeom prst="rect">
            <a:avLst/>
          </a:prstGeom>
          <a:solidFill>
            <a:srgbClr val="02C39A"/>
          </a:solidFill>
          <a:ln/>
        </p:spPr>
      </p:sp>
      <p:sp>
        <p:nvSpPr>
          <p:cNvPr id="11" name="Text 8"/>
          <p:cNvSpPr/>
          <p:nvPr/>
        </p:nvSpPr>
        <p:spPr>
          <a:xfrm>
            <a:off x="4937760" y="2148840"/>
            <a:ext cx="3566160" cy="320040"/>
          </a:xfrm>
          <a:prstGeom prst="rect">
            <a:avLst/>
          </a:prstGeom>
          <a:noFill/>
          <a:ln/>
        </p:spPr>
        <p:txBody>
          <a:bodyPr wrap="square" rtlCol="0" anchor="ctr"/>
          <a:lstStyle/>
          <a:p>
            <a:pPr indent="0" marL="0">
              <a:buNone/>
            </a:pPr>
            <a:r>
              <a:rPr lang="en-US" sz="1400" b="1" dirty="0">
                <a:solidFill>
                  <a:srgbClr val="02C39A"/>
                </a:solidFill>
                <a:latin typeface="Arial" pitchFamily="34" charset="0"/>
                <a:ea typeface="Arial" pitchFamily="34" charset="-122"/>
                <a:cs typeface="Arial" pitchFamily="34" charset="-120"/>
              </a:rPr>
              <a:t>GROWTH RESPONSES (PRACTICE)</a:t>
            </a:r>
            <a:endParaRPr lang="en-US" sz="1400" dirty="0"/>
          </a:p>
        </p:txBody>
      </p:sp>
      <p:sp>
        <p:nvSpPr>
          <p:cNvPr id="12" name="Text 9"/>
          <p:cNvSpPr/>
          <p:nvPr/>
        </p:nvSpPr>
        <p:spPr>
          <a:xfrm>
            <a:off x="4937760" y="2560320"/>
            <a:ext cx="3566160" cy="16459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Listen fully: </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Don't interrupt. Hear them out completely.</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Clarify: </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"Can you give me an example of when I did that?"</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Thank them: </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"I appreciate you sharing this with me."</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Reflect: </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"Let me think about this and get back to you."</a:t>
            </a:r>
            <a:endParaRPr lang="en-US" sz="1100" dirty="0"/>
          </a:p>
          <a:p>
            <a:pPr indent="0" marL="0">
              <a:buNone/>
            </a:pPr>
            <a:endParaRPr lang="en-US" sz="1100" dirty="0"/>
          </a:p>
          <a:p>
            <a:pPr indent="0" marL="0">
              <a:buNone/>
            </a:pPr>
            <a:r>
              <a:rPr lang="en-US" sz="1100" b="1" dirty="0">
                <a:solidFill>
                  <a:srgbClr val="2D3436"/>
                </a:solidFill>
                <a:latin typeface="Calibri" pitchFamily="34" charset="0"/>
                <a:ea typeface="Calibri" pitchFamily="34" charset="-122"/>
                <a:cs typeface="Calibri" pitchFamily="34" charset="-120"/>
              </a:rPr>
              <a:t>Act: </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Make specific changes and report back on progress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HOW TO SEEK FEEDBACK EFFECTIVELY</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Don't wait for feedback to come to you—actively seek it. Here's how to ask in ways that get you useful information:</a:t>
            </a:r>
            <a:endParaRPr lang="en-US" sz="1400" dirty="0"/>
          </a:p>
        </p:txBody>
      </p:sp>
      <p:sp>
        <p:nvSpPr>
          <p:cNvPr id="4" name="Shape 2"/>
          <p:cNvSpPr/>
          <p:nvPr/>
        </p:nvSpPr>
        <p:spPr>
          <a:xfrm>
            <a:off x="457200" y="1600200"/>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00200"/>
            <a:ext cx="1645920" cy="594360"/>
          </a:xfrm>
          <a:prstGeom prst="rect">
            <a:avLst/>
          </a:prstGeom>
          <a:solidFill>
            <a:srgbClr val="028090"/>
          </a:solidFill>
          <a:ln/>
        </p:spPr>
      </p:sp>
      <p:sp>
        <p:nvSpPr>
          <p:cNvPr id="6" name="Text 4"/>
          <p:cNvSpPr/>
          <p:nvPr/>
        </p:nvSpPr>
        <p:spPr>
          <a:xfrm>
            <a:off x="548640" y="1691640"/>
            <a:ext cx="146304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Be Specific</a:t>
            </a:r>
            <a:endParaRPr lang="en-US" sz="1300" dirty="0"/>
          </a:p>
        </p:txBody>
      </p:sp>
      <p:sp>
        <p:nvSpPr>
          <p:cNvPr id="7" name="Shape 5"/>
          <p:cNvSpPr/>
          <p:nvPr/>
        </p:nvSpPr>
        <p:spPr>
          <a:xfrm>
            <a:off x="2286000" y="1673352"/>
            <a:ext cx="3017520" cy="457200"/>
          </a:xfrm>
          <a:prstGeom prst="rect">
            <a:avLst/>
          </a:prstGeom>
          <a:solidFill>
            <a:srgbClr val="FFEBEE"/>
          </a:solidFill>
          <a:ln/>
        </p:spPr>
      </p:sp>
      <p:sp>
        <p:nvSpPr>
          <p:cNvPr id="8" name="Text 6"/>
          <p:cNvSpPr/>
          <p:nvPr/>
        </p:nvSpPr>
        <p:spPr>
          <a:xfrm>
            <a:off x="2377440" y="1719072"/>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"How am I doing?"</a:t>
            </a:r>
            <a:endParaRPr lang="en-US" sz="1000" dirty="0"/>
          </a:p>
        </p:txBody>
      </p:sp>
      <p:sp>
        <p:nvSpPr>
          <p:cNvPr id="9" name="Shape 7"/>
          <p:cNvSpPr/>
          <p:nvPr/>
        </p:nvSpPr>
        <p:spPr>
          <a:xfrm>
            <a:off x="5486400" y="1673352"/>
            <a:ext cx="3017520" cy="457200"/>
          </a:xfrm>
          <a:prstGeom prst="rect">
            <a:avLst/>
          </a:prstGeom>
          <a:solidFill>
            <a:srgbClr val="E8F5E9"/>
          </a:solidFill>
          <a:ln/>
        </p:spPr>
      </p:sp>
      <p:sp>
        <p:nvSpPr>
          <p:cNvPr id="10" name="Text 8"/>
          <p:cNvSpPr/>
          <p:nvPr/>
        </p:nvSpPr>
        <p:spPr>
          <a:xfrm>
            <a:off x="5577840" y="1719072"/>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dirty="0">
                <a:solidFill>
                  <a:srgbClr val="2D3436"/>
                </a:solidFill>
                <a:latin typeface="Calibri" pitchFamily="34" charset="0"/>
                <a:ea typeface="Calibri" pitchFamily="34" charset="-122"/>
                <a:cs typeface="Calibri" pitchFamily="34" charset="-120"/>
              </a:rPr>
              <a:t>"How effective was my facilitation of yesterday's community meeting?"</a:t>
            </a:r>
            <a:endParaRPr lang="en-US" sz="1000" dirty="0"/>
          </a:p>
        </p:txBody>
      </p:sp>
      <p:sp>
        <p:nvSpPr>
          <p:cNvPr id="11" name="Shape 9"/>
          <p:cNvSpPr/>
          <p:nvPr/>
        </p:nvSpPr>
        <p:spPr>
          <a:xfrm>
            <a:off x="457200" y="2267712"/>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457200" y="2267712"/>
            <a:ext cx="1645920" cy="594360"/>
          </a:xfrm>
          <a:prstGeom prst="rect">
            <a:avLst/>
          </a:prstGeom>
          <a:solidFill>
            <a:srgbClr val="028090"/>
          </a:solidFill>
          <a:ln/>
        </p:spPr>
      </p:sp>
      <p:sp>
        <p:nvSpPr>
          <p:cNvPr id="13" name="Text 11"/>
          <p:cNvSpPr/>
          <p:nvPr/>
        </p:nvSpPr>
        <p:spPr>
          <a:xfrm>
            <a:off x="548640" y="2359152"/>
            <a:ext cx="146304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Ask the Right People</a:t>
            </a:r>
            <a:endParaRPr lang="en-US" sz="1300" dirty="0"/>
          </a:p>
        </p:txBody>
      </p:sp>
      <p:sp>
        <p:nvSpPr>
          <p:cNvPr id="14" name="Shape 12"/>
          <p:cNvSpPr/>
          <p:nvPr/>
        </p:nvSpPr>
        <p:spPr>
          <a:xfrm>
            <a:off x="2286000" y="2340864"/>
            <a:ext cx="3017520" cy="457200"/>
          </a:xfrm>
          <a:prstGeom prst="rect">
            <a:avLst/>
          </a:prstGeom>
          <a:solidFill>
            <a:srgbClr val="FFEBEE"/>
          </a:solidFill>
          <a:ln/>
        </p:spPr>
      </p:sp>
      <p:sp>
        <p:nvSpPr>
          <p:cNvPr id="15" name="Text 13"/>
          <p:cNvSpPr/>
          <p:nvPr/>
        </p:nvSpPr>
        <p:spPr>
          <a:xfrm>
            <a:off x="2377440" y="2386584"/>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Asking only friends who'll be nice</a:t>
            </a:r>
            <a:endParaRPr lang="en-US" sz="1000" dirty="0"/>
          </a:p>
        </p:txBody>
      </p:sp>
      <p:sp>
        <p:nvSpPr>
          <p:cNvPr id="16" name="Shape 14"/>
          <p:cNvSpPr/>
          <p:nvPr/>
        </p:nvSpPr>
        <p:spPr>
          <a:xfrm>
            <a:off x="5486400" y="2340864"/>
            <a:ext cx="3017520" cy="457200"/>
          </a:xfrm>
          <a:prstGeom prst="rect">
            <a:avLst/>
          </a:prstGeom>
          <a:solidFill>
            <a:srgbClr val="E8F5E9"/>
          </a:solidFill>
          <a:ln/>
        </p:spPr>
      </p:sp>
      <p:sp>
        <p:nvSpPr>
          <p:cNvPr id="17" name="Text 15"/>
          <p:cNvSpPr/>
          <p:nvPr/>
        </p:nvSpPr>
        <p:spPr>
          <a:xfrm>
            <a:off x="5577840" y="2386584"/>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dirty="0">
                <a:solidFill>
                  <a:srgbClr val="2D3436"/>
                </a:solidFill>
                <a:latin typeface="Calibri" pitchFamily="34" charset="0"/>
                <a:ea typeface="Calibri" pitchFamily="34" charset="-122"/>
                <a:cs typeface="Calibri" pitchFamily="34" charset="-120"/>
              </a:rPr>
              <a:t>Asking people who've observed your work closely and will be honest</a:t>
            </a:r>
            <a:endParaRPr lang="en-US" sz="1000" dirty="0"/>
          </a:p>
        </p:txBody>
      </p:sp>
      <p:sp>
        <p:nvSpPr>
          <p:cNvPr id="18" name="Shape 16"/>
          <p:cNvSpPr/>
          <p:nvPr/>
        </p:nvSpPr>
        <p:spPr>
          <a:xfrm>
            <a:off x="457200" y="2935224"/>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57200" y="2935224"/>
            <a:ext cx="1645920" cy="594360"/>
          </a:xfrm>
          <a:prstGeom prst="rect">
            <a:avLst/>
          </a:prstGeom>
          <a:solidFill>
            <a:srgbClr val="028090"/>
          </a:solidFill>
          <a:ln/>
        </p:spPr>
      </p:sp>
      <p:sp>
        <p:nvSpPr>
          <p:cNvPr id="20" name="Text 18"/>
          <p:cNvSpPr/>
          <p:nvPr/>
        </p:nvSpPr>
        <p:spPr>
          <a:xfrm>
            <a:off x="548640" y="3026664"/>
            <a:ext cx="146304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Create Safety</a:t>
            </a:r>
            <a:endParaRPr lang="en-US" sz="1300" dirty="0"/>
          </a:p>
        </p:txBody>
      </p:sp>
      <p:sp>
        <p:nvSpPr>
          <p:cNvPr id="21" name="Shape 19"/>
          <p:cNvSpPr/>
          <p:nvPr/>
        </p:nvSpPr>
        <p:spPr>
          <a:xfrm>
            <a:off x="2286000" y="3008376"/>
            <a:ext cx="3017520" cy="457200"/>
          </a:xfrm>
          <a:prstGeom prst="rect">
            <a:avLst/>
          </a:prstGeom>
          <a:solidFill>
            <a:srgbClr val="FFEBEE"/>
          </a:solidFill>
          <a:ln/>
        </p:spPr>
      </p:sp>
      <p:sp>
        <p:nvSpPr>
          <p:cNvPr id="22" name="Text 20"/>
          <p:cNvSpPr/>
          <p:nvPr/>
        </p:nvSpPr>
        <p:spPr>
          <a:xfrm>
            <a:off x="2377440" y="3054096"/>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"Tell me what I'm doing wrong."</a:t>
            </a:r>
            <a:endParaRPr lang="en-US" sz="1000" dirty="0"/>
          </a:p>
        </p:txBody>
      </p:sp>
      <p:sp>
        <p:nvSpPr>
          <p:cNvPr id="23" name="Shape 21"/>
          <p:cNvSpPr/>
          <p:nvPr/>
        </p:nvSpPr>
        <p:spPr>
          <a:xfrm>
            <a:off x="5486400" y="3008376"/>
            <a:ext cx="3017520" cy="457200"/>
          </a:xfrm>
          <a:prstGeom prst="rect">
            <a:avLst/>
          </a:prstGeom>
          <a:solidFill>
            <a:srgbClr val="E8F5E9"/>
          </a:solidFill>
          <a:ln/>
        </p:spPr>
      </p:sp>
      <p:sp>
        <p:nvSpPr>
          <p:cNvPr id="24" name="Text 22"/>
          <p:cNvSpPr/>
          <p:nvPr/>
        </p:nvSpPr>
        <p:spPr>
          <a:xfrm>
            <a:off x="5577840" y="3054096"/>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dirty="0">
                <a:solidFill>
                  <a:srgbClr val="2D3436"/>
                </a:solidFill>
                <a:latin typeface="Calibri" pitchFamily="34" charset="0"/>
                <a:ea typeface="Calibri" pitchFamily="34" charset="-122"/>
                <a:cs typeface="Calibri" pitchFamily="34" charset="-120"/>
              </a:rPr>
              <a:t>"I'm trying to improve. What's one thing I could do differently?"</a:t>
            </a:r>
            <a:endParaRPr lang="en-US" sz="1000" dirty="0"/>
          </a:p>
        </p:txBody>
      </p:sp>
      <p:sp>
        <p:nvSpPr>
          <p:cNvPr id="25" name="Shape 23"/>
          <p:cNvSpPr/>
          <p:nvPr/>
        </p:nvSpPr>
        <p:spPr>
          <a:xfrm>
            <a:off x="457200" y="3602736"/>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4"/>
          <p:cNvSpPr/>
          <p:nvPr/>
        </p:nvSpPr>
        <p:spPr>
          <a:xfrm>
            <a:off x="457200" y="3602736"/>
            <a:ext cx="1645920" cy="594360"/>
          </a:xfrm>
          <a:prstGeom prst="rect">
            <a:avLst/>
          </a:prstGeom>
          <a:solidFill>
            <a:srgbClr val="028090"/>
          </a:solidFill>
          <a:ln/>
        </p:spPr>
      </p:sp>
      <p:sp>
        <p:nvSpPr>
          <p:cNvPr id="27" name="Text 25"/>
          <p:cNvSpPr/>
          <p:nvPr/>
        </p:nvSpPr>
        <p:spPr>
          <a:xfrm>
            <a:off x="548640" y="3694176"/>
            <a:ext cx="146304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Time It Well</a:t>
            </a:r>
            <a:endParaRPr lang="en-US" sz="1300" dirty="0"/>
          </a:p>
        </p:txBody>
      </p:sp>
      <p:sp>
        <p:nvSpPr>
          <p:cNvPr id="28" name="Shape 26"/>
          <p:cNvSpPr/>
          <p:nvPr/>
        </p:nvSpPr>
        <p:spPr>
          <a:xfrm>
            <a:off x="2286000" y="3675888"/>
            <a:ext cx="3017520" cy="457200"/>
          </a:xfrm>
          <a:prstGeom prst="rect">
            <a:avLst/>
          </a:prstGeom>
          <a:solidFill>
            <a:srgbClr val="FFEBEE"/>
          </a:solidFill>
          <a:ln/>
        </p:spPr>
      </p:sp>
      <p:sp>
        <p:nvSpPr>
          <p:cNvPr id="29" name="Text 27"/>
          <p:cNvSpPr/>
          <p:nvPr/>
        </p:nvSpPr>
        <p:spPr>
          <a:xfrm>
            <a:off x="2377440" y="3721608"/>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Asking right before a deadline when no one has time</a:t>
            </a:r>
            <a:endParaRPr lang="en-US" sz="1000" dirty="0"/>
          </a:p>
        </p:txBody>
      </p:sp>
      <p:sp>
        <p:nvSpPr>
          <p:cNvPr id="30" name="Shape 28"/>
          <p:cNvSpPr/>
          <p:nvPr/>
        </p:nvSpPr>
        <p:spPr>
          <a:xfrm>
            <a:off x="5486400" y="3675888"/>
            <a:ext cx="3017520" cy="457200"/>
          </a:xfrm>
          <a:prstGeom prst="rect">
            <a:avLst/>
          </a:prstGeom>
          <a:solidFill>
            <a:srgbClr val="E8F5E9"/>
          </a:solidFill>
          <a:ln/>
        </p:spPr>
      </p:sp>
      <p:sp>
        <p:nvSpPr>
          <p:cNvPr id="31" name="Text 29"/>
          <p:cNvSpPr/>
          <p:nvPr/>
        </p:nvSpPr>
        <p:spPr>
          <a:xfrm>
            <a:off x="5577840" y="3721608"/>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dirty="0">
                <a:solidFill>
                  <a:srgbClr val="2D3436"/>
                </a:solidFill>
                <a:latin typeface="Calibri" pitchFamily="34" charset="0"/>
                <a:ea typeface="Calibri" pitchFamily="34" charset="-122"/>
                <a:cs typeface="Calibri" pitchFamily="34" charset="-120"/>
              </a:rPr>
              <a:t>Asking after a project completes when reflection is fresh</a:t>
            </a:r>
            <a:endParaRPr lang="en-US" sz="1000" dirty="0"/>
          </a:p>
        </p:txBody>
      </p:sp>
      <p:sp>
        <p:nvSpPr>
          <p:cNvPr id="32" name="Shape 30"/>
          <p:cNvSpPr/>
          <p:nvPr/>
        </p:nvSpPr>
        <p:spPr>
          <a:xfrm>
            <a:off x="457200" y="4270248"/>
            <a:ext cx="822960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3" name="Shape 31"/>
          <p:cNvSpPr/>
          <p:nvPr/>
        </p:nvSpPr>
        <p:spPr>
          <a:xfrm>
            <a:off x="457200" y="4270248"/>
            <a:ext cx="1645920" cy="594360"/>
          </a:xfrm>
          <a:prstGeom prst="rect">
            <a:avLst/>
          </a:prstGeom>
          <a:solidFill>
            <a:srgbClr val="028090"/>
          </a:solidFill>
          <a:ln/>
        </p:spPr>
      </p:sp>
      <p:sp>
        <p:nvSpPr>
          <p:cNvPr id="34" name="Text 32"/>
          <p:cNvSpPr/>
          <p:nvPr/>
        </p:nvSpPr>
        <p:spPr>
          <a:xfrm>
            <a:off x="548640" y="4361688"/>
            <a:ext cx="1463040" cy="41148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Follow Up</a:t>
            </a:r>
            <a:endParaRPr lang="en-US" sz="1300" dirty="0"/>
          </a:p>
        </p:txBody>
      </p:sp>
      <p:sp>
        <p:nvSpPr>
          <p:cNvPr id="35" name="Shape 33"/>
          <p:cNvSpPr/>
          <p:nvPr/>
        </p:nvSpPr>
        <p:spPr>
          <a:xfrm>
            <a:off x="2286000" y="4343400"/>
            <a:ext cx="3017520" cy="457200"/>
          </a:xfrm>
          <a:prstGeom prst="rect">
            <a:avLst/>
          </a:prstGeom>
          <a:solidFill>
            <a:srgbClr val="FFEBEE"/>
          </a:solidFill>
          <a:ln/>
        </p:spPr>
      </p:sp>
      <p:sp>
        <p:nvSpPr>
          <p:cNvPr id="36" name="Text 34"/>
          <p:cNvSpPr/>
          <p:nvPr/>
        </p:nvSpPr>
        <p:spPr>
          <a:xfrm>
            <a:off x="2377440" y="4389120"/>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Getting feedback and doing nothing with it</a:t>
            </a:r>
            <a:endParaRPr lang="en-US" sz="1000" dirty="0"/>
          </a:p>
        </p:txBody>
      </p:sp>
      <p:sp>
        <p:nvSpPr>
          <p:cNvPr id="37" name="Shape 35"/>
          <p:cNvSpPr/>
          <p:nvPr/>
        </p:nvSpPr>
        <p:spPr>
          <a:xfrm>
            <a:off x="5486400" y="4343400"/>
            <a:ext cx="3017520" cy="457200"/>
          </a:xfrm>
          <a:prstGeom prst="rect">
            <a:avLst/>
          </a:prstGeom>
          <a:solidFill>
            <a:srgbClr val="E8F5E9"/>
          </a:solidFill>
          <a:ln/>
        </p:spPr>
      </p:sp>
      <p:sp>
        <p:nvSpPr>
          <p:cNvPr id="38" name="Text 36"/>
          <p:cNvSpPr/>
          <p:nvPr/>
        </p:nvSpPr>
        <p:spPr>
          <a:xfrm>
            <a:off x="5577840" y="4389120"/>
            <a:ext cx="2834640" cy="36576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a:t>
            </a:r>
            <a:pPr indent="0" marL="0">
              <a:buNone/>
            </a:pPr>
            <a:r>
              <a:rPr lang="en-US" sz="1000" dirty="0">
                <a:solidFill>
                  <a:srgbClr val="2D3436"/>
                </a:solidFill>
                <a:latin typeface="Calibri" pitchFamily="34" charset="0"/>
                <a:ea typeface="Calibri" pitchFamily="34" charset="-122"/>
                <a:cs typeface="Calibri" pitchFamily="34" charset="-120"/>
              </a:rPr>
              <a:t>"Based on your input, I tried X. Did you notice a difference?"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CONTINUOUS LEARNING STRATEGIES</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Learning doesn't stop after formal education. The most effective advocates are perpetual learners—constantly seeking new knowledge, skills, and perspectives. Build these habits into your routine:</a:t>
            </a:r>
            <a:endParaRPr lang="en-US" sz="1400" dirty="0"/>
          </a:p>
        </p:txBody>
      </p:sp>
      <p:sp>
        <p:nvSpPr>
          <p:cNvPr id="5" name="Shape 2"/>
          <p:cNvSpPr/>
          <p:nvPr/>
        </p:nvSpPr>
        <p:spPr>
          <a:xfrm>
            <a:off x="457200" y="201168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4206240" cy="320040"/>
          </a:xfrm>
          <a:prstGeom prst="rect">
            <a:avLst/>
          </a:prstGeom>
          <a:solidFill>
            <a:srgbClr val="F77F00"/>
          </a:solidFill>
          <a:ln/>
        </p:spPr>
      </p:sp>
      <p:sp>
        <p:nvSpPr>
          <p:cNvPr id="7" name="Text 4"/>
          <p:cNvSpPr/>
          <p:nvPr/>
        </p:nvSpPr>
        <p:spPr>
          <a:xfrm>
            <a:off x="640080" y="20574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Read Widely</a:t>
            </a:r>
            <a:endParaRPr lang="en-US" sz="1300" dirty="0"/>
          </a:p>
        </p:txBody>
      </p:sp>
      <p:sp>
        <p:nvSpPr>
          <p:cNvPr id="8" name="Text 5"/>
          <p:cNvSpPr/>
          <p:nvPr/>
        </p:nvSpPr>
        <p:spPr>
          <a:xfrm>
            <a:off x="640080" y="242316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Follow thought leaders in your field</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Read case studies from other regions/sectors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Set a goal: 1 article per week or 1 book per quarter</a:t>
            </a:r>
            <a:endParaRPr lang="en-US" sz="1000" dirty="0"/>
          </a:p>
        </p:txBody>
      </p:sp>
      <p:sp>
        <p:nvSpPr>
          <p:cNvPr id="9" name="Shape 6"/>
          <p:cNvSpPr/>
          <p:nvPr/>
        </p:nvSpPr>
        <p:spPr>
          <a:xfrm>
            <a:off x="4937760" y="201168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937760" y="2011680"/>
            <a:ext cx="4206240" cy="320040"/>
          </a:xfrm>
          <a:prstGeom prst="rect">
            <a:avLst/>
          </a:prstGeom>
          <a:solidFill>
            <a:srgbClr val="F77F00"/>
          </a:solidFill>
          <a:ln/>
        </p:spPr>
      </p:sp>
      <p:sp>
        <p:nvSpPr>
          <p:cNvPr id="11" name="Text 8"/>
          <p:cNvSpPr/>
          <p:nvPr/>
        </p:nvSpPr>
        <p:spPr>
          <a:xfrm>
            <a:off x="5120640" y="20574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Learn from Peers</a:t>
            </a:r>
            <a:endParaRPr lang="en-US" sz="1300" dirty="0"/>
          </a:p>
        </p:txBody>
      </p:sp>
      <p:sp>
        <p:nvSpPr>
          <p:cNvPr id="12" name="Text 9"/>
          <p:cNvSpPr/>
          <p:nvPr/>
        </p:nvSpPr>
        <p:spPr>
          <a:xfrm>
            <a:off x="5120640" y="242316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Join advocacy networks or communities of practice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Attend workshops and conferences (virtual or in-person)</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Set up monthly peer learning sessions with other NGOs</a:t>
            </a:r>
            <a:endParaRPr lang="en-US" sz="1000" dirty="0"/>
          </a:p>
        </p:txBody>
      </p:sp>
      <p:sp>
        <p:nvSpPr>
          <p:cNvPr id="13" name="Shape 10"/>
          <p:cNvSpPr/>
          <p:nvPr/>
        </p:nvSpPr>
        <p:spPr>
          <a:xfrm>
            <a:off x="457200" y="301752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457200" y="3017520"/>
            <a:ext cx="4206240" cy="320040"/>
          </a:xfrm>
          <a:prstGeom prst="rect">
            <a:avLst/>
          </a:prstGeom>
          <a:solidFill>
            <a:srgbClr val="F77F00"/>
          </a:solidFill>
          <a:ln/>
        </p:spPr>
      </p:sp>
      <p:sp>
        <p:nvSpPr>
          <p:cNvPr id="15" name="Text 12"/>
          <p:cNvSpPr/>
          <p:nvPr/>
        </p:nvSpPr>
        <p:spPr>
          <a:xfrm>
            <a:off x="640080" y="30632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Experiment &amp; Reflect</a:t>
            </a:r>
            <a:endParaRPr lang="en-US" sz="1300" dirty="0"/>
          </a:p>
        </p:txBody>
      </p:sp>
      <p:sp>
        <p:nvSpPr>
          <p:cNvPr id="16" name="Text 13"/>
          <p:cNvSpPr/>
          <p:nvPr/>
        </p:nvSpPr>
        <p:spPr>
          <a:xfrm>
            <a:off x="640080" y="342900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Try new approaches in low-stakes situations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Document what works and what doesn't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Hold quarterly 'lessons learned' sessions with your team</a:t>
            </a:r>
            <a:endParaRPr lang="en-US" sz="1000" dirty="0"/>
          </a:p>
        </p:txBody>
      </p:sp>
      <p:sp>
        <p:nvSpPr>
          <p:cNvPr id="17" name="Shape 14"/>
          <p:cNvSpPr/>
          <p:nvPr/>
        </p:nvSpPr>
        <p:spPr>
          <a:xfrm>
            <a:off x="4937760" y="301752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Shape 15"/>
          <p:cNvSpPr/>
          <p:nvPr/>
        </p:nvSpPr>
        <p:spPr>
          <a:xfrm>
            <a:off x="4937760" y="3017520"/>
            <a:ext cx="4206240" cy="320040"/>
          </a:xfrm>
          <a:prstGeom prst="rect">
            <a:avLst/>
          </a:prstGeom>
          <a:solidFill>
            <a:srgbClr val="F77F00"/>
          </a:solidFill>
          <a:ln/>
        </p:spPr>
      </p:sp>
      <p:sp>
        <p:nvSpPr>
          <p:cNvPr id="19" name="Text 16"/>
          <p:cNvSpPr/>
          <p:nvPr/>
        </p:nvSpPr>
        <p:spPr>
          <a:xfrm>
            <a:off x="5120640" y="30632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Seek Mentorship</a:t>
            </a:r>
            <a:endParaRPr lang="en-US" sz="1300" dirty="0"/>
          </a:p>
        </p:txBody>
      </p:sp>
      <p:sp>
        <p:nvSpPr>
          <p:cNvPr id="20" name="Text 17"/>
          <p:cNvSpPr/>
          <p:nvPr/>
        </p:nvSpPr>
        <p:spPr>
          <a:xfrm>
            <a:off x="5120640" y="342900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Identify someone 2-3 steps ahead of you</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Ask specific questions, not just 'mentor me'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Offer value in return (your energy, tech skills, etc.)</a:t>
            </a:r>
            <a:endParaRPr lang="en-US" sz="1000" dirty="0"/>
          </a:p>
        </p:txBody>
      </p:sp>
      <p:sp>
        <p:nvSpPr>
          <p:cNvPr id="21" name="Shape 18"/>
          <p:cNvSpPr/>
          <p:nvPr/>
        </p:nvSpPr>
        <p:spPr>
          <a:xfrm>
            <a:off x="457200" y="402336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457200" y="4023360"/>
            <a:ext cx="4206240" cy="320040"/>
          </a:xfrm>
          <a:prstGeom prst="rect">
            <a:avLst/>
          </a:prstGeom>
          <a:solidFill>
            <a:srgbClr val="F77F00"/>
          </a:solidFill>
          <a:ln/>
        </p:spPr>
      </p:sp>
      <p:sp>
        <p:nvSpPr>
          <p:cNvPr id="23" name="Text 20"/>
          <p:cNvSpPr/>
          <p:nvPr/>
        </p:nvSpPr>
        <p:spPr>
          <a:xfrm>
            <a:off x="640080" y="406908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Teach Others</a:t>
            </a:r>
            <a:endParaRPr lang="en-US" sz="1300" dirty="0"/>
          </a:p>
        </p:txBody>
      </p:sp>
      <p:sp>
        <p:nvSpPr>
          <p:cNvPr id="24" name="Text 21"/>
          <p:cNvSpPr/>
          <p:nvPr/>
        </p:nvSpPr>
        <p:spPr>
          <a:xfrm>
            <a:off x="640080" y="44348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Teaching forces you to clarify your thinking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Lead a workshop or write a blog post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You'll learn by explaining concepts to others</a:t>
            </a:r>
            <a:endParaRPr lang="en-US" sz="1000" dirty="0"/>
          </a:p>
        </p:txBody>
      </p:sp>
      <p:sp>
        <p:nvSpPr>
          <p:cNvPr id="25" name="Shape 22"/>
          <p:cNvSpPr/>
          <p:nvPr/>
        </p:nvSpPr>
        <p:spPr>
          <a:xfrm>
            <a:off x="4937760" y="4023360"/>
            <a:ext cx="4206240" cy="914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Shape 23"/>
          <p:cNvSpPr/>
          <p:nvPr/>
        </p:nvSpPr>
        <p:spPr>
          <a:xfrm>
            <a:off x="4937760" y="4023360"/>
            <a:ext cx="4206240" cy="320040"/>
          </a:xfrm>
          <a:prstGeom prst="rect">
            <a:avLst/>
          </a:prstGeom>
          <a:solidFill>
            <a:srgbClr val="F77F00"/>
          </a:solidFill>
          <a:ln/>
        </p:spPr>
      </p:sp>
      <p:sp>
        <p:nvSpPr>
          <p:cNvPr id="27" name="Text 24"/>
          <p:cNvSpPr/>
          <p:nvPr/>
        </p:nvSpPr>
        <p:spPr>
          <a:xfrm>
            <a:off x="5120640" y="406908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Cross-Train</a:t>
            </a:r>
            <a:endParaRPr lang="en-US" sz="1300" dirty="0"/>
          </a:p>
        </p:txBody>
      </p:sp>
      <p:sp>
        <p:nvSpPr>
          <p:cNvPr id="28" name="Text 25"/>
          <p:cNvSpPr/>
          <p:nvPr/>
        </p:nvSpPr>
        <p:spPr>
          <a:xfrm>
            <a:off x="5120640" y="44348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Learn skills outside your primary role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If you're a program officer, learn basic finance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Broadens perspective and makes you more versatile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BUILDING YOUR RESILIENCE TOOLKIT</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Resilience isn't one skill—it's a combination of practices, mindsets, and support systems. Build your personal toolkit:</a:t>
            </a:r>
            <a:endParaRPr lang="en-US" sz="1400" dirty="0"/>
          </a:p>
        </p:txBody>
      </p:sp>
      <p:sp>
        <p:nvSpPr>
          <p:cNvPr id="4" name="Shape 2"/>
          <p:cNvSpPr/>
          <p:nvPr/>
        </p:nvSpPr>
        <p:spPr>
          <a:xfrm>
            <a:off x="457200" y="160020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00200"/>
            <a:ext cx="2743200" cy="365760"/>
          </a:xfrm>
          <a:prstGeom prst="rect">
            <a:avLst/>
          </a:prstGeom>
          <a:solidFill>
            <a:srgbClr val="028090"/>
          </a:solidFill>
          <a:ln/>
        </p:spPr>
      </p:sp>
      <p:pic>
        <p:nvPicPr>
          <p:cNvPr id="6" name="Image 0" descr="preencoded.png">    </p:cNvPr>
          <p:cNvPicPr>
            <a:picLocks noChangeAspect="1"/>
          </p:cNvPicPr>
          <p:nvPr/>
        </p:nvPicPr>
        <p:blipFill>
          <a:blip r:embed="rId1"/>
          <a:stretch>
            <a:fillRect/>
          </a:stretch>
        </p:blipFill>
        <p:spPr>
          <a:xfrm>
            <a:off x="640080" y="1645920"/>
            <a:ext cx="274320" cy="274320"/>
          </a:xfrm>
          <a:prstGeom prst="rect">
            <a:avLst/>
          </a:prstGeom>
        </p:spPr>
      </p:pic>
      <p:sp>
        <p:nvSpPr>
          <p:cNvPr id="7" name="Text 4"/>
          <p:cNvSpPr/>
          <p:nvPr/>
        </p:nvSpPr>
        <p:spPr>
          <a:xfrm>
            <a:off x="1005840" y="164592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PHYSICAL</a:t>
            </a:r>
            <a:endParaRPr lang="en-US" sz="1300" dirty="0"/>
          </a:p>
        </p:txBody>
      </p:sp>
      <p:sp>
        <p:nvSpPr>
          <p:cNvPr id="8" name="Text 5"/>
          <p:cNvSpPr/>
          <p:nvPr/>
        </p:nvSpPr>
        <p:spPr>
          <a:xfrm>
            <a:off x="594360" y="205740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7-9 hours sleep</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Regular exercise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Healthy eating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Medical checkups</a:t>
            </a:r>
            <a:endParaRPr lang="en-US" sz="1000" dirty="0"/>
          </a:p>
        </p:txBody>
      </p:sp>
      <p:sp>
        <p:nvSpPr>
          <p:cNvPr id="9" name="Shape 6"/>
          <p:cNvSpPr/>
          <p:nvPr/>
        </p:nvSpPr>
        <p:spPr>
          <a:xfrm>
            <a:off x="3474720" y="160020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3474720" y="1600200"/>
            <a:ext cx="2743200" cy="365760"/>
          </a:xfrm>
          <a:prstGeom prst="rect">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3657600" y="1645920"/>
            <a:ext cx="274320" cy="274320"/>
          </a:xfrm>
          <a:prstGeom prst="rect">
            <a:avLst/>
          </a:prstGeom>
        </p:spPr>
      </p:pic>
      <p:sp>
        <p:nvSpPr>
          <p:cNvPr id="12" name="Text 8"/>
          <p:cNvSpPr/>
          <p:nvPr/>
        </p:nvSpPr>
        <p:spPr>
          <a:xfrm>
            <a:off x="4023360" y="164592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EMOTIONAL</a:t>
            </a:r>
            <a:endParaRPr lang="en-US" sz="1300" dirty="0"/>
          </a:p>
        </p:txBody>
      </p:sp>
      <p:sp>
        <p:nvSpPr>
          <p:cNvPr id="13" name="Text 9"/>
          <p:cNvSpPr/>
          <p:nvPr/>
        </p:nvSpPr>
        <p:spPr>
          <a:xfrm>
            <a:off x="3611880" y="205740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Journaling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Therapy/counseling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Emotional processing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Self-compassion</a:t>
            </a:r>
            <a:endParaRPr lang="en-US" sz="1000" dirty="0"/>
          </a:p>
        </p:txBody>
      </p:sp>
      <p:sp>
        <p:nvSpPr>
          <p:cNvPr id="14" name="Shape 10"/>
          <p:cNvSpPr/>
          <p:nvPr/>
        </p:nvSpPr>
        <p:spPr>
          <a:xfrm>
            <a:off x="6492240" y="160020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1"/>
          <p:cNvSpPr/>
          <p:nvPr/>
        </p:nvSpPr>
        <p:spPr>
          <a:xfrm>
            <a:off x="6492240" y="1600200"/>
            <a:ext cx="2743200" cy="365760"/>
          </a:xfrm>
          <a:prstGeom prst="rect">
            <a:avLst/>
          </a:prstGeom>
          <a:solidFill>
            <a:srgbClr val="028090"/>
          </a:solidFill>
          <a:ln/>
        </p:spPr>
      </p:sp>
      <p:pic>
        <p:nvPicPr>
          <p:cNvPr id="16" name="Image 2" descr="preencoded.png">    </p:cNvPr>
          <p:cNvPicPr>
            <a:picLocks noChangeAspect="1"/>
          </p:cNvPicPr>
          <p:nvPr/>
        </p:nvPicPr>
        <p:blipFill>
          <a:blip r:embed="rId3"/>
          <a:stretch>
            <a:fillRect/>
          </a:stretch>
        </p:blipFill>
        <p:spPr>
          <a:xfrm>
            <a:off x="6675120" y="1645920"/>
            <a:ext cx="274320" cy="274320"/>
          </a:xfrm>
          <a:prstGeom prst="rect">
            <a:avLst/>
          </a:prstGeom>
        </p:spPr>
      </p:pic>
      <p:sp>
        <p:nvSpPr>
          <p:cNvPr id="17" name="Text 12"/>
          <p:cNvSpPr/>
          <p:nvPr/>
        </p:nvSpPr>
        <p:spPr>
          <a:xfrm>
            <a:off x="7040880" y="164592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SOCIAL</a:t>
            </a:r>
            <a:endParaRPr lang="en-US" sz="1300" dirty="0"/>
          </a:p>
        </p:txBody>
      </p:sp>
      <p:sp>
        <p:nvSpPr>
          <p:cNvPr id="18" name="Text 13"/>
          <p:cNvSpPr/>
          <p:nvPr/>
        </p:nvSpPr>
        <p:spPr>
          <a:xfrm>
            <a:off x="6629400" y="205740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Trusted friends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Mentor relationships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Peer networks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Community ties</a:t>
            </a:r>
            <a:endParaRPr lang="en-US" sz="1000" dirty="0"/>
          </a:p>
        </p:txBody>
      </p:sp>
      <p:sp>
        <p:nvSpPr>
          <p:cNvPr id="19" name="Shape 14"/>
          <p:cNvSpPr/>
          <p:nvPr/>
        </p:nvSpPr>
        <p:spPr>
          <a:xfrm>
            <a:off x="457200" y="265176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5"/>
          <p:cNvSpPr/>
          <p:nvPr/>
        </p:nvSpPr>
        <p:spPr>
          <a:xfrm>
            <a:off x="457200" y="2651760"/>
            <a:ext cx="2743200" cy="365760"/>
          </a:xfrm>
          <a:prstGeom prst="rect">
            <a:avLst/>
          </a:prstGeom>
          <a:solidFill>
            <a:srgbClr val="028090"/>
          </a:solidFill>
          <a:ln/>
        </p:spPr>
      </p:sp>
      <p:pic>
        <p:nvPicPr>
          <p:cNvPr id="21" name="Image 3" descr="preencoded.png">    </p:cNvPr>
          <p:cNvPicPr>
            <a:picLocks noChangeAspect="1"/>
          </p:cNvPicPr>
          <p:nvPr/>
        </p:nvPicPr>
        <p:blipFill>
          <a:blip r:embed="rId4"/>
          <a:stretch>
            <a:fillRect/>
          </a:stretch>
        </p:blipFill>
        <p:spPr>
          <a:xfrm>
            <a:off x="640080" y="2697480"/>
            <a:ext cx="274320" cy="274320"/>
          </a:xfrm>
          <a:prstGeom prst="rect">
            <a:avLst/>
          </a:prstGeom>
        </p:spPr>
      </p:pic>
      <p:sp>
        <p:nvSpPr>
          <p:cNvPr id="22" name="Text 16"/>
          <p:cNvSpPr/>
          <p:nvPr/>
        </p:nvSpPr>
        <p:spPr>
          <a:xfrm>
            <a:off x="1005840" y="269748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MENTAL</a:t>
            </a:r>
            <a:endParaRPr lang="en-US" sz="1300" dirty="0"/>
          </a:p>
        </p:txBody>
      </p:sp>
      <p:sp>
        <p:nvSpPr>
          <p:cNvPr id="23" name="Text 17"/>
          <p:cNvSpPr/>
          <p:nvPr/>
        </p:nvSpPr>
        <p:spPr>
          <a:xfrm>
            <a:off x="594360" y="310896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Mindfulness practice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Positive self-talk</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Learning habits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Creative hobbies</a:t>
            </a:r>
            <a:endParaRPr lang="en-US" sz="1000" dirty="0"/>
          </a:p>
        </p:txBody>
      </p:sp>
      <p:sp>
        <p:nvSpPr>
          <p:cNvPr id="24" name="Shape 18"/>
          <p:cNvSpPr/>
          <p:nvPr/>
        </p:nvSpPr>
        <p:spPr>
          <a:xfrm>
            <a:off x="3474720" y="265176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Shape 19"/>
          <p:cNvSpPr/>
          <p:nvPr/>
        </p:nvSpPr>
        <p:spPr>
          <a:xfrm>
            <a:off x="3474720" y="2651760"/>
            <a:ext cx="2743200" cy="365760"/>
          </a:xfrm>
          <a:prstGeom prst="rect">
            <a:avLst/>
          </a:prstGeom>
          <a:solidFill>
            <a:srgbClr val="028090"/>
          </a:solidFill>
          <a:ln/>
        </p:spPr>
      </p:sp>
      <p:pic>
        <p:nvPicPr>
          <p:cNvPr id="26" name="Image 4" descr="preencoded.png">    </p:cNvPr>
          <p:cNvPicPr>
            <a:picLocks noChangeAspect="1"/>
          </p:cNvPicPr>
          <p:nvPr/>
        </p:nvPicPr>
        <p:blipFill>
          <a:blip r:embed="rId5"/>
          <a:stretch>
            <a:fillRect/>
          </a:stretch>
        </p:blipFill>
        <p:spPr>
          <a:xfrm>
            <a:off x="3657600" y="2697480"/>
            <a:ext cx="274320" cy="274320"/>
          </a:xfrm>
          <a:prstGeom prst="rect">
            <a:avLst/>
          </a:prstGeom>
        </p:spPr>
      </p:pic>
      <p:sp>
        <p:nvSpPr>
          <p:cNvPr id="27" name="Text 20"/>
          <p:cNvSpPr/>
          <p:nvPr/>
        </p:nvSpPr>
        <p:spPr>
          <a:xfrm>
            <a:off x="4023360" y="269748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SPIRITUAL</a:t>
            </a:r>
            <a:endParaRPr lang="en-US" sz="1300" dirty="0"/>
          </a:p>
        </p:txBody>
      </p:sp>
      <p:sp>
        <p:nvSpPr>
          <p:cNvPr id="28" name="Text 21"/>
          <p:cNvSpPr/>
          <p:nvPr/>
        </p:nvSpPr>
        <p:spPr>
          <a:xfrm>
            <a:off x="3611880" y="310896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Values clarification</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Purpose reminder</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Gratitude practice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Faith/meaning-making</a:t>
            </a:r>
            <a:endParaRPr lang="en-US" sz="1000" dirty="0"/>
          </a:p>
        </p:txBody>
      </p:sp>
      <p:sp>
        <p:nvSpPr>
          <p:cNvPr id="29" name="Shape 22"/>
          <p:cNvSpPr/>
          <p:nvPr/>
        </p:nvSpPr>
        <p:spPr>
          <a:xfrm>
            <a:off x="6492240" y="2651760"/>
            <a:ext cx="2743200" cy="9601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3"/>
          <p:cNvSpPr/>
          <p:nvPr/>
        </p:nvSpPr>
        <p:spPr>
          <a:xfrm>
            <a:off x="6492240" y="2651760"/>
            <a:ext cx="2743200" cy="365760"/>
          </a:xfrm>
          <a:prstGeom prst="rect">
            <a:avLst/>
          </a:prstGeom>
          <a:solidFill>
            <a:srgbClr val="028090"/>
          </a:solidFill>
          <a:ln/>
        </p:spPr>
      </p:sp>
      <p:pic>
        <p:nvPicPr>
          <p:cNvPr id="31" name="Image 5" descr="preencoded.png">    </p:cNvPr>
          <p:cNvPicPr>
            <a:picLocks noChangeAspect="1"/>
          </p:cNvPicPr>
          <p:nvPr/>
        </p:nvPicPr>
        <p:blipFill>
          <a:blip r:embed="rId6"/>
          <a:stretch>
            <a:fillRect/>
          </a:stretch>
        </p:blipFill>
        <p:spPr>
          <a:xfrm>
            <a:off x="6675120" y="2697480"/>
            <a:ext cx="274320" cy="274320"/>
          </a:xfrm>
          <a:prstGeom prst="rect">
            <a:avLst/>
          </a:prstGeom>
        </p:spPr>
      </p:pic>
      <p:sp>
        <p:nvSpPr>
          <p:cNvPr id="32" name="Text 24"/>
          <p:cNvSpPr/>
          <p:nvPr/>
        </p:nvSpPr>
        <p:spPr>
          <a:xfrm>
            <a:off x="7040880" y="2697480"/>
            <a:ext cx="20116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PROFESSIONAL</a:t>
            </a:r>
            <a:endParaRPr lang="en-US" sz="1300" dirty="0"/>
          </a:p>
        </p:txBody>
      </p:sp>
      <p:sp>
        <p:nvSpPr>
          <p:cNvPr id="33" name="Text 25"/>
          <p:cNvSpPr/>
          <p:nvPr/>
        </p:nvSpPr>
        <p:spPr>
          <a:xfrm>
            <a:off x="6629400" y="3108960"/>
            <a:ext cx="24688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Clear boundaries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Skill development</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Feedback loops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Career planning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YOUR 30-DAY RESILIENCE PLAN</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Start building resilience and adaptive thinking today. Here's a practical plan for your first month:</a:t>
            </a:r>
            <a:endParaRPr lang="en-US" sz="1400" dirty="0"/>
          </a:p>
        </p:txBody>
      </p:sp>
      <p:sp>
        <p:nvSpPr>
          <p:cNvPr id="4" name="Shape 2"/>
          <p:cNvSpPr/>
          <p:nvPr/>
        </p:nvSpPr>
        <p:spPr>
          <a:xfrm>
            <a:off x="457200" y="1645920"/>
            <a:ext cx="42062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45920"/>
            <a:ext cx="4206240" cy="365760"/>
          </a:xfrm>
          <a:prstGeom prst="rect">
            <a:avLst/>
          </a:prstGeom>
          <a:solidFill>
            <a:srgbClr val="028090"/>
          </a:solidFill>
          <a:ln/>
        </p:spPr>
      </p:sp>
      <p:sp>
        <p:nvSpPr>
          <p:cNvPr id="6" name="Text 4"/>
          <p:cNvSpPr/>
          <p:nvPr/>
        </p:nvSpPr>
        <p:spPr>
          <a:xfrm>
            <a:off x="640080" y="16916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1</a:t>
            </a:r>
            <a:endParaRPr lang="en-US" sz="1600" dirty="0"/>
          </a:p>
        </p:txBody>
      </p:sp>
      <p:sp>
        <p:nvSpPr>
          <p:cNvPr id="7" name="Text 5"/>
          <p:cNvSpPr/>
          <p:nvPr/>
        </p:nvSpPr>
        <p:spPr>
          <a:xfrm>
            <a:off x="640080" y="2103120"/>
            <a:ext cx="3840480" cy="228600"/>
          </a:xfrm>
          <a:prstGeom prst="rect">
            <a:avLst/>
          </a:prstGeom>
          <a:noFill/>
          <a:ln/>
        </p:spPr>
        <p:txBody>
          <a:bodyPr wrap="square" rtlCol="0" anchor="ctr"/>
          <a:lstStyle/>
          <a:p>
            <a:pPr indent="0" marL="0">
              <a:buNone/>
            </a:pPr>
            <a:r>
              <a:rPr lang="en-US" sz="1300" b="1" i="1" dirty="0">
                <a:solidFill>
                  <a:srgbClr val="02C39A"/>
                </a:solidFill>
                <a:latin typeface="Arial" pitchFamily="34" charset="0"/>
                <a:ea typeface="Arial" pitchFamily="34" charset="-122"/>
                <a:cs typeface="Arial" pitchFamily="34" charset="-120"/>
              </a:rPr>
              <a:t>Awareness &amp; Assessment</a:t>
            </a:r>
            <a:endParaRPr lang="en-US" sz="1300" dirty="0"/>
          </a:p>
        </p:txBody>
      </p:sp>
      <p:sp>
        <p:nvSpPr>
          <p:cNvPr id="8" name="Text 6"/>
          <p:cNvSpPr/>
          <p:nvPr/>
        </p:nvSpPr>
        <p:spPr>
          <a:xfrm>
            <a:off x="640080" y="23774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Complete a stress audit: identify your top 3 stressors</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Map your current support system (who do you turn to?)</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Try one mental health practice daily (meditation, journaling, etc.)</a:t>
            </a:r>
            <a:endParaRPr lang="en-US" sz="1000" dirty="0"/>
          </a:p>
        </p:txBody>
      </p:sp>
      <p:sp>
        <p:nvSpPr>
          <p:cNvPr id="9" name="Shape 7"/>
          <p:cNvSpPr/>
          <p:nvPr/>
        </p:nvSpPr>
        <p:spPr>
          <a:xfrm>
            <a:off x="4937760" y="1645920"/>
            <a:ext cx="42062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937760" y="1645920"/>
            <a:ext cx="4206240" cy="365760"/>
          </a:xfrm>
          <a:prstGeom prst="rect">
            <a:avLst/>
          </a:prstGeom>
          <a:solidFill>
            <a:srgbClr val="028090"/>
          </a:solidFill>
          <a:ln/>
        </p:spPr>
      </p:sp>
      <p:sp>
        <p:nvSpPr>
          <p:cNvPr id="11" name="Text 9"/>
          <p:cNvSpPr/>
          <p:nvPr/>
        </p:nvSpPr>
        <p:spPr>
          <a:xfrm>
            <a:off x="5120640" y="16916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2</a:t>
            </a:r>
            <a:endParaRPr lang="en-US" sz="1600" dirty="0"/>
          </a:p>
        </p:txBody>
      </p:sp>
      <p:sp>
        <p:nvSpPr>
          <p:cNvPr id="12" name="Text 10"/>
          <p:cNvSpPr/>
          <p:nvPr/>
        </p:nvSpPr>
        <p:spPr>
          <a:xfrm>
            <a:off x="5120640" y="2103120"/>
            <a:ext cx="3840480" cy="228600"/>
          </a:xfrm>
          <a:prstGeom prst="rect">
            <a:avLst/>
          </a:prstGeom>
          <a:noFill/>
          <a:ln/>
        </p:spPr>
        <p:txBody>
          <a:bodyPr wrap="square" rtlCol="0" anchor="ctr"/>
          <a:lstStyle/>
          <a:p>
            <a:pPr indent="0" marL="0">
              <a:buNone/>
            </a:pPr>
            <a:r>
              <a:rPr lang="en-US" sz="1300" b="1" i="1" dirty="0">
                <a:solidFill>
                  <a:srgbClr val="02C39A"/>
                </a:solidFill>
                <a:latin typeface="Arial" pitchFamily="34" charset="0"/>
                <a:ea typeface="Arial" pitchFamily="34" charset="-122"/>
                <a:cs typeface="Arial" pitchFamily="34" charset="-120"/>
              </a:rPr>
              <a:t>Adaptive Thinking Practice</a:t>
            </a:r>
            <a:endParaRPr lang="en-US" sz="1300" dirty="0"/>
          </a:p>
        </p:txBody>
      </p:sp>
      <p:sp>
        <p:nvSpPr>
          <p:cNvPr id="13" name="Text 11"/>
          <p:cNvSpPr/>
          <p:nvPr/>
        </p:nvSpPr>
        <p:spPr>
          <a:xfrm>
            <a:off x="5120640" y="23774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Identify one rigid belief you hold about your work</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Apply the 5-step problem-solving framework to a current challenge</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Ask 'What else could be true?' when facing a setback</a:t>
            </a:r>
            <a:endParaRPr lang="en-US" sz="1000" dirty="0"/>
          </a:p>
        </p:txBody>
      </p:sp>
      <p:sp>
        <p:nvSpPr>
          <p:cNvPr id="14" name="Shape 12"/>
          <p:cNvSpPr/>
          <p:nvPr/>
        </p:nvSpPr>
        <p:spPr>
          <a:xfrm>
            <a:off x="457200" y="3017520"/>
            <a:ext cx="42062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017520"/>
            <a:ext cx="4206240" cy="365760"/>
          </a:xfrm>
          <a:prstGeom prst="rect">
            <a:avLst/>
          </a:prstGeom>
          <a:solidFill>
            <a:srgbClr val="028090"/>
          </a:solidFill>
          <a:ln/>
        </p:spPr>
      </p:sp>
      <p:sp>
        <p:nvSpPr>
          <p:cNvPr id="16" name="Text 14"/>
          <p:cNvSpPr/>
          <p:nvPr/>
        </p:nvSpPr>
        <p:spPr>
          <a:xfrm>
            <a:off x="640080" y="30632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3</a:t>
            </a:r>
            <a:endParaRPr lang="en-US" sz="1600" dirty="0"/>
          </a:p>
        </p:txBody>
      </p:sp>
      <p:sp>
        <p:nvSpPr>
          <p:cNvPr id="17" name="Text 15"/>
          <p:cNvSpPr/>
          <p:nvPr/>
        </p:nvSpPr>
        <p:spPr>
          <a:xfrm>
            <a:off x="640080" y="3474720"/>
            <a:ext cx="3840480" cy="228600"/>
          </a:xfrm>
          <a:prstGeom prst="rect">
            <a:avLst/>
          </a:prstGeom>
          <a:noFill/>
          <a:ln/>
        </p:spPr>
        <p:txBody>
          <a:bodyPr wrap="square" rtlCol="0" anchor="ctr"/>
          <a:lstStyle/>
          <a:p>
            <a:pPr indent="0" marL="0">
              <a:buNone/>
            </a:pPr>
            <a:r>
              <a:rPr lang="en-US" sz="1300" b="1" i="1" dirty="0">
                <a:solidFill>
                  <a:srgbClr val="02C39A"/>
                </a:solidFill>
                <a:latin typeface="Arial" pitchFamily="34" charset="0"/>
                <a:ea typeface="Arial" pitchFamily="34" charset="-122"/>
                <a:cs typeface="Arial" pitchFamily="34" charset="-120"/>
              </a:rPr>
              <a:t>Feedback &amp; Learning</a:t>
            </a:r>
            <a:endParaRPr lang="en-US" sz="1300" dirty="0"/>
          </a:p>
        </p:txBody>
      </p:sp>
      <p:sp>
        <p:nvSpPr>
          <p:cNvPr id="18" name="Text 16"/>
          <p:cNvSpPr/>
          <p:nvPr/>
        </p:nvSpPr>
        <p:spPr>
          <a:xfrm>
            <a:off x="640080" y="37490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Seek specific feedback from 2 people about your work</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Read one article or case study outside your usual focus area</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Share a lesson learned with your team</a:t>
            </a:r>
            <a:endParaRPr lang="en-US" sz="1000" dirty="0"/>
          </a:p>
        </p:txBody>
      </p:sp>
      <p:sp>
        <p:nvSpPr>
          <p:cNvPr id="19" name="Shape 17"/>
          <p:cNvSpPr/>
          <p:nvPr/>
        </p:nvSpPr>
        <p:spPr>
          <a:xfrm>
            <a:off x="4937760" y="3017520"/>
            <a:ext cx="4206240" cy="1234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937760" y="3017520"/>
            <a:ext cx="4206240" cy="365760"/>
          </a:xfrm>
          <a:prstGeom prst="rect">
            <a:avLst/>
          </a:prstGeom>
          <a:solidFill>
            <a:srgbClr val="028090"/>
          </a:solidFill>
          <a:ln/>
        </p:spPr>
      </p:sp>
      <p:sp>
        <p:nvSpPr>
          <p:cNvPr id="21" name="Text 19"/>
          <p:cNvSpPr/>
          <p:nvPr/>
        </p:nvSpPr>
        <p:spPr>
          <a:xfrm>
            <a:off x="5120640" y="30632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4</a:t>
            </a:r>
            <a:endParaRPr lang="en-US" sz="1600" dirty="0"/>
          </a:p>
        </p:txBody>
      </p:sp>
      <p:sp>
        <p:nvSpPr>
          <p:cNvPr id="22" name="Text 20"/>
          <p:cNvSpPr/>
          <p:nvPr/>
        </p:nvSpPr>
        <p:spPr>
          <a:xfrm>
            <a:off x="5120640" y="3474720"/>
            <a:ext cx="3840480" cy="228600"/>
          </a:xfrm>
          <a:prstGeom prst="rect">
            <a:avLst/>
          </a:prstGeom>
          <a:noFill/>
          <a:ln/>
        </p:spPr>
        <p:txBody>
          <a:bodyPr wrap="square" rtlCol="0" anchor="ctr"/>
          <a:lstStyle/>
          <a:p>
            <a:pPr indent="0" marL="0">
              <a:buNone/>
            </a:pPr>
            <a:r>
              <a:rPr lang="en-US" sz="1300" b="1" i="1" dirty="0">
                <a:solidFill>
                  <a:srgbClr val="02C39A"/>
                </a:solidFill>
                <a:latin typeface="Arial" pitchFamily="34" charset="0"/>
                <a:ea typeface="Arial" pitchFamily="34" charset="-122"/>
                <a:cs typeface="Arial" pitchFamily="34" charset="-120"/>
              </a:rPr>
              <a:t>Integration &amp; Habits</a:t>
            </a:r>
            <a:endParaRPr lang="en-US" sz="1300" dirty="0"/>
          </a:p>
        </p:txBody>
      </p:sp>
      <p:sp>
        <p:nvSpPr>
          <p:cNvPr id="23" name="Text 21"/>
          <p:cNvSpPr/>
          <p:nvPr/>
        </p:nvSpPr>
        <p:spPr>
          <a:xfrm>
            <a:off x="5120640" y="3749040"/>
            <a:ext cx="3840480" cy="4572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 Set one boundary to protect your wellbeing</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Schedule regular reflection time in your calendar</a:t>
            </a:r>
            <a:endParaRPr lang="en-US" sz="1000" dirty="0"/>
          </a:p>
          <a:p>
            <a:pPr indent="0" marL="0">
              <a:buNone/>
            </a:pPr>
            <a:r>
              <a:rPr lang="en-US" sz="1000" dirty="0">
                <a:solidFill>
                  <a:srgbClr val="2D3436"/>
                </a:solidFill>
                <a:latin typeface="Calibri" pitchFamily="34" charset="0"/>
                <a:ea typeface="Calibri" pitchFamily="34" charset="-122"/>
                <a:cs typeface="Calibri" pitchFamily="34" charset="-120"/>
              </a:rPr>
              <a:t>✓ Celebrate progress and adjust your resilience plan as needed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05668D"/>
                </a:solidFill>
                <a:latin typeface="Arial Black" pitchFamily="34" charset="0"/>
                <a:ea typeface="Arial Black" pitchFamily="34" charset="-122"/>
                <a:cs typeface="Arial Black" pitchFamily="34" charset="-120"/>
              </a:rPr>
              <a:t>KEY TAKEAWAYS</a:t>
            </a:r>
            <a:endParaRPr lang="en-US" sz="3600" dirty="0"/>
          </a:p>
        </p:txBody>
      </p:sp>
      <p:sp>
        <p:nvSpPr>
          <p:cNvPr id="3" name="Shape 1"/>
          <p:cNvSpPr/>
          <p:nvPr/>
        </p:nvSpPr>
        <p:spPr>
          <a:xfrm>
            <a:off x="731520" y="1234440"/>
            <a:ext cx="365760" cy="365760"/>
          </a:xfrm>
          <a:prstGeom prst="ellipse">
            <a:avLst/>
          </a:prstGeom>
          <a:solidFill>
            <a:srgbClr val="02C39A"/>
          </a:solidFill>
          <a:ln/>
        </p:spPr>
      </p:sp>
      <p:sp>
        <p:nvSpPr>
          <p:cNvPr id="4" name="Text 2"/>
          <p:cNvSpPr/>
          <p:nvPr/>
        </p:nvSpPr>
        <p:spPr>
          <a:xfrm>
            <a:off x="731520" y="1234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1234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Youth-led NGOs face unique challenges—funding uncertainty, credibility gaps, and political/social risks—that require strategic resilience</a:t>
            </a:r>
            <a:endParaRPr lang="en-US" sz="1300" dirty="0"/>
          </a:p>
        </p:txBody>
      </p:sp>
      <p:sp>
        <p:nvSpPr>
          <p:cNvPr id="6" name="Shape 4"/>
          <p:cNvSpPr/>
          <p:nvPr/>
        </p:nvSpPr>
        <p:spPr>
          <a:xfrm>
            <a:off x="731520" y="1691640"/>
            <a:ext cx="365760" cy="365760"/>
          </a:xfrm>
          <a:prstGeom prst="ellipse">
            <a:avLst/>
          </a:prstGeom>
          <a:solidFill>
            <a:srgbClr val="02C39A"/>
          </a:solidFill>
          <a:ln/>
        </p:spPr>
      </p:sp>
      <p:sp>
        <p:nvSpPr>
          <p:cNvPr id="7" name="Text 5"/>
          <p:cNvSpPr/>
          <p:nvPr/>
        </p:nvSpPr>
        <p:spPr>
          <a:xfrm>
            <a:off x="731520" y="1691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1691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Stress is normal, but chronic stress harms your health and work. Recognize your signals and practice prevention strategies</a:t>
            </a:r>
            <a:endParaRPr lang="en-US" sz="1300" dirty="0"/>
          </a:p>
        </p:txBody>
      </p:sp>
      <p:sp>
        <p:nvSpPr>
          <p:cNvPr id="9" name="Shape 7"/>
          <p:cNvSpPr/>
          <p:nvPr/>
        </p:nvSpPr>
        <p:spPr>
          <a:xfrm>
            <a:off x="731520" y="2148840"/>
            <a:ext cx="365760" cy="365760"/>
          </a:xfrm>
          <a:prstGeom prst="ellipse">
            <a:avLst/>
          </a:prstGeom>
          <a:solidFill>
            <a:srgbClr val="02C39A"/>
          </a:solidFill>
          <a:ln/>
        </p:spPr>
      </p:sp>
      <p:sp>
        <p:nvSpPr>
          <p:cNvPr id="10" name="Text 8"/>
          <p:cNvSpPr/>
          <p:nvPr/>
        </p:nvSpPr>
        <p:spPr>
          <a:xfrm>
            <a:off x="731520" y="2148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148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Mental health is just as important as physical health. Break the stigma and prioritize self-care practices</a:t>
            </a:r>
            <a:endParaRPr lang="en-US" sz="1300" dirty="0"/>
          </a:p>
        </p:txBody>
      </p:sp>
      <p:sp>
        <p:nvSpPr>
          <p:cNvPr id="12" name="Shape 10"/>
          <p:cNvSpPr/>
          <p:nvPr/>
        </p:nvSpPr>
        <p:spPr>
          <a:xfrm>
            <a:off x="731520" y="2606040"/>
            <a:ext cx="365760" cy="365760"/>
          </a:xfrm>
          <a:prstGeom prst="ellipse">
            <a:avLst/>
          </a:prstGeom>
          <a:solidFill>
            <a:srgbClr val="02C39A"/>
          </a:solidFill>
          <a:ln/>
        </p:spPr>
      </p:sp>
      <p:sp>
        <p:nvSpPr>
          <p:cNvPr id="13" name="Text 11"/>
          <p:cNvSpPr/>
          <p:nvPr/>
        </p:nvSpPr>
        <p:spPr>
          <a:xfrm>
            <a:off x="731520" y="26060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26060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Adaptive thinking—flexibility, curiosity, and problem-solving—helps you navigate uncertainty and find creative solutions</a:t>
            </a:r>
            <a:endParaRPr lang="en-US" sz="1300" dirty="0"/>
          </a:p>
        </p:txBody>
      </p:sp>
      <p:sp>
        <p:nvSpPr>
          <p:cNvPr id="15" name="Shape 13"/>
          <p:cNvSpPr/>
          <p:nvPr/>
        </p:nvSpPr>
        <p:spPr>
          <a:xfrm>
            <a:off x="731520" y="3063240"/>
            <a:ext cx="365760" cy="365760"/>
          </a:xfrm>
          <a:prstGeom prst="ellipse">
            <a:avLst/>
          </a:prstGeom>
          <a:solidFill>
            <a:srgbClr val="02C39A"/>
          </a:solidFill>
          <a:ln/>
        </p:spPr>
      </p:sp>
      <p:sp>
        <p:nvSpPr>
          <p:cNvPr id="16" name="Text 14"/>
          <p:cNvSpPr/>
          <p:nvPr/>
        </p:nvSpPr>
        <p:spPr>
          <a:xfrm>
            <a:off x="731520" y="30632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30632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Learning agility is built through openness to feedback, continuous learning, and willingness to experiment</a:t>
            </a:r>
            <a:endParaRPr lang="en-US" sz="1300" dirty="0"/>
          </a:p>
        </p:txBody>
      </p:sp>
      <p:sp>
        <p:nvSpPr>
          <p:cNvPr id="18" name="Shape 16"/>
          <p:cNvSpPr/>
          <p:nvPr/>
        </p:nvSpPr>
        <p:spPr>
          <a:xfrm>
            <a:off x="731520" y="3520440"/>
            <a:ext cx="365760" cy="365760"/>
          </a:xfrm>
          <a:prstGeom prst="ellipse">
            <a:avLst/>
          </a:prstGeom>
          <a:solidFill>
            <a:srgbClr val="02C39A"/>
          </a:solidFill>
          <a:ln/>
        </p:spPr>
      </p:sp>
      <p:sp>
        <p:nvSpPr>
          <p:cNvPr id="19" name="Text 17"/>
          <p:cNvSpPr/>
          <p:nvPr/>
        </p:nvSpPr>
        <p:spPr>
          <a:xfrm>
            <a:off x="731520" y="3520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1234440" y="3520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Feedback is a gift. Seek it actively, receive it gracefully, and act on it intentionally</a:t>
            </a:r>
            <a:endParaRPr lang="en-US" sz="1300" dirty="0"/>
          </a:p>
        </p:txBody>
      </p:sp>
      <p:sp>
        <p:nvSpPr>
          <p:cNvPr id="21" name="Shape 19"/>
          <p:cNvSpPr/>
          <p:nvPr/>
        </p:nvSpPr>
        <p:spPr>
          <a:xfrm>
            <a:off x="731520" y="3977640"/>
            <a:ext cx="365760" cy="365760"/>
          </a:xfrm>
          <a:prstGeom prst="ellipse">
            <a:avLst/>
          </a:prstGeom>
          <a:solidFill>
            <a:srgbClr val="02C39A"/>
          </a:solidFill>
          <a:ln/>
        </p:spPr>
      </p:sp>
      <p:sp>
        <p:nvSpPr>
          <p:cNvPr id="22" name="Text 20"/>
          <p:cNvSpPr/>
          <p:nvPr/>
        </p:nvSpPr>
        <p:spPr>
          <a:xfrm>
            <a:off x="731520" y="3977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3" name="Text 21"/>
          <p:cNvSpPr/>
          <p:nvPr/>
        </p:nvSpPr>
        <p:spPr>
          <a:xfrm>
            <a:off x="1234440" y="3977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Resilience is not innate—it's a skill you build through practices, mindsets, and support systems</a:t>
            </a:r>
            <a:endParaRPr lang="en-US" sz="1300" dirty="0"/>
          </a:p>
        </p:txBody>
      </p:sp>
      <p:sp>
        <p:nvSpPr>
          <p:cNvPr id="24" name="Shape 22"/>
          <p:cNvSpPr/>
          <p:nvPr/>
        </p:nvSpPr>
        <p:spPr>
          <a:xfrm>
            <a:off x="731520" y="4434840"/>
            <a:ext cx="365760" cy="365760"/>
          </a:xfrm>
          <a:prstGeom prst="ellipse">
            <a:avLst/>
          </a:prstGeom>
          <a:solidFill>
            <a:srgbClr val="02C39A"/>
          </a:solidFill>
          <a:ln/>
        </p:spPr>
      </p:sp>
      <p:sp>
        <p:nvSpPr>
          <p:cNvPr id="25" name="Text 23"/>
          <p:cNvSpPr/>
          <p:nvPr/>
        </p:nvSpPr>
        <p:spPr>
          <a:xfrm>
            <a:off x="731520" y="4434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26" name="Text 24"/>
          <p:cNvSpPr/>
          <p:nvPr/>
        </p:nvSpPr>
        <p:spPr>
          <a:xfrm>
            <a:off x="1234440" y="4434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Start small. Even 10 minutes of daily mindfulness or one weekly reflection session builds resilience over time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668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097280"/>
            <a:ext cx="1097280" cy="1097280"/>
          </a:xfrm>
          <a:prstGeom prst="rect">
            <a:avLst/>
          </a:prstGeom>
        </p:spPr>
      </p:pic>
      <p:sp>
        <p:nvSpPr>
          <p:cNvPr id="3" name="Text 0"/>
          <p:cNvSpPr/>
          <p:nvPr/>
        </p:nvSpPr>
        <p:spPr>
          <a:xfrm>
            <a:off x="457200" y="2377440"/>
            <a:ext cx="8229600" cy="548640"/>
          </a:xfrm>
          <a:prstGeom prst="rect">
            <a:avLst/>
          </a:prstGeom>
          <a:noFill/>
          <a:ln/>
        </p:spPr>
        <p:txBody>
          <a:bodyPr wrap="square" rtlCol="0" anchor="ctr"/>
          <a:lstStyle/>
          <a:p>
            <a:pPr algn="ctr" indent="0" marL="0">
              <a:buNone/>
            </a:pPr>
            <a:r>
              <a:rPr lang="en-US" sz="4400" b="1" dirty="0">
                <a:solidFill>
                  <a:srgbClr val="02C39A"/>
                </a:solidFill>
                <a:latin typeface="Arial Black" pitchFamily="34" charset="0"/>
                <a:ea typeface="Arial Black" pitchFamily="34" charset="-122"/>
                <a:cs typeface="Arial Black" pitchFamily="34" charset="-120"/>
              </a:rPr>
              <a:t>YOU ARE RESILIENT</a:t>
            </a:r>
            <a:endParaRPr lang="en-US" sz="4400" dirty="0"/>
          </a:p>
        </p:txBody>
      </p:sp>
      <p:sp>
        <p:nvSpPr>
          <p:cNvPr id="4" name="Text 1"/>
          <p:cNvSpPr/>
          <p:nvPr/>
        </p:nvSpPr>
        <p:spPr>
          <a:xfrm>
            <a:off x="457200" y="301752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Resilience is not about avoiding challenges—it's about growing through them.</a:t>
            </a:r>
            <a:endParaRPr lang="en-US" sz="1800" dirty="0"/>
          </a:p>
        </p:txBody>
      </p:sp>
      <p:sp>
        <p:nvSpPr>
          <p:cNvPr id="5" name="Text 2"/>
          <p:cNvSpPr/>
          <p:nvPr/>
        </p:nvSpPr>
        <p:spPr>
          <a:xfrm>
            <a:off x="457200" y="3520440"/>
            <a:ext cx="8229600" cy="274320"/>
          </a:xfrm>
          <a:prstGeom prst="rect">
            <a:avLst/>
          </a:prstGeom>
          <a:noFill/>
          <a:ln/>
        </p:spPr>
        <p:txBody>
          <a:bodyPr wrap="square" rtlCol="0" anchor="ctr"/>
          <a:lstStyle/>
          <a:p>
            <a:pPr algn="ctr" indent="0" marL="0">
              <a:buNone/>
            </a:pPr>
            <a:r>
              <a:rPr lang="en-US" sz="1500" dirty="0">
                <a:solidFill>
                  <a:srgbClr val="F5F5F5"/>
                </a:solidFill>
                <a:latin typeface="Calibri" pitchFamily="34" charset="0"/>
                <a:ea typeface="Calibri" pitchFamily="34" charset="-122"/>
                <a:cs typeface="Calibri" pitchFamily="34" charset="-120"/>
              </a:rPr>
              <a:t>Trust your capacity to learn, adapt, and persevere.</a:t>
            </a:r>
            <a:endParaRPr lang="en-US" sz="1500" dirty="0"/>
          </a:p>
        </p:txBody>
      </p:sp>
      <p:sp>
        <p:nvSpPr>
          <p:cNvPr id="6" name="Text 3"/>
          <p:cNvSpPr/>
          <p:nvPr/>
        </p:nvSpPr>
        <p:spPr>
          <a:xfrm>
            <a:off x="457200" y="3794760"/>
            <a:ext cx="8229600" cy="274320"/>
          </a:xfrm>
          <a:prstGeom prst="rect">
            <a:avLst/>
          </a:prstGeom>
          <a:noFill/>
          <a:ln/>
        </p:spPr>
        <p:txBody>
          <a:bodyPr wrap="square" rtlCol="0" anchor="ctr"/>
          <a:lstStyle/>
          <a:p>
            <a:pPr algn="ctr" indent="0" marL="0">
              <a:buNone/>
            </a:pPr>
            <a:r>
              <a:rPr lang="en-US" sz="1500" b="1" dirty="0">
                <a:solidFill>
                  <a:srgbClr val="02C39A"/>
                </a:solidFill>
                <a:latin typeface="Calibri" pitchFamily="34" charset="0"/>
                <a:ea typeface="Calibri" pitchFamily="34" charset="-122"/>
                <a:cs typeface="Calibri" pitchFamily="34" charset="-120"/>
              </a:rPr>
              <a:t>Your advocacy work matters.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 &amp; Adaptive Mindset Workshop</dc:title>
  <dc:subject>PptxGenJS Presentation</dc:subject>
  <dc:creator>Youth Advocate Network Rwanda</dc:creator>
  <cp:lastModifiedBy>Youth Advocate Network Rwanda</cp:lastModifiedBy>
  <cp:revision>1</cp:revision>
  <dcterms:created xsi:type="dcterms:W3CDTF">2026-02-12T09:26:11Z</dcterms:created>
  <dcterms:modified xsi:type="dcterms:W3CDTF">2026-02-12T09:26:11Z</dcterms:modified>
</cp:coreProperties>
</file>